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5.svg" ContentType="image/svg+xml"/>
  <Override PartName="/ppt/media/image106.svg" ContentType="image/svg+xml"/>
  <Override PartName="/ppt/media/image107.svg" ContentType="image/svg+xml"/>
  <Override PartName="/ppt/media/image108.svg" ContentType="image/svg+xml"/>
  <Override PartName="/ppt/media/image109.svg" ContentType="image/svg+xml"/>
  <Override PartName="/ppt/media/image11.svg" ContentType="image/svg+xml"/>
  <Override PartName="/ppt/media/image110.svg" ContentType="image/svg+xml"/>
  <Override PartName="/ppt/media/image111.svg" ContentType="image/svg+xml"/>
  <Override PartName="/ppt/media/image112.svg" ContentType="image/svg+xml"/>
  <Override PartName="/ppt/media/image113.svg" ContentType="image/svg+xml"/>
  <Override PartName="/ppt/media/image114.svg" ContentType="image/svg+xml"/>
  <Override PartName="/ppt/media/image115.svg" ContentType="image/svg+xml"/>
  <Override PartName="/ppt/media/image116.svg" ContentType="image/svg+xml"/>
  <Override PartName="/ppt/media/image117.svg" ContentType="image/svg+xml"/>
  <Override PartName="/ppt/media/image118.svg" ContentType="image/svg+xml"/>
  <Override PartName="/ppt/media/image12.svg" ContentType="image/svg+xml"/>
  <Override PartName="/ppt/media/image13.svg" ContentType="image/svg+xml"/>
  <Override PartName="/ppt/media/image137.svg" ContentType="image/svg+xml"/>
  <Override PartName="/ppt/media/image138.svg" ContentType="image/svg+xml"/>
  <Override PartName="/ppt/media/image139.svg" ContentType="image/svg+xml"/>
  <Override PartName="/ppt/media/image14.svg" ContentType="image/svg+xml"/>
  <Override PartName="/ppt/media/image140.svg" ContentType="image/svg+xml"/>
  <Override PartName="/ppt/media/image141.svg" ContentType="image/svg+xml"/>
  <Override PartName="/ppt/media/image142.svg" ContentType="image/svg+xml"/>
  <Override PartName="/ppt/media/image143.svg" ContentType="image/svg+xml"/>
  <Override PartName="/ppt/media/image154.svg" ContentType="image/svg+xml"/>
  <Override PartName="/ppt/media/image155.svg" ContentType="image/svg+xml"/>
  <Override PartName="/ppt/media/image156.svg" ContentType="image/svg+xml"/>
  <Override PartName="/ppt/media/image157.svg" ContentType="image/svg+xml"/>
  <Override PartName="/ppt/media/image158.svg" ContentType="image/svg+xml"/>
  <Override PartName="/ppt/media/image159.svg" ContentType="image/svg+xml"/>
  <Override PartName="/ppt/media/image160.svg" ContentType="image/svg+xml"/>
  <Override PartName="/ppt/media/image161.svg" ContentType="image/svg+xml"/>
  <Override PartName="/ppt/media/image162.svg" ContentType="image/svg+xml"/>
  <Override PartName="/ppt/media/image163.svg" ContentType="image/svg+xml"/>
  <Override PartName="/ppt/media/image164.svg" ContentType="image/svg+xml"/>
  <Override PartName="/ppt/media/image165.svg" ContentType="image/svg+xml"/>
  <Override PartName="/ppt/media/image166.svg" ContentType="image/svg+xml"/>
  <Override PartName="/ppt/media/image167.svg" ContentType="image/svg+xml"/>
  <Override PartName="/ppt/media/image168.svg" ContentType="image/svg+xml"/>
  <Override PartName="/ppt/media/image169.svg" ContentType="image/svg+xml"/>
  <Override PartName="/ppt/media/image170.svg" ContentType="image/svg+xml"/>
  <Override PartName="/ppt/media/image171.svg" ContentType="image/svg+xml"/>
  <Override PartName="/ppt/media/image172.svg" ContentType="image/svg+xml"/>
  <Override PartName="/ppt/media/image186.svg" ContentType="image/svg+xml"/>
  <Override PartName="/ppt/media/image187.svg" ContentType="image/svg+xml"/>
  <Override PartName="/ppt/media/image188.svg" ContentType="image/svg+xml"/>
  <Override PartName="/ppt/media/image189.svg" ContentType="image/svg+xml"/>
  <Override PartName="/ppt/media/image190.svg" ContentType="image/svg+xml"/>
  <Override PartName="/ppt/media/image208.svg" ContentType="image/svg+xml"/>
  <Override PartName="/ppt/media/image209.svg" ContentType="image/svg+xml"/>
  <Override PartName="/ppt/media/image210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94.svg" ContentType="image/svg+xml"/>
  <Override PartName="/ppt/media/image95.svg" ContentType="image/svg+xml"/>
  <Override PartName="/ppt/media/image9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5" r:id="rId4"/>
    <p:sldMasterId id="2147483668" r:id="rId5"/>
    <p:sldMasterId id="2147483670" r:id="rId6"/>
    <p:sldMasterId id="2147483673" r:id="rId7"/>
    <p:sldMasterId id="2147483676" r:id="rId8"/>
    <p:sldMasterId id="2147483679" r:id="rId9"/>
    <p:sldMasterId id="2147483682" r:id="rId10"/>
    <p:sldMasterId id="2147483685" r:id="rId11"/>
  </p:sldMasterIdLst>
  <p:notesMasterIdLst>
    <p:notesMasterId r:id="rId50"/>
  </p:notesMasterIdLst>
  <p:sldIdLst>
    <p:sldId id="256" r:id="rId12"/>
    <p:sldId id="257" r:id="rId13"/>
    <p:sldId id="301" r:id="rId55"/>
    <p:sldId id="258" r:id="rId14"/>
    <p:sldId id="259" r:id="rId15"/>
    <p:sldId id="302" r:id="rId56"/>
    <p:sldId id="260" r:id="rId16"/>
    <p:sldId id="261" r:id="rId17"/>
    <p:sldId id="262" r:id="rId18"/>
    <p:sldId id="303" r:id="rId57"/>
    <p:sldId id="263" r:id="rId19"/>
    <p:sldId id="264" r:id="rId20"/>
    <p:sldId id="286" r:id="rId21"/>
    <p:sldId id="265" r:id="rId22"/>
    <p:sldId id="287" r:id="rId23"/>
    <p:sldId id="266" r:id="rId24"/>
    <p:sldId id="288" r:id="rId25"/>
    <p:sldId id="267" r:id="rId26"/>
    <p:sldId id="297" r:id="rId27"/>
    <p:sldId id="310" r:id="rId64"/>
    <p:sldId id="304" r:id="rId58"/>
    <p:sldId id="268" r:id="rId28"/>
    <p:sldId id="298" r:id="rId29"/>
    <p:sldId id="269" r:id="rId30"/>
    <p:sldId id="270" r:id="rId31"/>
    <p:sldId id="271" r:id="rId32"/>
    <p:sldId id="272" r:id="rId33"/>
    <p:sldId id="311" r:id="rId65"/>
    <p:sldId id="305" r:id="rId59"/>
    <p:sldId id="273" r:id="rId34"/>
    <p:sldId id="299" r:id="rId35"/>
    <p:sldId id="274" r:id="rId36"/>
    <p:sldId id="300" r:id="rId37"/>
    <p:sldId id="275" r:id="rId38"/>
    <p:sldId id="312" r:id="rId66"/>
    <p:sldId id="306" r:id="rId60"/>
    <p:sldId id="276" r:id="rId39"/>
    <p:sldId id="277" r:id="rId40"/>
    <p:sldId id="293" r:id="rId41"/>
    <p:sldId id="284" r:id="rId42"/>
    <p:sldId id="294" r:id="rId43"/>
    <p:sldId id="313" r:id="rId67"/>
    <p:sldId id="307" r:id="rId61"/>
    <p:sldId id="314" r:id="rId68"/>
    <p:sldId id="315" r:id="rId69"/>
    <p:sldId id="308" r:id="rId62"/>
    <p:sldId id="279" r:id="rId44"/>
    <p:sldId id="280" r:id="rId45"/>
    <p:sldId id="281" r:id="rId46"/>
    <p:sldId id="309" r:id="rId63"/>
    <p:sldId id="282" r:id="rId47"/>
    <p:sldId id="283" r:id="rId48"/>
    <p:sldId id="285" r:id="rId4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1" d="100"/>
          <a:sy n="91" d="100"/>
        </p:scale>
        <p:origin x="351" y="54"/>
      </p:cViewPr>
      <p:guideLst>
        <p:guide orient="horz" pos="160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1.xml"/><Relationship Id="rId48" Type="http://schemas.openxmlformats.org/officeDocument/2006/relationships/slide" Target="slides/slide52.xml"/><Relationship Id="rId49" Type="http://schemas.openxmlformats.org/officeDocument/2006/relationships/slide" Target="slides/slide53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openxmlformats.org/officeDocument/2006/relationships/slide" Target="slides/slide3.xml"/><Relationship Id="rId56" Type="http://schemas.openxmlformats.org/officeDocument/2006/relationships/slide" Target="slides/slide6.xml"/><Relationship Id="rId57" Type="http://schemas.openxmlformats.org/officeDocument/2006/relationships/slide" Target="slides/slide10.xml"/><Relationship Id="rId58" Type="http://schemas.openxmlformats.org/officeDocument/2006/relationships/slide" Target="slides/slide21.xml"/><Relationship Id="rId59" Type="http://schemas.openxmlformats.org/officeDocument/2006/relationships/slide" Target="slides/slide29.xml"/><Relationship Id="rId60" Type="http://schemas.openxmlformats.org/officeDocument/2006/relationships/slide" Target="slides/slide36.xml"/><Relationship Id="rId61" Type="http://schemas.openxmlformats.org/officeDocument/2006/relationships/slide" Target="slides/slide43.xml"/><Relationship Id="rId62" Type="http://schemas.openxmlformats.org/officeDocument/2006/relationships/slide" Target="slides/slide46.xml"/><Relationship Id="rId63" Type="http://schemas.openxmlformats.org/officeDocument/2006/relationships/slide" Target="slides/slide50.xml"/><Relationship Id="rId64" Type="http://schemas.openxmlformats.org/officeDocument/2006/relationships/slide" Target="slides/slide20.xml"/><Relationship Id="rId65" Type="http://schemas.openxmlformats.org/officeDocument/2006/relationships/slide" Target="slides/slide28.xml"/><Relationship Id="rId66" Type="http://schemas.openxmlformats.org/officeDocument/2006/relationships/slide" Target="slides/slide35.xml"/><Relationship Id="rId67" Type="http://schemas.openxmlformats.org/officeDocument/2006/relationships/slide" Target="slides/slide42.xml"/><Relationship Id="rId68" Type="http://schemas.openxmlformats.org/officeDocument/2006/relationships/slide" Target="slides/slide44.xml"/><Relationship Id="rId69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欢迎参加今天的分享。我们今天要探讨的是一个正在深刻改变传统农业的话题——智慧果园。我们带来的，不仅仅是一个软件，更是一个“懂苹果”的种植管理平台。我们的目标非常明确：通过科技的力量，让苹果种植变得更省心、更科学，最终帮助大家更赚钱。这不仅是我们的口号，更是我们产品设计的核心价值主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分享将分为七个部分。首先，我们将一同洞察当前苹果产业的巨大市场机遇与严峻的产业痛点。接着，我会详细介绍我们的整体解决方案，包括其独特的架构、核心优势以及创新的五端协同模式。之后，我们将深入剖析平台的“智慧大脑”——六大农业模型。我们还会展示如何通过智能硬件、区块链溯源和无人机巡检等手段提升效率。最后，我们将通过可量化的成效数据和客户证言来论证平台的价值，并探讨我们的合作模式与未来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正处在一个巨大的变革浪潮中。一方面，国家政策大力扶持，从2024年到2026年，各项规划和资金支持密集出台，为数字化转型提供了前所未有的窗口期。另一方面，市场已经用真金白银投票，头部企业的数字化投入年增长率高达150%，智能硬件的部署也超过了80%。这清晰地表明，数字化不再是选择题，而是必答题。苹果产业的变革，已经刻不容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然而，机遇背后是严峻的挑战。我们深入调研发现，管理者和一线人员都面临着巨大的痛点。管理者们苦于数据孤岛、手工汇整和低效的农事管理，库存准确率甚至只有60%。而一线的兄弟们，则被复杂的操作、不稳定的网络和繁琐的记录流程所困扰。正如一位地块负责人所说：“每多一次点击，一天多几十次操作”，这不仅是效率问题，更是士气问题。这些痛点，正是我们产品要解决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推出了“智慧果园”平台。请记住，我们不是一个通用的ERP，而是一个真正懂苹果的垂直平台。我们的核心是六大农业模型和AI大模型。这带来了什么价值？我们实现了效率的大幅提升，排程时间减少超过60%；数据记录完整率提升到80%以上；库存准确率从行业平均的60%提升到95%以上；风险预警响应时间缩短到5分钟以内；通过区块链溯源，我们帮助客户提升品牌溢价；更重要的是，我们的智能决策能将农事建议的准确率提升到70%以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设计哲学非常简单：一线不用，系统白搭。因此，我们坚持“以人为本”，一切设计都围绕着一线地块负责人的需求。我们做到了拍照即记录，离线优先，并且在各种设备上都保持大字大按钮的极简风格。同时，我们给自己划下了五条不可妥协的技术红线：弱网必须可用，离线数据绝不丢失，核心操作不超过三步，启动必须秒级响应，数据必须高度一致。这是我们对用户的承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优势是系统性的，构建了竞品难以复制的护城河。这八大核心优势，从决策引擎到品牌营销，从硬件集成到一线体验，覆盖了果园管理的方方面面。与通用ERP和设备厂商的系统相比，我们的核心差异在于深刻的行业理解、完整的业务闭环、极致的一线易用性以及强大的AI决策支持。我们不仅是一个工具，更是一个懂苹果的智慧伙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实现全面的数字化管理，我们构建了独特的五端协同体系。以数据中心为核心，我们有面向管理者的电脑端指挥中心和大屏端决策舱，用于计划和监控；有面向一线员工的移动端执行前线，用于高效执行；还有面向消费者的H5端，用于建立信任。同时，我们的AI助手作为智慧顾问，贯穿始终，为所有角色提供智能支持。这五个端口协同工作，构成了一个完整的智慧果园生态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来看大屏端，这是管理者的“决策舱”。我们以真实的果园航拍图为基础，将所有关键信息呈现在一屏之上。顶部是实时更新的核心KPI，地图上可以叠加各种风险热力层，侧边栏则展示着动态的经营数据。任何异常情况都会实时提醒，并且可以一键下钻查看详情。无论是向领导汇报，还是日常监控，大屏端都能让您真正做到一屏掌控全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智慧果园企业管理驾驶舱的实际界面。可以看到，我们以真实的果园航拍图为基础，将所有关键经营信息叠加在一屏之上。顶部展示核心KPI指标，包括种植面积、设备在线率、预警数量等。左侧是预警列表和风险中心，右侧是实时趋势图表。管理者可以随时掌握全局，快速定位问题并做出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再来看移动端，这是我们产品的灵魂所在，因为它决定了数据采集的质量。我们深知一线员工的痛点，所以做到了“首屏即任务”，打开就是活。我们用“拍照”代替打字，核心操作不超过三步。即使在网络不好的地方，也能离线操作，数据绝不丢失。大字大按钮的设计，让员工戴着手套也能轻松使用。正是这种极致的易用性，保证了我们超过70%的一线使用率和80%以上的数据记录完整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移动端的实际操作界面。可以看到，界面设计简洁直观，大字大按钮非常适合田间操作。首页直接展示今日待办任务，员工打开APP就能知道今天要做什么。核心操作只需三步：拍照、选择、提交，真正做到了零门槛。即使在弱网环境下，数据也不会丢失，确保生产记录的完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AI助手是一个24小时在线的智慧顾问。无论是深夜还是周末，员工都可以随时向它提问，或者拍下病虫害照片让它识别。这极大地提升了一线人员的专业能力和工作效率。同时，我们通过H5端将这种能力延伸到消费者。消费者扫描苹果上的二维码，就能看到一个完整的“数字果履历”，从开花到采摘，全程透明可追溯。这不仅是强大的营销工具，更是建立品牌信任、实现品牌溢价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AI助手的实际对话界面。用户可以通过文字或语音向AI助手提问，获取专业的种植指导。比如询问某个病虫害如何防治，或者当前物候期应该做什么农事操作，AI都能给出专业、准确的回答。此外，图像识别功能支持随手一拍，即刻诊断作物病害。它就像一位24小时在线的农业专家，随时为种植户答疑解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作为整个系统的大脑，电脑端提供了全面的后台支撑。在这里，管理者可以进行企业管理、农事计划编排、农资管理、设备监控等一系列核心操作。我们还集成了预警中心、区块链溯源、模型中心等高级功能。可以说，电脑端是整个平台的指挥中心，为管理者提供了一个强大的工具，用于计划编排、审批决策和报表分析，真正做到运筹帷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现在，让我们深入了解平台的“智慧大脑”——六大农业模型。这六个模型覆盖了从生长、气象、病虫害到物候期、产量预估和市场价格的全过程。它们相互关联，协同工作，为不同角色的用户提供精准的决策支持。例如，生长模型告诉我们现在该做什么，病虫害模型预警风险，而产量和价格模型则指导我们如何实现收益最大化。这些模型的应用，使我们的农事建议准确率提升超过70%，风险预警提前24小时，产量预估误差控制在8%以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来看生长模型和物候期模型。生长模型通过分析积温、水肥等数据，能精准判断果树处于哪个生长阶段，并给出相应的农事建议。物候期模型则更进一步，它能预测未来关键农时，比如开花、套袋的精确时间窗口。这两个模型结合，就像给果园配备了一位经验丰富的农艺师，帮助我们精准把握生产节奏，不错过任何一个关键农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气象和病虫害模型，它们是果园的“风险雷达”。我们的气象模型能提供分钟级的精准预报，并针对苹果种植生成专属的气象指数，比如锈病发生指数。病虫害模型则能结合气象和虫情数据，提前预测病虫害风险，并在地图上以热力图的形式展示，同时给出精准的防治建议。这两个模型能将风险预警提前24小时以上，帮助我们将损失降到最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产量预估和市场价格模型，它们是实现“以销定产”和利润最大化的关键。产量预估模型能在收获前几个月就精准预测产量，误差控制在8%以内，为销售计划提供可靠依据。市场价格模型则能预测未来的价格走势，帮助我们判断最佳的销售时机。这两个模型结合，让我们从被动的生产者，转变为主动的经营者，真正实现产销协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空谈不如实证。我们的六大模型已经在多个客户那里取得了显著成效。农事建议准确率超过70%，风险预警提前24小时，产量预估误差在8%以内。更重要的是，这些模型实实在在地帮助客户减少了15%以上的化肥农药使用，提升了8%以上的特级果率。在陕西洛川，一个基地的病虫害损失降低了20%；在山东烟台，一个合作社的霜冻损失降低了30%。这些数据证明了我们技术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了内部管理，我们还利用前沿科技赋能品牌营销。通过区块链技术，我们为每一颗苹果建立了不可篡改的“数字身份证”。消费者扫码后，可以看到从种植到采收的全过程，包括区块链存证和权威质检报告。这带来了三大核心价值：提升品牌溢价、满足政策合规、丰富营销素材。一个透明、可信的品牌故事，是提升产品附加值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引入了无人机进行高空AI巡检。管理者只需在电脑上规划好航线，无人机就能自动完成巡检任务。采集到的图像会由AI自动分析，发现缺苗、病害等异常情况，并立即推送到手机上。这种方式不仅实现了全园无死角覆盖，更将异常发现效率提升了80%以上，时间成本降低了60%。一个3000亩的基地，每周巡园时间从3天缩短到了4小时，效果非常显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农事管理模块，打通了从计划到执行的管理闭环。管理者在电脑端轻松编排计划，计划自动下发到一线员工的手机上。员工通过拍照完成记录，数据自动汇总生成报表。管理者再根据报表优化下一轮计划。这个闭环彻底解决了数据孤岛问题，确保了生产过程数据的完整采集，也让计划编排效率提升了60%以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农资管理方面，我们实现了从采购到使用的全链路精细化管理。从采购申请、审批、入库，到库存预警、领用和使用记录，每一个环节都在线上完成。我们的系统不仅能自动进行库存预警，还能检测异常用量，防止浪费。通过这套体系，我们帮助客户将库存准确率从行业平均的60%大幅提升到了95%以上，极大地提升了农资管理的效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平台能够整合管理七大类智能设备，包括气象站、土壤传感器、水肥一体机等。通过统一的设备管理界面，您可以远程控制设备、实时监控状态、查看历史数据曲线，并记录设备的全生命周期维保信息。这实现了对所有硬件的统一监控与运维，让复杂的设备管理变得简单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设备管理的实际操作界面。系统支持接入七大类智能设备，包括气象站、土壤传感器、虫情测报灯、监控设备、水肥一体机、工控设备和无人机。在设备列表中，可以清晰看到每台设备的在线状态、实时数据和运行情况。管理者可以远程监控设备运行、查看历史数据曲线，并管理设备的全生命周期维保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营销创新方面，我们推出了“云认养”功能。消费者可以在线认养一棵果树，实时观看它的成长过程，甚至参与农事互动。这不仅能帮助您提前锁定销售、快速回笼资金，还能极大地增强用户粘性，形成口碑传播。更重要的是，认养价格通常可以比市场价高出30%到50%，实现显著的品牌溢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云认养功能的消费者端界面。消费者可以在这里浏览并挑选心仪的果树进行认养，查看果树的生长照片和视频直播。认养成功后，会获得独一无二的数字认养证书，方便分享到社交平台。果实成熟后，系统会安排新鲜果实直接配送到家。这个功能不仅帮助农场提前锁定销售，还通过情感连接大幅提升了用户粘性和品牌溢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总结一下，我们的平台为客户带来了全面的业务改善。农事排程时间减少了75%，农资库存准确率提升了58%，预警响应时间更是提升了超过90%。我们实现了精准的产量预测，将农事记录完整率提升了167%，并通过数据驱动将农事建议准确率提升到70%以上。最终，这些改善都转化为了实实在在的品牌溢价。每一项指标的改善，都直接回应了我们最初发现的行业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样一套系统的投入产出如何呢？我们进行了详细的投资回报分析。投入主要包括系统部署、设备接入、培训和维护成本。而产出则体现在三个方面：成本节约、收益提升和效率提升。综合测算，我们的客户平均可以在18到24个月内收回投资，年化投资回报率可达40%到60%。这是一个非常值得的投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听听我们客户的声音。无论是集团负责人、基地管理者还是合作社理事长，都对我们的产品给予了高度评价。这证明了我们的产品是真正解决问题的。同时，我们不会停下脚步。这是我们未来的产品路线图，我们将支持更多水果品种，推出碳足迹核算和数字孪生功能，并对接金融保险服务。我们将持续进化，为客户创造更大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提供灵活的合作模式，以满足不同规模客户的需求。从适合起步阶段的基础版，到企业级首选的专业版，再到为大型集团定制的旗舰版，我们都有相应的解决方案。无论您选择哪个版本，我们都提供7x24小时的技术支持、定期的版本更新、完善的数据安全保障以及专业的培训服务。我们期待与您携手共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分享到此结束。智慧果园的时代已经到来，这是一个千亿级的蓝海市场。现在就行动起来，抢占先机。您可以通过屏幕上的联系方式与我们取得联系，或者直接扫描二维码，添加我们的商务顾问，获取专属的定制方案。再次感谢大家的聆听，希望我们的平台能真正帮助您实现更省心、更科学、更赚钱的苹果种植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我的介绍到此结束，非常感谢大家的聆听。我们坚信，科技是推动农业发展的核心动力。期待能有机会与您携手，共同开启智慧农业的新篇章。谢谢大家！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tags" Target="../tags/tag29.xml"/><Relationship Id="rId30" Type="http://schemas.openxmlformats.org/officeDocument/2006/relationships/tags" Target="../tags/tag30.xml"/><Relationship Id="rId31" Type="http://schemas.openxmlformats.org/officeDocument/2006/relationships/tags" Target="../tags/tag31.xml"/><Relationship Id="rId32" Type="http://schemas.openxmlformats.org/officeDocument/2006/relationships/tags" Target="../tags/tag32.xml"/><Relationship Id="rId33" Type="http://schemas.openxmlformats.org/officeDocument/2006/relationships/tags" Target="../tags/tag33.xml"/><Relationship Id="rId34" Type="http://schemas.openxmlformats.org/officeDocument/2006/relationships/slideLayout" Target="../slideLayouts/slideLayout12.xml"/><Relationship Id="rId35" Type="http://schemas.openxmlformats.org/officeDocument/2006/relationships/notesSlide" Target="../notesSlides/notesSlide2.xml"/><Relationship Id="rId36" Type="http://schemas.openxmlformats.org/officeDocument/2006/relationships/image" Target="../media/image2.png"/><Relationship Id="rId37" Type="http://schemas.openxmlformats.org/officeDocument/2006/relationships/image" Target="../media/image3.png"/><Relationship Id="rId38" Type="http://schemas.openxmlformats.org/officeDocument/2006/relationships/image" Target="../media/image4.png"/><Relationship Id="rId39" Type="http://schemas.openxmlformats.org/officeDocument/2006/relationships/image" Target="../media/image5.png"/><Relationship Id="rId40" Type="http://schemas.openxmlformats.org/officeDocument/2006/relationships/image" Target="../media/image6.png"/><Relationship Id="rId41" Type="http://schemas.openxmlformats.org/officeDocument/2006/relationships/image" Target="../media/image7.png"/><Relationship Id="rId42" Type="http://schemas.openxmlformats.org/officeDocument/2006/relationships/image" Target="../media/image8.png"/><Relationship Id="rId4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sv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svg"/><Relationship Id="rId4" Type="http://schemas.openxmlformats.org/officeDocument/2006/relationships/image" Target="../media/image36.svg"/><Relationship Id="rId5" Type="http://schemas.openxmlformats.org/officeDocument/2006/relationships/image" Target="../media/image37.svg"/><Relationship Id="rId6" Type="http://schemas.openxmlformats.org/officeDocument/2006/relationships/image" Target="../media/image38.svg"/><Relationship Id="rId7" Type="http://schemas.openxmlformats.org/officeDocument/2006/relationships/image" Target="../media/image39.svg"/><Relationship Id="rId8" Type="http://schemas.openxmlformats.org/officeDocument/2006/relationships/image" Target="../media/image40.svg"/><Relationship Id="rId9" Type="http://schemas.openxmlformats.org/officeDocument/2006/relationships/image" Target="../media/image41.svg"/><Relationship Id="rId10" Type="http://schemas.openxmlformats.org/officeDocument/2006/relationships/image" Target="../media/image4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220.png"/><Relationship Id="rId12" Type="http://schemas.openxmlformats.org/officeDocument/2006/relationships/image" Target="../media/image221.png"/><Relationship Id="rId13" Type="http://schemas.openxmlformats.org/officeDocument/2006/relationships/image" Target="../media/image222.png"/><Relationship Id="rId14" Type="http://schemas.openxmlformats.org/officeDocument/2006/relationships/image" Target="../media/image223.png"/><Relationship Id="rId15" Type="http://schemas.openxmlformats.org/officeDocument/2006/relationships/image" Target="../media/image224.png"/><Relationship Id="rId16" Type="http://schemas.openxmlformats.org/officeDocument/2006/relationships/image" Target="../media/image225.png"/><Relationship Id="rId17" Type="http://schemas.openxmlformats.org/officeDocument/2006/relationships/image" Target="../media/image226.png"/><Relationship Id="rId18" Type="http://schemas.openxmlformats.org/officeDocument/2006/relationships/image" Target="../media/image2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222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48.png"/><Relationship Id="rId8" Type="http://schemas.openxmlformats.org/officeDocument/2006/relationships/image" Target="../media/image51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249.png"/><Relationship Id="rId8" Type="http://schemas.openxmlformats.org/officeDocument/2006/relationships/image" Target="../media/image250.png"/><Relationship Id="rId9" Type="http://schemas.openxmlformats.org/officeDocument/2006/relationships/image" Target="../media/image251.png"/><Relationship Id="rId10" Type="http://schemas.openxmlformats.org/officeDocument/2006/relationships/image" Target="../media/image252.png"/><Relationship Id="rId11" Type="http://schemas.openxmlformats.org/officeDocument/2006/relationships/image" Target="../media/image262.png"/><Relationship Id="rId12" Type="http://schemas.openxmlformats.org/officeDocument/2006/relationships/image" Target="../media/image263.png"/><Relationship Id="rId13" Type="http://schemas.openxmlformats.org/officeDocument/2006/relationships/image" Target="../media/image264.png"/><Relationship Id="rId14" Type="http://schemas.openxmlformats.org/officeDocument/2006/relationships/image" Target="../media/image26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2.svg"/><Relationship Id="rId4" Type="http://schemas.openxmlformats.org/officeDocument/2006/relationships/image" Target="../media/image73.svg"/><Relationship Id="rId5" Type="http://schemas.openxmlformats.org/officeDocument/2006/relationships/image" Target="../media/image74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226.png"/><Relationship Id="rId8" Type="http://schemas.openxmlformats.org/officeDocument/2006/relationships/image" Target="../media/image223.png"/><Relationship Id="rId9" Type="http://schemas.openxmlformats.org/officeDocument/2006/relationships/image" Target="../media/image227.png"/><Relationship Id="rId10" Type="http://schemas.openxmlformats.org/officeDocument/2006/relationships/image" Target="../media/image221.png"/><Relationship Id="rId11" Type="http://schemas.openxmlformats.org/officeDocument/2006/relationships/image" Target="../media/image266.png"/><Relationship Id="rId12" Type="http://schemas.openxmlformats.org/officeDocument/2006/relationships/image" Target="../media/image267.png"/><Relationship Id="rId13" Type="http://schemas.openxmlformats.org/officeDocument/2006/relationships/image" Target="../media/image268.png"/><Relationship Id="rId14" Type="http://schemas.openxmlformats.org/officeDocument/2006/relationships/image" Target="../media/image26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image" Target="../media/image222.png"/><Relationship Id="rId12" Type="http://schemas.openxmlformats.org/officeDocument/2006/relationships/image" Target="../media/image220.png"/><Relationship Id="rId13" Type="http://schemas.openxmlformats.org/officeDocument/2006/relationships/image" Target="../media/image224.png"/><Relationship Id="rId14" Type="http://schemas.openxmlformats.org/officeDocument/2006/relationships/image" Target="../media/image226.png"/><Relationship Id="rId15" Type="http://schemas.openxmlformats.org/officeDocument/2006/relationships/image" Target="../media/image225.png"/><Relationship Id="rId16" Type="http://schemas.openxmlformats.org/officeDocument/2006/relationships/image" Target="../media/image221.png"/><Relationship Id="rId17" Type="http://schemas.openxmlformats.org/officeDocument/2006/relationships/image" Target="../media/image223.png"/><Relationship Id="rId18" Type="http://schemas.openxmlformats.org/officeDocument/2006/relationships/image" Target="../media/image227.png"/><Relationship Id="rId19" Type="http://schemas.openxmlformats.org/officeDocument/2006/relationships/image" Target="../media/image235.png"/><Relationship Id="rId20" Type="http://schemas.openxmlformats.org/officeDocument/2006/relationships/image" Target="../media/image270.png"/><Relationship Id="rId21" Type="http://schemas.openxmlformats.org/officeDocument/2006/relationships/image" Target="../media/image271.png"/><Relationship Id="rId22" Type="http://schemas.openxmlformats.org/officeDocument/2006/relationships/image" Target="../media/image27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Relationship Id="rId5" Type="http://schemas.openxmlformats.org/officeDocument/2006/relationships/image" Target="../media/image231.png"/><Relationship Id="rId6" Type="http://schemas.openxmlformats.org/officeDocument/2006/relationships/image" Target="../media/image232.png"/><Relationship Id="rId7" Type="http://schemas.openxmlformats.org/officeDocument/2006/relationships/image" Target="../media/image273.png"/><Relationship Id="rId8" Type="http://schemas.openxmlformats.org/officeDocument/2006/relationships/image" Target="../media/image274.png"/><Relationship Id="rId9" Type="http://schemas.openxmlformats.org/officeDocument/2006/relationships/image" Target="../media/image27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4.svg"/><Relationship Id="rId4" Type="http://schemas.openxmlformats.org/officeDocument/2006/relationships/image" Target="../media/image95.svg"/><Relationship Id="rId5" Type="http://schemas.openxmlformats.org/officeDocument/2006/relationships/image" Target="../media/image96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227.png"/><Relationship Id="rId11" Type="http://schemas.openxmlformats.org/officeDocument/2006/relationships/image" Target="../media/image233.png"/><Relationship Id="rId12" Type="http://schemas.openxmlformats.org/officeDocument/2006/relationships/image" Target="../media/image253.png"/><Relationship Id="rId13" Type="http://schemas.openxmlformats.org/officeDocument/2006/relationships/image" Target="../media/image254.png"/><Relationship Id="rId14" Type="http://schemas.openxmlformats.org/officeDocument/2006/relationships/image" Target="../media/image224.png"/><Relationship Id="rId15" Type="http://schemas.openxmlformats.org/officeDocument/2006/relationships/image" Target="../media/image223.png"/><Relationship Id="rId16" Type="http://schemas.openxmlformats.org/officeDocument/2006/relationships/image" Target="../media/image235.png"/><Relationship Id="rId17" Type="http://schemas.openxmlformats.org/officeDocument/2006/relationships/image" Target="../media/image236.png"/><Relationship Id="rId18" Type="http://schemas.openxmlformats.org/officeDocument/2006/relationships/image" Target="../media/image276.png"/><Relationship Id="rId19" Type="http://schemas.openxmlformats.org/officeDocument/2006/relationships/image" Target="../media/image277.png"/><Relationship Id="rId20" Type="http://schemas.openxmlformats.org/officeDocument/2006/relationships/image" Target="../media/image278.png"/><Relationship Id="rId21" Type="http://schemas.openxmlformats.org/officeDocument/2006/relationships/image" Target="../media/image2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svg"/><Relationship Id="rId4" Type="http://schemas.openxmlformats.org/officeDocument/2006/relationships/image" Target="../media/image105.svg"/><Relationship Id="rId5" Type="http://schemas.openxmlformats.org/officeDocument/2006/relationships/image" Target="../media/image106.svg"/><Relationship Id="rId6" Type="http://schemas.openxmlformats.org/officeDocument/2006/relationships/image" Target="../media/image107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8.svg"/><Relationship Id="rId4" Type="http://schemas.openxmlformats.org/officeDocument/2006/relationships/image" Target="../media/image109.svg"/><Relationship Id="rId5" Type="http://schemas.openxmlformats.org/officeDocument/2006/relationships/image" Target="../media/image110.svg"/><Relationship Id="rId6" Type="http://schemas.openxmlformats.org/officeDocument/2006/relationships/image" Target="../media/image111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2.svg"/><Relationship Id="rId4" Type="http://schemas.openxmlformats.org/officeDocument/2006/relationships/image" Target="../media/image113.svg"/><Relationship Id="rId5" Type="http://schemas.openxmlformats.org/officeDocument/2006/relationships/image" Target="../media/image35.svg"/><Relationship Id="rId6" Type="http://schemas.openxmlformats.org/officeDocument/2006/relationships/image" Target="../media/image114.svg"/><Relationship Id="rId7" Type="http://schemas.openxmlformats.org/officeDocument/2006/relationships/image" Target="../media/image10.svg"/><Relationship Id="rId8" Type="http://schemas.openxmlformats.org/officeDocument/2006/relationships/image" Target="../media/image115.svg"/><Relationship Id="rId9" Type="http://schemas.openxmlformats.org/officeDocument/2006/relationships/image" Target="../media/image116.svg"/><Relationship Id="rId10" Type="http://schemas.openxmlformats.org/officeDocument/2006/relationships/image" Target="../media/image117.svg"/><Relationship Id="rId11" Type="http://schemas.openxmlformats.org/officeDocument/2006/relationships/image" Target="../media/image118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9.png"/><Relationship Id="rId4" Type="http://schemas.openxmlformats.org/officeDocument/2006/relationships/image" Target="../media/image67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image" Target="../media/image133.png"/><Relationship Id="rId11" Type="http://schemas.openxmlformats.org/officeDocument/2006/relationships/image" Target="../media/image134.png"/><Relationship Id="rId12" Type="http://schemas.openxmlformats.org/officeDocument/2006/relationships/image" Target="../media/image135.png"/><Relationship Id="rId13" Type="http://schemas.openxmlformats.org/officeDocument/2006/relationships/image" Target="../media/image136.png"/><Relationship Id="rId14" Type="http://schemas.openxmlformats.org/officeDocument/2006/relationships/image" Target="../media/image222.png"/><Relationship Id="rId15" Type="http://schemas.openxmlformats.org/officeDocument/2006/relationships/image" Target="../media/image225.png"/><Relationship Id="rId16" Type="http://schemas.openxmlformats.org/officeDocument/2006/relationships/image" Target="../media/image240.png"/><Relationship Id="rId17" Type="http://schemas.openxmlformats.org/officeDocument/2006/relationships/image" Target="../media/image241.png"/><Relationship Id="rId18" Type="http://schemas.openxmlformats.org/officeDocument/2006/relationships/image" Target="../media/image239.png"/><Relationship Id="rId19" Type="http://schemas.openxmlformats.org/officeDocument/2006/relationships/image" Target="../media/image238.png"/><Relationship Id="rId20" Type="http://schemas.openxmlformats.org/officeDocument/2006/relationships/image" Target="../media/image228.png"/><Relationship Id="rId21" Type="http://schemas.openxmlformats.org/officeDocument/2006/relationships/image" Target="../media/image220.png"/><Relationship Id="rId22" Type="http://schemas.openxmlformats.org/officeDocument/2006/relationships/image" Target="../media/image227.png"/><Relationship Id="rId23" Type="http://schemas.openxmlformats.org/officeDocument/2006/relationships/image" Target="../media/image236.png"/><Relationship Id="rId24" Type="http://schemas.openxmlformats.org/officeDocument/2006/relationships/image" Target="../media/image223.png"/><Relationship Id="rId25" Type="http://schemas.openxmlformats.org/officeDocument/2006/relationships/image" Target="../media/image221.png"/><Relationship Id="rId26" Type="http://schemas.openxmlformats.org/officeDocument/2006/relationships/image" Target="../media/image279.png"/><Relationship Id="rId27" Type="http://schemas.openxmlformats.org/officeDocument/2006/relationships/image" Target="../media/image27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7.svg"/><Relationship Id="rId4" Type="http://schemas.openxmlformats.org/officeDocument/2006/relationships/image" Target="../media/image138.svg"/><Relationship Id="rId5" Type="http://schemas.openxmlformats.org/officeDocument/2006/relationships/image" Target="../media/image139.svg"/><Relationship Id="rId6" Type="http://schemas.openxmlformats.org/officeDocument/2006/relationships/image" Target="../media/image140.svg"/><Relationship Id="rId7" Type="http://schemas.openxmlformats.org/officeDocument/2006/relationships/image" Target="../media/image141.svg"/><Relationship Id="rId8" Type="http://schemas.openxmlformats.org/officeDocument/2006/relationships/image" Target="../media/image142.svg"/><Relationship Id="rId9" Type="http://schemas.openxmlformats.org/officeDocument/2006/relationships/image" Target="../media/image143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44.png"/><Relationship Id="rId3" Type="http://schemas.openxmlformats.org/officeDocument/2006/relationships/image" Target="../media/image145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Relationship Id="rId9" Type="http://schemas.openxmlformats.org/officeDocument/2006/relationships/image" Target="../media/image151.png"/><Relationship Id="rId10" Type="http://schemas.openxmlformats.org/officeDocument/2006/relationships/image" Target="../media/image152.png"/><Relationship Id="rId11" Type="http://schemas.openxmlformats.org/officeDocument/2006/relationships/image" Target="../media/image153.png"/><Relationship Id="rId12" Type="http://schemas.openxmlformats.org/officeDocument/2006/relationships/image" Target="../media/image220.png"/><Relationship Id="rId13" Type="http://schemas.openxmlformats.org/officeDocument/2006/relationships/image" Target="../media/image224.png"/><Relationship Id="rId14" Type="http://schemas.openxmlformats.org/officeDocument/2006/relationships/image" Target="../media/image253.png"/><Relationship Id="rId15" Type="http://schemas.openxmlformats.org/officeDocument/2006/relationships/image" Target="../media/image255.png"/><Relationship Id="rId16" Type="http://schemas.openxmlformats.org/officeDocument/2006/relationships/image" Target="../media/image256.png"/><Relationship Id="rId17" Type="http://schemas.openxmlformats.org/officeDocument/2006/relationships/image" Target="../media/image257.png"/><Relationship Id="rId18" Type="http://schemas.openxmlformats.org/officeDocument/2006/relationships/image" Target="../media/image252.png"/><Relationship Id="rId19" Type="http://schemas.openxmlformats.org/officeDocument/2006/relationships/image" Target="../media/image223.png"/><Relationship Id="rId20" Type="http://schemas.openxmlformats.org/officeDocument/2006/relationships/image" Target="../media/image227.png"/><Relationship Id="rId21" Type="http://schemas.openxmlformats.org/officeDocument/2006/relationships/image" Target="../media/image2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4.svg"/><Relationship Id="rId4" Type="http://schemas.openxmlformats.org/officeDocument/2006/relationships/image" Target="../media/image155.svg"/><Relationship Id="rId5" Type="http://schemas.openxmlformats.org/officeDocument/2006/relationships/image" Target="../media/image156.svg"/><Relationship Id="rId6" Type="http://schemas.openxmlformats.org/officeDocument/2006/relationships/image" Target="../media/image157.svg"/><Relationship Id="rId7" Type="http://schemas.openxmlformats.org/officeDocument/2006/relationships/image" Target="../media/image158.svg"/><Relationship Id="rId8" Type="http://schemas.openxmlformats.org/officeDocument/2006/relationships/image" Target="../media/image159.svg"/><Relationship Id="rId9" Type="http://schemas.openxmlformats.org/officeDocument/2006/relationships/image" Target="../media/image160.svg"/><Relationship Id="rId10" Type="http://schemas.openxmlformats.org/officeDocument/2006/relationships/image" Target="../media/image161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png"/><Relationship Id="rId3" Type="http://schemas.openxmlformats.org/officeDocument/2006/relationships/image" Target="../media/image238.png"/><Relationship Id="rId4" Type="http://schemas.openxmlformats.org/officeDocument/2006/relationships/image" Target="../media/image239.png"/><Relationship Id="rId5" Type="http://schemas.openxmlformats.org/officeDocument/2006/relationships/image" Target="../media/image240.png"/><Relationship Id="rId6" Type="http://schemas.openxmlformats.org/officeDocument/2006/relationships/image" Target="../media/image241.png"/><Relationship Id="rId7" Type="http://schemas.openxmlformats.org/officeDocument/2006/relationships/image" Target="../media/image2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2.svg"/><Relationship Id="rId4" Type="http://schemas.openxmlformats.org/officeDocument/2006/relationships/image" Target="../media/image163.svg"/><Relationship Id="rId5" Type="http://schemas.openxmlformats.org/officeDocument/2006/relationships/image" Target="../media/image164.svg"/><Relationship Id="rId6" Type="http://schemas.openxmlformats.org/officeDocument/2006/relationships/image" Target="../media/image165.svg"/><Relationship Id="rId7" Type="http://schemas.openxmlformats.org/officeDocument/2006/relationships/image" Target="../media/image166.svg"/><Relationship Id="rId8" Type="http://schemas.openxmlformats.org/officeDocument/2006/relationships/image" Target="../media/image167.svg"/><Relationship Id="rId9" Type="http://schemas.openxmlformats.org/officeDocument/2006/relationships/image" Target="../media/image168.svg"/><Relationship Id="rId10" Type="http://schemas.openxmlformats.org/officeDocument/2006/relationships/image" Target="../media/image169.svg"/><Relationship Id="rId11" Type="http://schemas.openxmlformats.org/officeDocument/2006/relationships/image" Target="../media/image170.svg"/><Relationship Id="rId12" Type="http://schemas.openxmlformats.org/officeDocument/2006/relationships/image" Target="../media/image171.svg"/><Relationship Id="rId13" Type="http://schemas.openxmlformats.org/officeDocument/2006/relationships/image" Target="../media/image172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3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66.png"/><Relationship Id="rId9" Type="http://schemas.openxmlformats.org/officeDocument/2006/relationships/image" Target="../media/image84.png"/><Relationship Id="rId10" Type="http://schemas.openxmlformats.org/officeDocument/2006/relationships/image" Target="../media/image178.png"/><Relationship Id="rId11" Type="http://schemas.openxmlformats.org/officeDocument/2006/relationships/image" Target="../media/image17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0.png"/><Relationship Id="rId4" Type="http://schemas.openxmlformats.org/officeDocument/2006/relationships/image" Target="../media/image181.png"/><Relationship Id="rId5" Type="http://schemas.openxmlformats.org/officeDocument/2006/relationships/image" Target="../media/image182.png"/><Relationship Id="rId6" Type="http://schemas.openxmlformats.org/officeDocument/2006/relationships/image" Target="../media/image183.png"/><Relationship Id="rId7" Type="http://schemas.openxmlformats.org/officeDocument/2006/relationships/image" Target="../media/image184.png"/><Relationship Id="rId8" Type="http://schemas.openxmlformats.org/officeDocument/2006/relationships/image" Target="../media/image185.png"/><Relationship Id="rId9" Type="http://schemas.openxmlformats.org/officeDocument/2006/relationships/image" Target="../media/image255.png"/><Relationship Id="rId10" Type="http://schemas.openxmlformats.org/officeDocument/2006/relationships/image" Target="../media/image253.png"/><Relationship Id="rId11" Type="http://schemas.openxmlformats.org/officeDocument/2006/relationships/image" Target="../media/image234.png"/><Relationship Id="rId12" Type="http://schemas.openxmlformats.org/officeDocument/2006/relationships/image" Target="../media/image256.png"/><Relationship Id="rId13" Type="http://schemas.openxmlformats.org/officeDocument/2006/relationships/image" Target="../media/image257.png"/><Relationship Id="rId14" Type="http://schemas.openxmlformats.org/officeDocument/2006/relationships/image" Target="../media/image23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6.svg"/><Relationship Id="rId4" Type="http://schemas.openxmlformats.org/officeDocument/2006/relationships/image" Target="../media/image187.svg"/><Relationship Id="rId5" Type="http://schemas.openxmlformats.org/officeDocument/2006/relationships/image" Target="../media/image188.svg"/><Relationship Id="rId6" Type="http://schemas.openxmlformats.org/officeDocument/2006/relationships/image" Target="../media/image189.svg"/><Relationship Id="rId7" Type="http://schemas.openxmlformats.org/officeDocument/2006/relationships/image" Target="../media/image190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1.pn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Relationship Id="rId8" Type="http://schemas.openxmlformats.org/officeDocument/2006/relationships/image" Target="../media/image196.png"/><Relationship Id="rId9" Type="http://schemas.openxmlformats.org/officeDocument/2006/relationships/image" Target="../media/image258.png"/><Relationship Id="rId10" Type="http://schemas.openxmlformats.org/officeDocument/2006/relationships/image" Target="../media/image259.png"/><Relationship Id="rId11" Type="http://schemas.openxmlformats.org/officeDocument/2006/relationships/image" Target="../media/image260.png"/><Relationship Id="rId12" Type="http://schemas.openxmlformats.org/officeDocument/2006/relationships/image" Target="../media/image231.png"/><Relationship Id="rId13" Type="http://schemas.openxmlformats.org/officeDocument/2006/relationships/image" Target="../media/image261.png"/><Relationship Id="rId14" Type="http://schemas.openxmlformats.org/officeDocument/2006/relationships/image" Target="../media/image250.png"/><Relationship Id="rId15" Type="http://schemas.openxmlformats.org/officeDocument/2006/relationships/image" Target="../media/image27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Relationship Id="rId3" Type="http://schemas.openxmlformats.org/officeDocument/2006/relationships/image" Target="../media/image243.png"/><Relationship Id="rId4" Type="http://schemas.openxmlformats.org/officeDocument/2006/relationships/image" Target="../media/image244.png"/><Relationship Id="rId5" Type="http://schemas.openxmlformats.org/officeDocument/2006/relationships/image" Target="../media/image245.png"/><Relationship Id="rId6" Type="http://schemas.openxmlformats.org/officeDocument/2006/relationships/image" Target="../media/image255.png"/><Relationship Id="rId7" Type="http://schemas.openxmlformats.org/officeDocument/2006/relationships/image" Target="../media/image258.png"/><Relationship Id="rId8" Type="http://schemas.openxmlformats.org/officeDocument/2006/relationships/image" Target="../media/image226.png"/><Relationship Id="rId9" Type="http://schemas.openxmlformats.org/officeDocument/2006/relationships/image" Target="../media/image25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Relationship Id="rId3" Type="http://schemas.openxmlformats.org/officeDocument/2006/relationships/image" Target="../media/image247.png"/><Relationship Id="rId4" Type="http://schemas.openxmlformats.org/officeDocument/2006/relationships/image" Target="../media/image24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7.png"/><Relationship Id="rId4" Type="http://schemas.openxmlformats.org/officeDocument/2006/relationships/image" Target="../media/image198.png"/><Relationship Id="rId5" Type="http://schemas.openxmlformats.org/officeDocument/2006/relationships/image" Target="../media/image199.png"/><Relationship Id="rId6" Type="http://schemas.openxmlformats.org/officeDocument/2006/relationships/image" Target="../media/image200.png"/><Relationship Id="rId7" Type="http://schemas.openxmlformats.org/officeDocument/2006/relationships/image" Target="../media/image201.png"/><Relationship Id="rId8" Type="http://schemas.openxmlformats.org/officeDocument/2006/relationships/image" Target="../media/image46.png"/><Relationship Id="rId9" Type="http://schemas.openxmlformats.org/officeDocument/2006/relationships/image" Target="../media/image202.png"/><Relationship Id="rId10" Type="http://schemas.openxmlformats.org/officeDocument/2006/relationships/image" Target="../media/image203.png"/><Relationship Id="rId11" Type="http://schemas.openxmlformats.org/officeDocument/2006/relationships/image" Target="../media/image20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tags" Target="../tags/tag40.xml"/><Relationship Id="rId8" Type="http://schemas.openxmlformats.org/officeDocument/2006/relationships/tags" Target="../tags/tag41.xml"/><Relationship Id="rId9" Type="http://schemas.openxmlformats.org/officeDocument/2006/relationships/tags" Target="../tags/tag42.xml"/><Relationship Id="rId10" Type="http://schemas.openxmlformats.org/officeDocument/2006/relationships/tags" Target="../tags/tag43.xml"/><Relationship Id="rId11" Type="http://schemas.openxmlformats.org/officeDocument/2006/relationships/tags" Target="../tags/tag44.xml"/><Relationship Id="rId12" Type="http://schemas.openxmlformats.org/officeDocument/2006/relationships/tags" Target="../tags/tag45.xml"/><Relationship Id="rId13" Type="http://schemas.openxmlformats.org/officeDocument/2006/relationships/tags" Target="../tags/tag46.xml"/><Relationship Id="rId14" Type="http://schemas.openxmlformats.org/officeDocument/2006/relationships/tags" Target="../tags/tag47.xml"/><Relationship Id="rId15" Type="http://schemas.openxmlformats.org/officeDocument/2006/relationships/slideLayout" Target="../slideLayouts/slideLayout12.xml"/><Relationship Id="rId16" Type="http://schemas.openxmlformats.org/officeDocument/2006/relationships/notesSlide" Target="../notesSlides/notesSlide30.xml"/><Relationship Id="rId17" Type="http://schemas.openxmlformats.org/officeDocument/2006/relationships/image" Target="../media/image205.png"/><Relationship Id="rId18" Type="http://schemas.openxmlformats.org/officeDocument/2006/relationships/image" Target="../media/image51.png"/><Relationship Id="rId19" Type="http://schemas.openxmlformats.org/officeDocument/2006/relationships/image" Target="../media/image206.png"/><Relationship Id="rId20" Type="http://schemas.openxmlformats.org/officeDocument/2006/relationships/image" Target="../media/image20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svg"/><Relationship Id="rId4" Type="http://schemas.openxmlformats.org/officeDocument/2006/relationships/image" Target="../media/image209.svg"/><Relationship Id="rId5" Type="http://schemas.openxmlformats.org/officeDocument/2006/relationships/image" Target="../media/image210.svg"/><Relationship Id="rId6" Type="http://schemas.openxmlformats.org/officeDocument/2006/relationships/image" Target="../media/image211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2.png"/><Relationship Id="rId4" Type="http://schemas.openxmlformats.org/officeDocument/2006/relationships/image" Target="../media/image213.png"/><Relationship Id="rId5" Type="http://schemas.openxmlformats.org/officeDocument/2006/relationships/image" Target="../media/image214.png"/><Relationship Id="rId6" Type="http://schemas.openxmlformats.org/officeDocument/2006/relationships/image" Target="../media/image21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6.png"/><Relationship Id="rId4" Type="http://schemas.openxmlformats.org/officeDocument/2006/relationships/image" Target="../media/image217.png"/><Relationship Id="rId5" Type="http://schemas.openxmlformats.org/officeDocument/2006/relationships/image" Target="../media/image218.png"/><Relationship Id="rId6" Type="http://schemas.openxmlformats.org/officeDocument/2006/relationships/image" Target="../media/image21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32000"/>
            <a:ext cx="1219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智慧果园 · 懂苹果的种植管理平台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342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让苹果种植更省心、更科学、更赚钱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588000"/>
            <a:ext cx="1219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智道易农科技有限公司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270000"/>
            <a:ext cx="889000" cy="10160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Noto Sans SC"/>
              </a:rPr>
              <a:t>内容导航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905000"/>
            <a:ext cx="3124200" cy="1206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9800" y="2057400"/>
            <a:ext cx="276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01  市场洞察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800" y="2540000"/>
            <a:ext cx="2768600" cy="482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千亿蓝海与产业痛点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33900" y="1905000"/>
            <a:ext cx="3124200" cy="1206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1700" y="2057400"/>
            <a:ext cx="276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02  解决方案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1700" y="2540000"/>
            <a:ext cx="2768600" cy="482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懂苹果的垂直平台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5800" y="1905000"/>
            <a:ext cx="3124200" cy="1206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3600" y="2057400"/>
            <a:ext cx="276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03  四端协同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3600" y="2540000"/>
            <a:ext cx="2768600" cy="482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PC·移动·大屏·H5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3429000"/>
            <a:ext cx="3124200" cy="1206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800" y="3581400"/>
            <a:ext cx="276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04  智慧大脑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064000"/>
            <a:ext cx="2768600" cy="482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六大农业模型引擎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3900" y="3429000"/>
            <a:ext cx="3124200" cy="1206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1700" y="3581400"/>
            <a:ext cx="276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05  核心能力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1700" y="4064000"/>
            <a:ext cx="2768600" cy="482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装备·溯源·闭环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5800" y="3429000"/>
            <a:ext cx="3124200" cy="1206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3600" y="3581400"/>
            <a:ext cx="276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06  业务闭环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3600" y="4064000"/>
            <a:ext cx="2768600" cy="482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四大数字化闭环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4953000"/>
            <a:ext cx="3124200" cy="1206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800" y="5105400"/>
            <a:ext cx="276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07  技术保障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800" y="5588000"/>
            <a:ext cx="2768600" cy="482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架构·部署·合规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3900" y="4953000"/>
            <a:ext cx="3124200" cy="1206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1700" y="5105400"/>
            <a:ext cx="276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08  价值论证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1700" y="5588000"/>
            <a:ext cx="2768600" cy="482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可量化成效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5800" y="4953000"/>
            <a:ext cx="3124200" cy="1206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3600" y="5105400"/>
            <a:ext cx="276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09  携手共赢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3600" y="5588000"/>
            <a:ext cx="2768600" cy="482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合作与行动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02 / 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SC"/>
              </a:rPr>
              <a:t>PART 01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Noto Sans SC"/>
              </a:rPr>
              <a:t>01   市场洞察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3683000"/>
            <a:ext cx="15240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SC"/>
              </a:rPr>
              <a:t>千亿蓝海与产业痛点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 / 53   ·   市场洞察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数字化浪潮已至，苹果产业亟待变革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核心洞察：产业数字化浪潮已至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641600"/>
            <a:ext cx="4191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行业先行者示范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全国各大苹果核心产区的龙头企业已率先部署智慧果园系统，构建竞争壁垒。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56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530600"/>
            <a:ext cx="4191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投入爆发式增长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近三年来，苹果企业数字化投入同比增长超过</a:t>
            </a:r>
            <a:r>
              <a:rPr lang="en-US" sz="1200" b="1" i="0" u="none" strike="noStrike">
                <a:solidFill>
                  <a:srgbClr val="D32F2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150%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，转型意愿强烈。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4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419600"/>
            <a:ext cx="4191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智能硬件全面普及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气象站、土壤传感器、虫情灯等物联网设备部署量同比增长</a:t>
            </a:r>
            <a:r>
              <a:rPr lang="en-US" sz="1200" b="1" i="0" u="none" strike="noStrike">
                <a:solidFill>
                  <a:srgbClr val="D32F2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80%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34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5308600"/>
            <a:ext cx="4191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AI大模型赋能决策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农业大模型技术日趋成熟，为种植管理提供精准的智能决策支持。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1905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政策与投入双重驱动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667000"/>
            <a:ext cx="1460500" cy="1524000"/>
          </a:xfrm>
          <a:prstGeom prst="roundRect">
            <a:avLst>
              <a:gd name="adj" fmla="val 6956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540500" y="2794000"/>
            <a:ext cx="13335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《数字农业农村发展规划》正式发布，明确转型路径。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89900" y="2667000"/>
            <a:ext cx="1460500" cy="1524000"/>
          </a:xfrm>
          <a:prstGeom prst="roundRect">
            <a:avLst>
              <a:gd name="adj" fmla="val 6956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53400" y="2794000"/>
            <a:ext cx="13335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各地智慧农业示范项目启动，高额财政补贴落地。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715500" y="2667000"/>
            <a:ext cx="1460500" cy="1524000"/>
          </a:xfrm>
          <a:prstGeom prst="roundRect">
            <a:avLst>
              <a:gd name="adj" fmla="val 6956"/>
            </a:avLst>
          </a:prstGeom>
          <a:solidFill>
            <a:srgbClr val="FFF3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779000" y="2794000"/>
            <a:ext cx="13335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设立国家级农业数字化转型专项资金，扩大支持范围。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445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4826000"/>
            <a:ext cx="762000" cy="762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620000" y="4699000"/>
            <a:ext cx="3302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苹果企业数字化投入趋势 (2022-2026E)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随着政策红利释放与技术成熟，预计未来三年投入将持续保持高速增长态势，转型将从“尝鲜”走向“主流”。</a:t>
            </a:r>
            <a:endParaRPr lang="en-US" sz="1100"/>
          </a:p>
        </p:txBody>
      </p:sp>
      <p:sp>
        <p:nvSpPr>
          <p:cNvPr id="24" name="TextBox 23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04 / 53   ·   市场洞察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管理者的烦恼 · 一线的挑战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3810000"/>
          </a:xfrm>
          <a:prstGeom prst="roundRect">
            <a:avLst>
              <a:gd name="adj" fmla="val 400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2500" y="1651000"/>
            <a:ext cx="482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企业管理者痛点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52500" y="2159000"/>
            <a:ext cx="241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9500" y="2413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651000" y="22860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数据孤岛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生产/销售/财务数据分散，无法关联分析。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429000" y="2159000"/>
            <a:ext cx="241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56000" y="2413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127500" y="22860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预警滞后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气象/虫情预警响应慢，错失良机，损失钱财。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952500" y="3302000"/>
            <a:ext cx="241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79500" y="3556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651000" y="34290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手工汇整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报表需手工整理，耗时费力且易出错。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429000" y="3302000"/>
            <a:ext cx="241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556000" y="3556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4127500" y="34290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质量担忧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产品来源不可靠，难以满足消费者溯源需求。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952500" y="4445000"/>
            <a:ext cx="241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79500" y="4699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1651000" y="45720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农事低效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依赖传统经验，排班耗时长，流转超2-4小时/次。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3429000" y="4445000"/>
            <a:ext cx="241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556000" y="4699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4127500" y="4572000"/>
            <a:ext cx="165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库存失控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采用Excel管库存，库存准确率仅</a:t>
            </a:r>
            <a:r>
              <a:rPr lang="en-US" sz="1100" b="1" i="0" u="none" strike="noStrike">
                <a:solidFill>
                  <a:srgbClr val="D32F2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60%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223000" y="1524000"/>
            <a:ext cx="5207000" cy="3810000"/>
          </a:xfrm>
          <a:prstGeom prst="roundRect">
            <a:avLst>
              <a:gd name="adj" fmla="val 400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13500" y="1651000"/>
            <a:ext cx="482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976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一线人员痛点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2159000"/>
            <a:ext cx="2413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540500" y="2476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7175500" y="2349500"/>
            <a:ext cx="1524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操作复杂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现有APP步骤繁琐，上手门槛高，学会不敢干、不用。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8890000" y="2159000"/>
            <a:ext cx="2413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017000" y="2476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9652000" y="2349500"/>
            <a:ext cx="1524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网络不稳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山区/偏远地块4G信号弱，农事记录提交频繁失败。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6413500" y="3810000"/>
            <a:ext cx="2413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540500" y="4127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3" name="AutoShape 33"/>
          <p:cNvSpPr/>
          <p:nvPr/>
        </p:nvSpPr>
        <p:spPr>
          <a:xfrm>
            <a:off x="7175500" y="4000500"/>
            <a:ext cx="1524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记录麻烦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手机打字慢，系统选择项多，严重影响田间干活效率。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8890000" y="3810000"/>
            <a:ext cx="2413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017000" y="4127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6" name="AutoShape 36"/>
          <p:cNvSpPr/>
          <p:nvPr/>
        </p:nvSpPr>
        <p:spPr>
          <a:xfrm>
            <a:off x="9652000" y="4000500"/>
            <a:ext cx="1524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决策无据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长期仅凭个人经验操作，缺乏科学依据和数据支撑。</a:t>
            </a:r>
          </a:p>
        </p:txBody>
      </p:sp>
      <p:sp>
        <p:nvSpPr>
          <p:cNvPr id="37" name="AutoShape 37"/>
          <p:cNvSpPr/>
          <p:nvPr/>
        </p:nvSpPr>
        <p:spPr>
          <a:xfrm>
            <a:off x="762000" y="5588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016000" y="5778500"/>
            <a:ext cx="990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“每多一次点击，一天多几十次操作”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地块负责人真实反馈</a:t>
            </a:r>
            <a:endParaRPr lang="en-US" sz="1100"/>
          </a:p>
        </p:txBody>
      </p:sp>
      <p:sp>
        <p:nvSpPr>
          <p:cNvPr id="39" name="TextBox 38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05 / 53   ·   市场洞察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SC"/>
              </a:rPr>
              <a:t>PART 02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Noto Sans SC"/>
              </a:rPr>
              <a:t>02   解决方案总览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3683000"/>
            <a:ext cx="15240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SC"/>
              </a:rPr>
              <a:t>懂苹果的垂直平台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06 / 53   ·   解决方案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懂苹果的垂直平台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841500"/>
            <a:ext cx="1016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不是通用农业 ERP 系统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而是以</a:t>
            </a:r>
            <a:r>
              <a:rPr lang="en-US" sz="2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六大农业模型</a:t>
            </a: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为引擎，以</a:t>
            </a:r>
            <a:r>
              <a:rPr lang="zh-CN" altLang="en-US" sz="2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精细管理</a:t>
            </a: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为核心的垂直专业化管理系统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" y="3683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587500" y="3581400"/>
            <a:ext cx="2286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农事排程自动化，减少人工沟通成本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排程时间减少 60%+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3429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35500" y="3683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270500" y="3581400"/>
            <a:ext cx="2286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数据完整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拍照即记录，离线不丢失，数据留存无忧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记录完整率提升至 80%+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3429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318500" y="3683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953500" y="3581400"/>
            <a:ext cx="2286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库存可控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农资全链路数字化管理，实时库存预警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库存数据准确率 &gt; 95%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1435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2500" y="5397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587500" y="5295900"/>
            <a:ext cx="2286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风险可控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病虫害、气象等风险，分秒级预警响应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风险预警响应 &lt; 5分钟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445000" y="51435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635500" y="5397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5270500" y="5295900"/>
            <a:ext cx="2286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品质可溯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区块链全程溯源，构建消费者信任基石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助力品牌溢价显著提升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28000" y="51435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318500" y="5397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8953500" y="5295900"/>
            <a:ext cx="2286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决策智能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六大专业农业模型驱动，科学指导农事决策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农事建议准确率 70%+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07 / 53   ·   解决方案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设计哲学：一线不用，系统白搭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9FBF9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核心设计理念 · 以人为本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794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651000" y="2768600"/>
            <a:ext cx="406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以“地块负责人”为中心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将一线用户的操作体验作为产品生命线，拒绝复杂逻辑。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3810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651000" y="3784600"/>
            <a:ext cx="406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拍照即记录，离线优先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适应复杂的田间网络环境，断网不停工，操作零门槛。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4953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1651000" y="4927600"/>
            <a:ext cx="406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大字大按钮，五端协同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适配户外强光下的视觉体验，Web/APP/小程序等多端实时同步，数据同源。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1778000"/>
            <a:ext cx="5080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技术红线 · 不可妥协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540000"/>
            <a:ext cx="241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540500" y="2857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7048500" y="2730500"/>
            <a:ext cx="1587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山区弱网可用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在信号极差环境，保证基础功能流畅运行。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017000" y="2540000"/>
            <a:ext cx="241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207500" y="2857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9715500" y="2730500"/>
            <a:ext cx="1587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离线数据不丢失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本地数据多重缓存，联网后自动无缝恢复。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350000" y="4191000"/>
            <a:ext cx="1600200" cy="1905000"/>
          </a:xfrm>
          <a:prstGeom prst="roundRect">
            <a:avLst>
              <a:gd name="adj" fmla="val 634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502400" y="4445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858000" y="4419600"/>
            <a:ext cx="1016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操作极简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核心高频动作，3步以内必须完成。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089900" y="4191000"/>
            <a:ext cx="1600200" cy="1905000"/>
          </a:xfrm>
          <a:prstGeom prst="roundRect">
            <a:avLst>
              <a:gd name="adj" fmla="val 634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42300" y="4445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8597900" y="4419600"/>
            <a:ext cx="1016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秒级启动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移动端冷启动时间严格控制在2秒以内。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829800" y="4191000"/>
            <a:ext cx="1600200" cy="1905000"/>
          </a:xfrm>
          <a:prstGeom prst="roundRect">
            <a:avLst>
              <a:gd name="adj" fmla="val 634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982200" y="4445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10337800" y="4419600"/>
            <a:ext cx="1016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数据高一致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多端数据一致达到99.5%以上。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08 / 53   ·   解决方案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八大核心优势，构建竞品无法复制的护城河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25654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78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714500"/>
            <a:ext cx="1549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六大决策模型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核心决策引擎，真正懂农业，精准指导生产。</a:t>
            </a: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懂苹果生长规律</a:t>
            </a:r>
          </a:p>
        </p:txBody>
      </p:sp>
      <p:sp>
        <p:nvSpPr>
          <p:cNvPr id="6" name="AutoShape 6"/>
          <p:cNvSpPr/>
          <p:nvPr/>
        </p:nvSpPr>
        <p:spPr>
          <a:xfrm>
            <a:off x="3530600" y="1524000"/>
            <a:ext cx="25654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100" y="1778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419600" y="1714500"/>
            <a:ext cx="1549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区块链溯源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为每颗苹果提供不可篡改的“数字身份证”，全程透明。</a:t>
            </a: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1" i="0" u="none" strike="noStrike">
                <a:solidFill>
                  <a:srgbClr val="FF9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提升消费者信任</a:t>
            </a:r>
          </a:p>
        </p:txBody>
      </p:sp>
      <p:sp>
        <p:nvSpPr>
          <p:cNvPr id="9" name="AutoShape 9"/>
          <p:cNvSpPr/>
          <p:nvPr/>
        </p:nvSpPr>
        <p:spPr>
          <a:xfrm>
            <a:off x="6299200" y="1524000"/>
            <a:ext cx="25654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9700" y="1778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88200" y="1714500"/>
            <a:ext cx="1549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AI大模型服务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提供24小时智能问答和图像识别，秒级解决种植难题。</a:t>
            </a: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24h 专业农事顾问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067800" y="1524000"/>
            <a:ext cx="25654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8300" y="1778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956800" y="1714500"/>
            <a:ext cx="1549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农资全链路管理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从采购到使用，全流程精细化管理，杜绝农资浪费。</a:t>
            </a: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成本降低 15%+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3683000"/>
            <a:ext cx="25654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937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3873500"/>
            <a:ext cx="1549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无人机AI巡园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高空AI巡检，快速识别病虫害与长势，大幅降低人工成本。</a:t>
            </a: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1" i="0" u="none" strike="noStrike">
                <a:solidFill>
                  <a:srgbClr val="FF9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 80%+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530600" y="3683000"/>
            <a:ext cx="25654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1100" y="3937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419600" y="3873500"/>
            <a:ext cx="1549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VR全景漫游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360°沉浸式园区漫游，随时随地展示基地，提升品牌形象。</a:t>
            </a: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1" i="0" u="none" strike="noStrike">
                <a:solidFill>
                  <a:srgbClr val="00BC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品牌营销利器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99200" y="3683000"/>
            <a:ext cx="25654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89700" y="39370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88200" y="3873500"/>
            <a:ext cx="1549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四层风险预警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病虫害、气象、设备、库存全方位监测，变被动为主动。</a:t>
            </a: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生产风险全面可控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067800" y="3683000"/>
            <a:ext cx="25654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58300" y="3937000"/>
            <a:ext cx="508000" cy="508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956800" y="3873500"/>
            <a:ext cx="1549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极简一线操作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专为一线果农设计，离线可用，上手即用。</a:t>
            </a: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100" b="1" i="0" u="none" strike="noStrike">
                <a:solidFill>
                  <a:srgbClr val="2196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好用、爱用、常用</a:t>
            </a:r>
          </a:p>
        </p:txBody>
      </p:sp>
      <p:sp>
        <p:nvSpPr>
          <p:cNvPr id="27" name="AutoShape 27"/>
          <p:cNvSpPr/>
          <p:nvPr/>
        </p:nvSpPr>
        <p:spPr>
          <a:xfrm>
            <a:off x="762000" y="5842000"/>
            <a:ext cx="1087120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89000" y="5969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通用ERP系统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不懂苹果，流程僵化，无农事闭环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556000" y="5969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设备厂商系统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仅管设备数据，无农事指导与决策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223000" y="5969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传统人工管理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经验依赖大，效率低，无数据沉淀</a:t>
            </a:r>
          </a:p>
        </p:txBody>
      </p:sp>
      <p:sp>
        <p:nvSpPr>
          <p:cNvPr id="31" name="AutoShape 31"/>
          <p:cNvSpPr/>
          <p:nvPr/>
        </p:nvSpPr>
        <p:spPr>
          <a:xfrm>
            <a:off x="8890000" y="5969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智慧果园平台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懂苹果 · 全链路 · AI决策 · 一线爱用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09 / 53   ·   解决方案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SC"/>
              </a:rPr>
              <a:t>PART 03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Noto Sans SC"/>
              </a:rPr>
              <a:t>03   四端协同详解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3683000"/>
            <a:ext cx="15240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SC"/>
              </a:rPr>
              <a:t>PC · 移动 · 大屏 · H5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10 / 53   ·   四端协同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四端协同全景图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35500" y="2286000"/>
            <a:ext cx="2921000" cy="1651000"/>
          </a:xfrm>
          <a:prstGeom prst="roundRect">
            <a:avLst>
              <a:gd name="adj" fmla="val 923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26000" y="24765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588000" y="2476500"/>
            <a:ext cx="1778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数据中心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8F5E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统一调度 · 数据汇聚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8F5E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CENTER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2500" y="1968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460500" y="1930400"/>
            <a:ext cx="203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电脑端</a:t>
            </a:r>
            <a:r>
              <a:rPr lang="en-US" sz="1400" b="0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 指挥中心 ]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667000"/>
            <a:ext cx="254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核心功能：计划编排、审批决策、报表分析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52500" y="4381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460500" y="4343400"/>
            <a:ext cx="203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 执行前线 ]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5080000"/>
            <a:ext cx="254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核心功能：任务执行、拍照记录、巡园打卡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509000" y="1778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99500" y="1968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9207500" y="1930400"/>
            <a:ext cx="203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大屏端</a:t>
            </a:r>
            <a:r>
              <a:rPr lang="en-US" sz="1400" b="0" i="0" u="none" strike="noStrike">
                <a:solidFill>
                  <a:srgbClr val="FF6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 决策舱 ]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699500" y="2667000"/>
            <a:ext cx="254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核心功能：实时监控、预警汇总、汇报展示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09000" y="4191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699500" y="4381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9207500" y="4343400"/>
            <a:ext cx="203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H5端</a:t>
            </a:r>
            <a:r>
              <a:rPr lang="en-US" sz="1400" b="0" i="0" u="none" strike="noStrike">
                <a:solidFill>
                  <a:srgbClr val="9C27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 消费者信任 ]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699500" y="5080000"/>
            <a:ext cx="254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核心功能：产品溯源、品牌展示、互动营销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18000" y="49530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4CAF50">
              <a:alpha val="100000"/>
            </a:srgbClr>
          </a:solidFill>
          <a:ln w="12700" cap="flat" cmpd="sng">
            <a:solidFill>
              <a:srgbClr val="388E3C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8000" y="4953000"/>
            <a:ext cx="3556000" cy="12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SC"/>
              </a:rPr>
              <a:t>AI 智能助手 · 跨端赋能层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Noto Sans SC"/>
              </a:rPr>
              <a:t>智能问答 · 图像识别 · 双向赋能四端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11 / 53   ·   四端协同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270000"/>
            <a:ext cx="889000" cy="10160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Noto Sans SC"/>
              </a:rPr>
              <a:t>大屏端：八大驾驶舱矩阵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71600"/>
            <a:ext cx="106680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SC"/>
              </a:rPr>
              <a:t>一屏掌控全局 · 八类决策视角（依据 8 张大屏截图与白皮书第六章核对）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9050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_index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2008187"/>
            <a:ext cx="2387600" cy="1343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3454400"/>
            <a:ext cx="238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Noto Sans SC"/>
              </a:rPr>
              <a:t>基地总览驾驶舱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9500" y="19050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_busines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5700" y="2008187"/>
            <a:ext cx="2387600" cy="1343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95700" y="3454400"/>
            <a:ext cx="238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Noto Sans SC"/>
              </a:rPr>
              <a:t>企业管理驾驶舱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7000" y="19050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_dashboar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008187"/>
            <a:ext cx="2387600" cy="1343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53200" y="3454400"/>
            <a:ext cx="238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Noto Sans SC"/>
              </a:rPr>
              <a:t>总览汇报驾驶舱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4500" y="19050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a_growt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0700" y="2008187"/>
            <a:ext cx="2387600" cy="1343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10700" y="3454400"/>
            <a:ext cx="238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Noto Sans SC"/>
              </a:rPr>
              <a:t>生长监测驾驶舱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41910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_io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4294187"/>
            <a:ext cx="2387600" cy="13430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8200" y="5740400"/>
            <a:ext cx="238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Noto Sans SC"/>
              </a:rPr>
              <a:t>物联网驾驶舱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9500" y="41910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a_trac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95700" y="4294187"/>
            <a:ext cx="2387600" cy="1343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95700" y="5740400"/>
            <a:ext cx="238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Noto Sans SC"/>
              </a:rPr>
              <a:t>溯源监管驾驶舱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7000" y="41910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a_aler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4294187"/>
            <a:ext cx="2387600" cy="13430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53200" y="5740400"/>
            <a:ext cx="238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Noto Sans SC"/>
              </a:rPr>
              <a:t>预警中心驾驶舱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34500" y="41910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da_result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10700" y="4294187"/>
            <a:ext cx="2387600" cy="13430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410700" y="5740400"/>
            <a:ext cx="238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Noto Sans SC"/>
              </a:rPr>
              <a:t>营销成效驾驶舱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12 / 53   ·   四端协同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3485578" y="276129"/>
            <a:ext cx="4799171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智慧果园企业管理驾驶舱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7" y="1051560"/>
            <a:ext cx="7552944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1879600"/>
            <a:ext cx="6604000" cy="370840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8763000" y="2806700"/>
            <a:ext cx="2413000" cy="157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6200" y="1130300"/>
            <a:ext cx="1981200" cy="11176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763000" y="1054100"/>
            <a:ext cx="2413000" cy="157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6200" y="2882900"/>
            <a:ext cx="1981200" cy="111760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8763000" y="4559300"/>
            <a:ext cx="2413000" cy="157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6200" y="4635500"/>
            <a:ext cx="1981200" cy="1117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13 / 53   ·   四端协同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3600" y="5715000"/>
            <a:ext cx="7429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驾驶舱总览 · 生产 / 经营 / 预警一屏统管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63000" y="2286000"/>
            <a:ext cx="24130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园区总览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63000" y="4038600"/>
            <a:ext cx="24130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经营分析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63000" y="5791200"/>
            <a:ext cx="24130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生长监测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移动端：一线人员的执行前线 · 田间好用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 · 七大核心特点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23495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68400" y="2857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651000" y="2794000"/>
            <a:ext cx="1651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首屏即任务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打开直接看到今日待办，无需查找。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492500" y="2667000"/>
            <a:ext cx="23495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44900" y="2857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127500" y="2794000"/>
            <a:ext cx="1651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拍照即记录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3步完成农事记录，简单高效。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3937000"/>
            <a:ext cx="23495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68400" y="4127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651000" y="4064000"/>
            <a:ext cx="1651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离线优先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弱网环境也能操作，数据永不丢失。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492500" y="3937000"/>
            <a:ext cx="23495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44900" y="4127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4127500" y="4064000"/>
            <a:ext cx="1651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大字大按钮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适配田间场景，戴手套也能操作。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5207000"/>
            <a:ext cx="1524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43000" y="53594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1498600" y="5334000"/>
            <a:ext cx="952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AI助手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随时获得种植指导</a:t>
            </a:r>
          </a:p>
        </p:txBody>
      </p:sp>
      <p:sp>
        <p:nvSpPr>
          <p:cNvPr id="20" name="AutoShape 20"/>
          <p:cNvSpPr/>
          <p:nvPr/>
        </p:nvSpPr>
        <p:spPr>
          <a:xfrm>
            <a:off x="2667000" y="5207000"/>
            <a:ext cx="1524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794000" y="53594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3149600" y="5334000"/>
            <a:ext cx="952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模型快讯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滚动展示关键信息</a:t>
            </a:r>
          </a:p>
        </p:txBody>
      </p:sp>
      <p:sp>
        <p:nvSpPr>
          <p:cNvPr id="23" name="AutoShape 23"/>
          <p:cNvSpPr/>
          <p:nvPr/>
        </p:nvSpPr>
        <p:spPr>
          <a:xfrm>
            <a:off x="4318000" y="5207000"/>
            <a:ext cx="1524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445000" y="53594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4800600" y="5334000"/>
            <a:ext cx="952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风险摘要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红绿灯高亮显示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77000" y="2032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核心操作 · 三步完成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2921000"/>
            <a:ext cx="1524000" cy="2794000"/>
          </a:xfrm>
          <a:prstGeom prst="roundRect">
            <a:avLst>
              <a:gd name="adj" fmla="val 6666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34200" y="3302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6540500" y="4318000"/>
            <a:ext cx="1397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拍照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打开相机，拍摄现场实景。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8064500" y="2921000"/>
            <a:ext cx="1524000" cy="2794000"/>
          </a:xfrm>
          <a:prstGeom prst="roundRect">
            <a:avLst>
              <a:gd name="adj" fmla="val 6666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521700" y="3302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3" name="AutoShape 33"/>
          <p:cNvSpPr/>
          <p:nvPr/>
        </p:nvSpPr>
        <p:spPr>
          <a:xfrm>
            <a:off x="8128000" y="4318000"/>
            <a:ext cx="1397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选择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快速关联地块与农事类型。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9652000" y="2921000"/>
            <a:ext cx="1524000" cy="2794000"/>
          </a:xfrm>
          <a:prstGeom prst="roundRect">
            <a:avLst>
              <a:gd name="adj" fmla="val 6666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109200" y="3302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6" name="AutoShape 36"/>
          <p:cNvSpPr/>
          <p:nvPr/>
        </p:nvSpPr>
        <p:spPr>
          <a:xfrm>
            <a:off x="9715500" y="4318000"/>
            <a:ext cx="1397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提交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确认信息，一键提交同步。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14 / 53   ·   四端协同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972687" y="598551"/>
            <a:ext cx="4217384" cy="5786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</a:rPr>
              <a:t>移动端·界面展示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" y="1728216"/>
            <a:ext cx="2468880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82112" y="1728216"/>
            <a:ext cx="2560320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44183" y="1728216"/>
            <a:ext cx="2606040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19" y="1728216"/>
            <a:ext cx="2514600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4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543" y="1790700"/>
            <a:ext cx="2194812" cy="4749800"/>
          </a:xfrm>
          <a:prstGeom prst="rect">
            <a:avLst/>
          </a:prstGeom>
        </p:spPr>
      </p:pic>
      <p:pic>
        <p:nvPicPr>
          <p:cNvPr id="18" name="Picture 17" descr="image6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643" y="1790700"/>
            <a:ext cx="2194812" cy="4749800"/>
          </a:xfrm>
          <a:prstGeom prst="rect">
            <a:avLst/>
          </a:prstGeom>
        </p:spPr>
      </p:pic>
      <p:pic>
        <p:nvPicPr>
          <p:cNvPr id="19" name="Picture 18" descr="image5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9543" y="1790700"/>
            <a:ext cx="2194812" cy="4749800"/>
          </a:xfrm>
          <a:prstGeom prst="rect">
            <a:avLst/>
          </a:prstGeom>
        </p:spPr>
      </p:pic>
      <p:pic>
        <p:nvPicPr>
          <p:cNvPr id="20" name="Picture 19" descr="image6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19743" y="1790700"/>
            <a:ext cx="2194812" cy="4749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60000" y="685800"/>
            <a:ext cx="1778000" cy="177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15 / 53   ·   四端协同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400" y="6629400"/>
            <a:ext cx="24638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首页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7700" y="6629400"/>
            <a:ext cx="25654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5200" y="6629400"/>
            <a:ext cx="2603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地块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6200" y="6629400"/>
            <a:ext cx="25146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我的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AI助手与H5端：对内赋能，对外营销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6800" y="2032000"/>
            <a:ext cx="4597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AI助手 · 24小时在线智慧顾问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66800" y="27940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1F8E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3048000"/>
            <a:ext cx="558800" cy="558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81200" y="2921000"/>
            <a:ext cx="3429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智能问答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：覆盖苹果种植全周期知识（病虫害防治、施肥管理、果园管理、品种特性），随时随地答疑解惑。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40005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1F8E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4254500"/>
            <a:ext cx="558800" cy="558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81200" y="4127500"/>
            <a:ext cx="3429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图像识别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：支持病害、作物、虫害的快速识别，只需随手一拍，即刻获取诊断与解决方案。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66800" y="5143500"/>
            <a:ext cx="4597400" cy="889000"/>
          </a:xfrm>
          <a:prstGeom prst="roundRect">
            <a:avLst>
              <a:gd name="adj" fmla="val 11428"/>
            </a:avLst>
          </a:prstGeom>
          <a:solidFill>
            <a:srgbClr val="F1F8E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200" y="5308600"/>
            <a:ext cx="558800" cy="558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81200" y="5308600"/>
            <a:ext cx="3429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1212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语音输入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：支持语音提问，解放双手，操作更便捷。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27800" y="2032000"/>
            <a:ext cx="45974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专业知识覆盖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2794000"/>
            <a:ext cx="762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731000" y="2768600"/>
            <a:ext cx="431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病虫害防治：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红蜘蛛、腐烂病、蚜虫、轮纹病、炭疽叶枯病等常见病虫害的识别与防治方案。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27800" y="3746500"/>
            <a:ext cx="762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731000" y="3708400"/>
            <a:ext cx="431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施肥管理：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根据物候期精准匹配基肥、追肥、叶面肥配方，科学指导营养供给。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27800" y="4699000"/>
            <a:ext cx="762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731000" y="4660900"/>
            <a:ext cx="431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果园管理：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提供套袋、疏果、修剪、授粉、灌溉等标准化管理建议。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27800" y="5588000"/>
            <a:ext cx="76200" cy="635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731000" y="5549900"/>
            <a:ext cx="4318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品种特性：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覆盖红富士、嘎啦、乔纳金等主流品种的特性及种植要点。</a:t>
            </a:r>
            <a:endParaRPr lang="en-US" sz="1100"/>
          </a:p>
        </p:txBody>
      </p:sp>
      <p:sp>
        <p:nvSpPr>
          <p:cNvPr id="24" name="TextBox 23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16 / 53   ·   四端协同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972687" y="598551"/>
            <a:ext cx="4217384" cy="5786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i="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</a:rPr>
              <a:t>AI</a:t>
            </a:r>
            <a:r>
              <a:rPr lang="zh-CN" altLang="en-US" sz="3600" b="1" i="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</a:rPr>
              <a:t>助手</a:t>
            </a:r>
            <a:r>
              <a:rPr sz="3600" b="1" i="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</a:rPr>
              <a:t>端·界面展示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400" y="1727200"/>
            <a:ext cx="2463800" cy="487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4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762" y="1803400"/>
            <a:ext cx="2183075" cy="472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187700" y="1727200"/>
            <a:ext cx="2565400" cy="487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4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8862" y="1803400"/>
            <a:ext cx="2183075" cy="4724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45200" y="1727200"/>
            <a:ext cx="2603500" cy="487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5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5412" y="1803400"/>
            <a:ext cx="2183075" cy="4724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966200" y="1727200"/>
            <a:ext cx="2514600" cy="487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5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31962" y="1803400"/>
            <a:ext cx="2183075" cy="472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160000" y="685800"/>
            <a:ext cx="1778000" cy="177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17 / 53   ·   四端协同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400" y="6629400"/>
            <a:ext cx="24638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AI助手主页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7700" y="6629400"/>
            <a:ext cx="25654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病虫害识别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5200" y="6629400"/>
            <a:ext cx="2603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生长预测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6200" y="6629400"/>
            <a:ext cx="25146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产量预测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后台指挥中心 · 运筹帷幄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2500" y="2032000"/>
            <a:ext cx="2349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43000" y="23368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714500" y="2159000"/>
            <a:ext cx="152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组织架构、人员权限管理，构建规范管理体系</a:t>
            </a:r>
          </a:p>
        </p:txBody>
      </p:sp>
      <p:sp>
        <p:nvSpPr>
          <p:cNvPr id="7" name="AutoShape 7"/>
          <p:cNvSpPr/>
          <p:nvPr/>
        </p:nvSpPr>
        <p:spPr>
          <a:xfrm>
            <a:off x="952500" y="3238500"/>
            <a:ext cx="2349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43000" y="35433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714500" y="3365500"/>
            <a:ext cx="152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生产计划编排、任务下发与全流程执行跟踪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52500" y="4445000"/>
            <a:ext cx="2349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43000" y="47498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714500" y="4572000"/>
            <a:ext cx="152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农资管理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采购、入库、库存、领用全流程闭环管理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492500" y="2032000"/>
            <a:ext cx="2349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83000" y="23368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4254500" y="2159000"/>
            <a:ext cx="152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预警中心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集中汇聚风险预警，实现快速响应与处理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492500" y="3238500"/>
            <a:ext cx="2349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683000" y="35433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4254500" y="3365500"/>
            <a:ext cx="152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区块链溯源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一物一码，全链路追溯码生成、管理和查询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492500" y="4445000"/>
            <a:ext cx="23495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683000" y="47498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4254500" y="4572000"/>
            <a:ext cx="152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智能与全景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无人机航线规划、VR全景管理及系统基础设置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gradFill rotWithShape="1">
            <a:gsLst>
              <a:gs pos="0">
                <a:srgbClr val="4CAF50">
                  <a:alpha val="100000"/>
                </a:srgbClr>
              </a:gs>
              <a:gs pos="100000">
                <a:srgbClr val="388E3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23000" y="2032000"/>
            <a:ext cx="5207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模型中心 · 六大智慧引擎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13500" y="2921000"/>
            <a:ext cx="1587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13500" y="2921000"/>
            <a:ext cx="1587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75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生长模型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模拟作物生长周期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优化栽培方案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026400" y="2921000"/>
            <a:ext cx="1587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026400" y="2921000"/>
            <a:ext cx="1587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75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病虫害模型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结合环境数据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提前预警病虫害风险</a:t>
            </a:r>
          </a:p>
        </p:txBody>
      </p:sp>
      <p:sp>
        <p:nvSpPr>
          <p:cNvPr id="28" name="AutoShape 28"/>
          <p:cNvSpPr/>
          <p:nvPr/>
        </p:nvSpPr>
        <p:spPr>
          <a:xfrm>
            <a:off x="9652000" y="2921000"/>
            <a:ext cx="1587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652000" y="2921000"/>
            <a:ext cx="1587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75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产量预估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综合多维因子分析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科学预测果园产量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13500" y="4318000"/>
            <a:ext cx="1587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13500" y="4318000"/>
            <a:ext cx="1587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75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气象分析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实时对接气象数据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指导农事抗灾避灾</a:t>
            </a:r>
          </a:p>
        </p:txBody>
      </p:sp>
      <p:sp>
        <p:nvSpPr>
          <p:cNvPr id="32" name="AutoShape 32"/>
          <p:cNvSpPr/>
          <p:nvPr/>
        </p:nvSpPr>
        <p:spPr>
          <a:xfrm>
            <a:off x="8026400" y="4318000"/>
            <a:ext cx="1587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026400" y="4318000"/>
            <a:ext cx="1587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75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物候期模型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精准识别关键物候期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匹配最佳农事动作</a:t>
            </a:r>
          </a:p>
        </p:txBody>
      </p:sp>
      <p:sp>
        <p:nvSpPr>
          <p:cNvPr id="34" name="AutoShape 34"/>
          <p:cNvSpPr/>
          <p:nvPr/>
        </p:nvSpPr>
        <p:spPr>
          <a:xfrm>
            <a:off x="9652000" y="4318000"/>
            <a:ext cx="1587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9652000" y="4318000"/>
            <a:ext cx="1587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75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市场预测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分析历史交易数据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预判市场价格趋势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18 / 53   ·   四端协同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094321" y="143922"/>
            <a:ext cx="3974115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75" b="1" i="0">
                <a:solidFill>
                  <a:srgbClr val="070707"/>
                </a:solidFill>
                <a:latin typeface="Noto Sans SC" panose="020B0200000000000000" charset="-122"/>
                <a:ea typeface="Noto Sans SC" panose="020B0200000000000000" charset="-122"/>
              </a:rPr>
              <a:t>后台指挥中心·界面展示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400" y="1066800"/>
            <a:ext cx="7518400" cy="469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4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8320" y="1143000"/>
            <a:ext cx="7274559" cy="4546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78800" y="1066800"/>
            <a:ext cx="3606800" cy="226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2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95640" y="1143000"/>
            <a:ext cx="3373119" cy="2108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78800" y="3505200"/>
            <a:ext cx="3606800" cy="226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3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95640" y="3581400"/>
            <a:ext cx="3373119" cy="21082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06400" y="5943600"/>
            <a:ext cx="11379200" cy="5334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后台管理系统首页 · 农事任务 / 设备监控 / 模型预测 / 实时预警 / 采收认养 一站式工作台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19 / 53   ·   四端协同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270000"/>
            <a:ext cx="889000" cy="10160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Noto Sans SC"/>
              </a:rPr>
              <a:t>H5 消费者端：溯源 + 商城 + 云认养社区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71600"/>
            <a:ext cx="10668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SC"/>
              </a:rPr>
              <a:t>连接基地管理与终端消费者，把透明度变成信任背书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905000"/>
            <a:ext cx="2032000" cy="424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992076"/>
            <a:ext cx="1879600" cy="40676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248400"/>
            <a:ext cx="2032000" cy="381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H5 溯源页 · 数字履历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1000" y="1905000"/>
            <a:ext cx="2032000" cy="424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200" y="1992076"/>
            <a:ext cx="1879600" cy="40676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21000" y="6248400"/>
            <a:ext cx="2032000" cy="381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销售商城 · 在线下单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0" y="1905000"/>
            <a:ext cx="2032000" cy="424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5_order_r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6200" y="1992076"/>
            <a:ext cx="1879600" cy="40676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80000" y="6248400"/>
            <a:ext cx="2032000" cy="381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订单闭环 · 支付物流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9000" y="1905000"/>
            <a:ext cx="2032000" cy="424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5_adoption_r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1992076"/>
            <a:ext cx="1879600" cy="40676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9000" y="6248400"/>
            <a:ext cx="2032000" cy="381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云认养 · 认养专属果树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0" y="1905000"/>
            <a:ext cx="2032000" cy="424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4200" y="1992076"/>
            <a:ext cx="1879600" cy="40676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98000" y="6248400"/>
            <a:ext cx="2032000" cy="381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互动社区 · 口碑裂变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20 / 53   ·   四端协同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SC"/>
              </a:rPr>
              <a:t>PART 04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Noto Sans SC"/>
              </a:rPr>
              <a:t>04   智慧大脑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3683000"/>
            <a:ext cx="15240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SC"/>
              </a:rPr>
              <a:t>农业智能模型引擎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21 / 53   ·   智慧大脑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六大农业模型 · 智能决策引擎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2667000"/>
          </a:xfrm>
          <a:prstGeom prst="roundRect">
            <a:avLst>
              <a:gd name="adj" fmla="val 38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89000" y="1651000"/>
          <a:ext cx="10414000" cy="28498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模型名称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核心输入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核心输出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主要用户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生长模型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品种、积温、物候期、土壤水肥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当前物候期、精准农事建议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基地管理者、技术员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气象模型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本地气象站数据、区域气象预报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未来72小时精准预报、极端天气概率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企业管理者、基地管理者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病虫害模型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气象因子、虫情灯数据、历史发病数据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病虫害爆发风险等级、防治建议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基地管理者、植保员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物候期模型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历年观测记录、积温、品种特性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关键农时窗口预测、农时偏差提醒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企业管理者、基地管理者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产量预估模型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坐果率、疏果抽样、历史单产、气象胁迫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分地块预估产量、置信区间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企业管理者、销售部门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市场价格预测模型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历史市场价格、供需政策、季节性因子、期货指数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未来1-6个月价格趋势、最佳销售窗口期建议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企业管理者、销售部门</a:t>
                      </a:r>
                      <a:endParaRPr lang="en-US" sz="1100"/>
                    </a:p>
                  </a:txBody>
                  <a:tcPr marL="101600" marR="101600" marT="101600" marB="101600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E5E7EB"/>
                      </a:solidFill>
                    </a:lnB>
                    <a:solidFill>
                      <a:srgbClr val="F7F8F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572000"/>
            <a:ext cx="3302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82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4762500"/>
            <a:ext cx="228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70%+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5588000"/>
            <a:ext cx="292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农事建议准确率提升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4572000"/>
            <a:ext cx="3302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482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4762500"/>
            <a:ext cx="228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24小时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5588000"/>
            <a:ext cx="292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病虫害预警提前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4572000"/>
            <a:ext cx="3302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500" y="482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4762500"/>
            <a:ext cx="228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±8%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5588000"/>
            <a:ext cx="292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产量预估误差控制在以内</a:t>
            </a:r>
            <a:endParaRPr lang="en-US" sz="1100"/>
          </a:p>
        </p:txBody>
      </p:sp>
      <p:sp>
        <p:nvSpPr>
          <p:cNvPr id="17" name="TextBox 1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22 / 53   ·   智慧大脑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93115" y="355187"/>
            <a:ext cx="5093684" cy="5143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</a:rPr>
              <a:t>六大农业模型·界面展示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400" y="11430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3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8319" y="1219200"/>
            <a:ext cx="3413760" cy="2133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400" y="3467100"/>
            <a:ext cx="36576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模型配置与开关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200" y="11430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9120" y="1219200"/>
            <a:ext cx="3413760" cy="2133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67200" y="3467100"/>
            <a:ext cx="36576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模型运行监控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0" y="11430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3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38282" y="1219200"/>
            <a:ext cx="3437035" cy="2133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28000" y="3467100"/>
            <a:ext cx="36576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病虫害风险地图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400" y="38100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36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6682" y="3886200"/>
            <a:ext cx="3437035" cy="2133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6400" y="6134100"/>
            <a:ext cx="36576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价格走势预测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7200" y="38100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9120" y="3886200"/>
            <a:ext cx="3413760" cy="2133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267200" y="6134100"/>
            <a:ext cx="36576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基地数据采集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8000" y="38100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49920" y="3886200"/>
            <a:ext cx="3413760" cy="2133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128000" y="6134100"/>
            <a:ext cx="36576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模型性能监控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23 / 53   ·   智慧大脑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生长 &amp; 物候期模型：精准判断生长阶段，不错过每个农时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▍生长模型：精准判断，科学指导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2921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857500"/>
            <a:ext cx="361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▌核心原理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通过实时监测积温、水肥等关键环境数据，结合不同苹果品种的生物学特性，利用算法精准判断果树所处的具体生长阶段（如萌芽期、花期、膨大期等）。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4445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4699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05000" y="4635500"/>
            <a:ext cx="361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▌农事应用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自动生成农事建议看板，例如“当前95%地块进入膨大期，建议本周完成追肥”。通过对比实际与理论积温曲线，智能识别并预警生长是否超前或滞后。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▍物候期模型：预测窗口，把握农时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667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FFF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2921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66000" y="2857500"/>
            <a:ext cx="361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▌预测逻辑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基于果园多年的历史物候观测数据与实时积温数据，建立预测模型，精准推算未来关键物候期（如开花、套袋、采收）的精确时间窗口。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477000" y="4445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FFF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699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66000" y="4635500"/>
            <a:ext cx="361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▌决策支持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在时间轴上直观展示各物候期起止时间，并提前预警潜在的农时偏差风险，确保各项农事活动（如施肥、灌溉、采摘）都能锁定并在最佳窗口期内完成。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24 / 53   ·   智慧大脑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气象 &amp; 病虫害模型：72小时精准预警，将风险化解于未然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️ 气象模型：精准预报，专属指数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0F9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2794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模型原理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融合本地气象站、雷达与国家级气象数据，打破传统预报局限，提供更贴合果园的本地化、分钟级精准天气预报。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4254500"/>
            <a:ext cx="4699000" cy="1778000"/>
          </a:xfrm>
          <a:prstGeom prst="roundRect">
            <a:avLst>
              <a:gd name="adj" fmla="val 5714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4381500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核心应用价值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实时展示逐小时温度/降水变化曲线，对霜冻、冰雹等极端天气提供倒计时预警。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智能生成“苹果专属气象指数”，量化锈病发生概率、裂果风险等关键指标。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病虫害模型：风险预测，精准防治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2794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综合预测逻辑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结合实时气象条件、田间虫情监测站数据与历史发病记录，利用AI算法预测未来病虫害的发生与扩散风险。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477000" y="4254500"/>
            <a:ext cx="4699000" cy="1778000"/>
          </a:xfrm>
          <a:prstGeom prst="roundRect">
            <a:avLst>
              <a:gd name="adj" fmla="val 5714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4381500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落地应用场景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在GIS地图生成“红黄绿”三色地块级风险热力图，让风险分布一目了然。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自动生成针对性防治建议卡片，包含最佳施药窗口期与推荐药剂组合。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25 / 53   ·   智慧大脑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产量 &amp; 市场价格模型：以销定产，把握最佳销售窗口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产量预估模型：精准预测，指导销售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94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730500"/>
            <a:ext cx="3937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模型原理：多源数据融合预测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整合前期坐果率调查、中期果径测量及历年产量数据，结合历史模型算法，实现对分地块、分等级苹果产量的精准量化预测。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445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4381500"/>
            <a:ext cx="3937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应用价值：赋能销售计划制定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以可视化的仪表盘与对比图表展示预估结果，误差率严格控制在</a:t>
            </a:r>
            <a:r>
              <a:rPr lang="en-US" sz="1200" b="1" i="0" u="none" strike="noStrike">
                <a:solidFill>
                  <a:srgbClr val="D32F2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±8%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的置信区间内，帮助销售团队提前锁定客户，科学制定分级销售与定价策略。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905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96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市场价格模型：预测走势，实现增值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794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2730500"/>
            <a:ext cx="3937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模型原理：机器学习动态推演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基于海量历史价格数据，融合实时市场供需、库存水平及宏观经济等多维因子，利用机器学习算法构建模型，动态推演未来市场价格变化趋势。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445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4381500"/>
            <a:ext cx="3937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应用价值：精准锁定最佳卖点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输出未来6个月的价格预测曲线并与历史同期对比，系统自动计算并推荐</a:t>
            </a:r>
            <a:r>
              <a:rPr lang="en-US" sz="1200" b="1" i="0" u="none" strike="noStrike">
                <a:solidFill>
                  <a:srgbClr val="FF9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最佳销售时机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，避免盲目跟风，最大化每一批次苹果的销售利润。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26 / 53   ·   智慧大脑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数据验证：模型驱动的显著改善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254000" cy="25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33500" y="1803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农事建议准确率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模型提供建议被一线验证为有效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高达 70%+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841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16500" y="1803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风险预警提前时间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286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为灾害应对争取宝贵缓冲时间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2794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平均提前 24小时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500" y="1841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99500" y="1803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产量预估误差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2286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预测精度达到行业领先水平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2794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控制在 ±8%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556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7465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33500" y="3708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化肥农药使用减量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4191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精准施肥用药，减少农资浪费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4699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 15%+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45000" y="3556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37465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016500" y="3708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特级果率提升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635500" y="4191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全流程精细化管理，品质跃升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35500" y="4699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 8%+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3556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37465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699500" y="3708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案例：陕西洛川某大型基地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318500" y="4191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精准预警与防治病虫害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318500" y="4699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病虫害损失降低 20%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" y="520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359400"/>
            <a:ext cx="228600" cy="228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270000" y="5334000"/>
            <a:ext cx="2667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案例：山东烟台某合作社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52500" y="5715000"/>
            <a:ext cx="292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气象模型预警霜冻风险并采取措施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霜冻损失降低 30%</a:t>
            </a:r>
          </a:p>
        </p:txBody>
      </p:sp>
      <p:sp>
        <p:nvSpPr>
          <p:cNvPr id="37" name="AutoShape 37"/>
          <p:cNvSpPr/>
          <p:nvPr/>
        </p:nvSpPr>
        <p:spPr>
          <a:xfrm>
            <a:off x="4445000" y="520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5359400"/>
            <a:ext cx="228600" cy="2286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4953000" y="5334000"/>
            <a:ext cx="2667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综合成效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4635500" y="5715000"/>
            <a:ext cx="292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降本增效与品质提升并行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全面提升果园综合收益</a:t>
            </a:r>
          </a:p>
        </p:txBody>
      </p:sp>
      <p:sp>
        <p:nvSpPr>
          <p:cNvPr id="41" name="AutoShape 41"/>
          <p:cNvSpPr/>
          <p:nvPr/>
        </p:nvSpPr>
        <p:spPr>
          <a:xfrm>
            <a:off x="8128000" y="520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18500" y="5359400"/>
            <a:ext cx="228600" cy="2286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8636000" y="5334000"/>
            <a:ext cx="2667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客户价值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318500" y="5715000"/>
            <a:ext cx="292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从经验管理向数据化精准管理转型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实现可持续发展目标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27 / 53   ·   智慧大脑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270000"/>
            <a:ext cx="889000" cy="10160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Noto Sans SC"/>
              </a:rPr>
              <a:t>模型工程化与运行治理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71600"/>
            <a:ext cx="10668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SC"/>
              </a:rPr>
              <a:t>从模型上线到持续运营，保障预测能力稳定可靠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42545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5778500"/>
            <a:ext cx="23876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SC"/>
              </a:rPr>
              <a:t>运行治理 · 版本迭代与效果评估（8.5）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500" y="42545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5700" y="5778500"/>
            <a:ext cx="23876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SC"/>
              </a:rPr>
              <a:t>业务指标 · 模型驱动的经营分析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7000" y="42545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5778500"/>
            <a:ext cx="23876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SC"/>
              </a:rPr>
              <a:t>报表中心 · 周期性运行报告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36542"/>
            <a:ext cx="2231136" cy="139446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4336542"/>
            <a:ext cx="2231136" cy="139446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336542"/>
            <a:ext cx="2231136" cy="13944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28 / 53   ·   智慧大脑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1714500"/>
            <a:ext cx="5207000" cy="2349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460" y="1816100"/>
            <a:ext cx="3434079" cy="2146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2800" y="3835400"/>
            <a:ext cx="510540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模型监控看板 · 准确率 / 调用量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3000" y="1714500"/>
            <a:ext cx="5207000" cy="2349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59" y="1816100"/>
            <a:ext cx="3434079" cy="2146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73800" y="3835400"/>
            <a:ext cx="510540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运行治理 · 版本迭代与效果评估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SC"/>
              </a:rPr>
              <a:t>PART 05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Noto Sans SC"/>
              </a:rPr>
              <a:t>05   核心能力深挖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3683000"/>
            <a:ext cx="15240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SC"/>
              </a:rPr>
              <a:t>装备 · 溯源 · 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29 / 53   ·   核心能力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区块链溯源 &amp; VR全景：科技赋能品牌，让每颗苹果都有“数字身份证”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三大核心价值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70000" y="3048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032000" y="2921000"/>
            <a:ext cx="342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品牌溢价 · 提升购买意愿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建立透明信任关系，让消费者愿意为可追溯、高品质的农产品支付更高的价格。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70000" y="4191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2032000" y="4064000"/>
            <a:ext cx="342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政策合规 · 紧跟监管步伐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完善的溯源体系，轻松满足国家对农产品质量安全与全程追溯的要求。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5080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70000" y="5334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2032000" y="5207000"/>
            <a:ext cx="342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营销素材 · 丰富品牌内涵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将真实的种植过程转化为可视化的营销素材，打造透明化、有温度的品牌形象。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223000" y="1778000"/>
            <a:ext cx="5207000" cy="762000"/>
          </a:xfrm>
          <a:prstGeom prst="roundRect">
            <a:avLst>
              <a:gd name="adj" fmla="val 2000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23000" y="1905000"/>
            <a:ext cx="5207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📱 消费者扫码 · 产品数字履历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794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67500" y="298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7112000" y="2984500"/>
            <a:ext cx="152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产品档案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67500" y="3556000"/>
            <a:ext cx="203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品种：优选红富士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产地：生态果园核心产区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采收：当日鲜采，产地直发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953500" y="2794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144000" y="298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9588500" y="2984500"/>
            <a:ext cx="152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区块链存证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144000" y="3556000"/>
            <a:ext cx="203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所有关键节点与质检数据均已上链，确保数据真实、不可篡改。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4572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667500" y="4762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7112000" y="4762500"/>
            <a:ext cx="152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全流程种植日志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67500" y="5334000"/>
            <a:ext cx="2032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春季修剪 → 疏花疏果 → 套袋保护 → 成熟期采摘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953500" y="4572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144000" y="4762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9588500" y="4762500"/>
            <a:ext cx="152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权威质检报告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144000" y="5334000"/>
            <a:ext cx="2032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农残检测：通过300+项严苛检测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糖度等级：糖度16°+，脆甜多汁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30 / 53   ·   核心能力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54247" y="443960"/>
            <a:ext cx="8411337" cy="64293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</a:rPr>
              <a:t>区块链溯源&amp;VR全景·界面展示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400" y="1219200"/>
            <a:ext cx="2235200" cy="467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6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2600" y="1302303"/>
            <a:ext cx="2082800" cy="45073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6400" y="5969000"/>
            <a:ext cx="223520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VR全景漫游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9400" y="1219200"/>
            <a:ext cx="2235200" cy="467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69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895600" y="1302303"/>
            <a:ext cx="2082800" cy="45073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19400" y="5969000"/>
            <a:ext cx="223520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消费者扫码溯源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32400" y="1219200"/>
            <a:ext cx="2235200" cy="4673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08600" y="1302303"/>
            <a:ext cx="2082800" cy="45073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2400" y="5969000"/>
            <a:ext cx="223520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产品数字履历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74000" y="1219200"/>
            <a:ext cx="3911600" cy="243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0" y="1295400"/>
            <a:ext cx="3657600" cy="2286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74000" y="3695700"/>
            <a:ext cx="39116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溯源管理后台 · 区块链批次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74000" y="4000500"/>
            <a:ext cx="3911600" cy="2438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0" y="4076700"/>
            <a:ext cx="3657600" cy="228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874000" y="6477000"/>
            <a:ext cx="39116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区块链证书管理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0000" y="685800"/>
            <a:ext cx="1778000" cy="177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31 / 53   ·   核心能力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无人机巡园：高空AI巡检，效率提升80%+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651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00" y="1841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1803400"/>
            <a:ext cx="177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PC规划路径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5500" y="2413000"/>
            <a:ext cx="2159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在电脑端后台，灵活规划无人机的自动巡检航线，支持自定义覆盖区域。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29000" y="1651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1841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064000" y="1803400"/>
            <a:ext cx="177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无人机自动执行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19500" y="2413000"/>
            <a:ext cx="2159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无人机按照预设航线精准起飞、自主完成全园巡检任务，最后自动返航降落。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1841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1803400"/>
            <a:ext cx="177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AI识别异常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2413000"/>
            <a:ext cx="2159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云端AI视觉模型自动分析图像，快速识别缺苗、作物倒伏、病害斑块等异常。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017000" y="1651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500" y="1841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652000" y="1803400"/>
            <a:ext cx="177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推送至移动端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207500" y="2413000"/>
            <a:ext cx="2159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识别到的异常信息实时以告警形式，精准推送到管理者的手机端，及时响应。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" y="3810000"/>
            <a:ext cx="355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" y="4127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4000500"/>
            <a:ext cx="266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巡园覆盖率 100%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打破地形限制，实现全园无死角、无遗漏的完整覆盖，消除盲区。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4318000" y="3810000"/>
            <a:ext cx="355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8500" y="41275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080000" y="4000500"/>
            <a:ext cx="266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异常发现效率 ↑80%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AI算法相比人工肉眼巡查，识别速度更快、准确率更高，大幅降低漏判率。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001000" y="3810000"/>
            <a:ext cx="355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41275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763000" y="4000500"/>
            <a:ext cx="266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时间成本 ↓60%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替代传统人工徒步巡园方式，极大地释放人力资源，节省时间成本。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762000" y="5397500"/>
            <a:ext cx="10668000" cy="1143000"/>
          </a:xfrm>
          <a:prstGeom prst="roundRect">
            <a:avLst>
              <a:gd name="adj" fmla="val 17777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52500" y="5524500"/>
            <a:ext cx="1028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预期成效：陕西洛川一个3000亩的大型基地，采用无人机巡园后，每周的巡园时间从原来的</a:t>
            </a:r>
            <a:r>
              <a:rPr lang="en-US" sz="1800" b="1" i="0" u="none" strike="noStrike">
                <a:solidFill>
                  <a:srgbClr val="FDE0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3天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大幅缩短至</a:t>
            </a:r>
            <a:r>
              <a:rPr lang="en-US" sz="2200" b="1" i="0" u="none" strike="noStrike">
                <a:solidFill>
                  <a:srgbClr val="FDE0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4小时</a:t>
            </a:r>
            <a:endParaRPr lang="en-US" sz="1100"/>
          </a:p>
        </p:txBody>
      </p:sp>
      <p:sp>
        <p:nvSpPr>
          <p:cNvPr id="30" name="TextBox 29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32 / 53   ·   核心能力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975544" y="693420"/>
            <a:ext cx="4182237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</a:rPr>
              <a:t>无人机巡园·界面展示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7" y="1426463"/>
            <a:ext cx="3749039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1549400"/>
            <a:ext cx="3365500" cy="189309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19288" y="1426463"/>
            <a:ext cx="3657600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c_data_collecti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04200" y="1549400"/>
            <a:ext cx="3276600" cy="18430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352544" y="1426463"/>
            <a:ext cx="3648456" cy="2660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c_task_assig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6600" y="1549400"/>
            <a:ext cx="3263900" cy="1835943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66927" y="4064000"/>
            <a:ext cx="3749039" cy="248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c_alert_overvie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191000"/>
            <a:ext cx="3365500" cy="1893093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343400" y="4064000"/>
            <a:ext cx="3648456" cy="248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c_harvest_stor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3900" y="4191000"/>
            <a:ext cx="3263900" cy="1835943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019288" y="4064000"/>
            <a:ext cx="3648456" cy="248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33 / 53   ·   核心能力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04200" y="4191000"/>
            <a:ext cx="3263900" cy="183594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3100" y="3403600"/>
            <a:ext cx="35433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无人机巡园实时画面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7700" y="3403600"/>
            <a:ext cx="34417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任务派发与排程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5300" y="3403600"/>
            <a:ext cx="34544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基地数据采集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100" y="6045200"/>
            <a:ext cx="35433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IoT 设备监控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5000" y="6045200"/>
            <a:ext cx="34417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预警总览与处置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5300" y="6045200"/>
            <a:ext cx="34417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生长监测模型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核心业务闭环：农事管理，拒绝数据孤岛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从计划到执行的闭环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984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921000"/>
            <a:ext cx="17780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电脑端编排计划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管理者基于物候期模型和模板，轻松编排农事生产计划。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492500" y="2794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2984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064000" y="2921000"/>
            <a:ext cx="17780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移动端执行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计划自动下发到一线APP，员工通过“拍照即记录”轻松完成执行。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4572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4762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87500" y="4699000"/>
            <a:ext cx="17780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报表自动生成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所有执行数据自动汇总，系统自动生成各类统计报表和分析图表。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492500" y="4572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9500" y="4762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064000" y="4699000"/>
            <a:ext cx="17780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优化计划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管理者基于报表分析结果，优化下一轮的生产计划，形成持续改进的闭环。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7000" y="2032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关键功能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794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2984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2921000"/>
            <a:ext cx="1587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生产计划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甘特图可视化编排，让生产进度一目了然。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017000" y="2794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984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652000" y="2921000"/>
            <a:ext cx="1587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农事记录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拍照记录，简单高效，还原生产现场真实情况。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477000" y="4572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4762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12000" y="4699000"/>
            <a:ext cx="1587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日常巡园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GPS打卡，轨迹回放，确保巡园工作落实到位。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9017000" y="4572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0" y="47625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652000" y="4699000"/>
            <a:ext cx="1587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采收管理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产量数据精准记录，实现生产成果的数字化管理。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34 / 53   ·   核心能力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270000"/>
            <a:ext cx="889000" cy="10160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Noto Sans SC"/>
              </a:rPr>
              <a:t>区块链溯源技术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71600"/>
            <a:ext cx="10668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SC"/>
              </a:rPr>
              <a:t>联盟链上链存证，构建不可篡改的数字农业信任体系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42545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5778500"/>
            <a:ext cx="23876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SC"/>
              </a:rPr>
              <a:t>上链发证 · 一物一码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500" y="42545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5700" y="5778500"/>
            <a:ext cx="23876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SC"/>
              </a:rPr>
              <a:t>证书管理 · 批次溯源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7000" y="42545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5778500"/>
            <a:ext cx="23876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SC"/>
              </a:rPr>
              <a:t>批次追溯 · 全链路记录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4254500"/>
            <a:ext cx="2540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0700" y="5778500"/>
            <a:ext cx="23876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oto Sans SC"/>
              </a:rPr>
              <a:t>溯源统计 · 不可篡改存证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36542"/>
            <a:ext cx="2231136" cy="139446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4336542"/>
            <a:ext cx="2231136" cy="139446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336542"/>
            <a:ext cx="2231136" cy="139446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4336542"/>
            <a:ext cx="2231136" cy="13944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35 / 53   ·   核心能力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1714500"/>
            <a:ext cx="5207000" cy="2349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460" y="1816100"/>
            <a:ext cx="3434079" cy="2146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12800" y="3835400"/>
            <a:ext cx="510540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联盟链存证流程 · 关键节点哈希上链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3000" y="1714500"/>
            <a:ext cx="5207000" cy="2349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59" y="1816100"/>
            <a:ext cx="3434079" cy="2146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273800" y="3835400"/>
            <a:ext cx="510540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一物一码 · 区块链证书管理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SC"/>
              </a:rPr>
              <a:t>PART 06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Noto Sans SC"/>
              </a:rPr>
              <a:t>06   业务闭环总览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3683000"/>
            <a:ext cx="15240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SC"/>
              </a:rPr>
              <a:t>四大数字化闭环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36 / 53   ·   业务闭环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独家优势：农资全链路管理，库存准确率升至95%+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71500" y="2159000"/>
            <a:ext cx="158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采购申请</a:t>
            </a:r>
            <a:endParaRPr lang="en-US" sz="1100"/>
          </a:p>
          <a:p>
            <a:pPr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在线提交申请</a:t>
            </a:r>
          </a:p>
        </p:txBody>
      </p:sp>
      <p:sp>
        <p:nvSpPr>
          <p:cNvPr id="6" name="AutoShape 6"/>
          <p:cNvSpPr/>
          <p:nvPr/>
        </p:nvSpPr>
        <p:spPr>
          <a:xfrm>
            <a:off x="2413000" y="1524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0" y="1651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476500" y="2159000"/>
            <a:ext cx="158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审批</a:t>
            </a:r>
            <a:endParaRPr lang="en-US" sz="1100"/>
          </a:p>
          <a:p>
            <a:pPr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移动端或PC端审批</a:t>
            </a:r>
          </a:p>
        </p:txBody>
      </p:sp>
      <p:sp>
        <p:nvSpPr>
          <p:cNvPr id="9" name="AutoShape 9"/>
          <p:cNvSpPr/>
          <p:nvPr/>
        </p:nvSpPr>
        <p:spPr>
          <a:xfrm>
            <a:off x="4318000" y="1524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651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381500" y="2159000"/>
            <a:ext cx="158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入库</a:t>
            </a:r>
            <a:endParaRPr lang="en-US" sz="1100"/>
          </a:p>
          <a:p>
            <a:pPr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扫码或手动录入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524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FEF3C7">
              <a:alpha val="10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1651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286500" y="2159000"/>
            <a:ext cx="158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库存预警</a:t>
            </a:r>
            <a:endParaRPr lang="en-US" sz="1100"/>
          </a:p>
          <a:p>
            <a:pPr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B4530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系统自动三色预警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1524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3000" y="1651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191500" y="2159000"/>
            <a:ext cx="158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领用</a:t>
            </a:r>
            <a:endParaRPr lang="en-US" sz="1100"/>
          </a:p>
          <a:p>
            <a:pPr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在线申请，确认出库</a:t>
            </a:r>
          </a:p>
        </p:txBody>
      </p:sp>
      <p:sp>
        <p:nvSpPr>
          <p:cNvPr id="18" name="AutoShape 18"/>
          <p:cNvSpPr/>
          <p:nvPr/>
        </p:nvSpPr>
        <p:spPr>
          <a:xfrm>
            <a:off x="9969500" y="1524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04500" y="1651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0033000" y="2159000"/>
            <a:ext cx="158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使用记录</a:t>
            </a:r>
            <a:endParaRPr lang="en-US" sz="1100"/>
          </a:p>
          <a:p>
            <a:pPr indent="0" algn="ctr">
              <a:lnSpc>
                <a:spcPct val="92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关联农事与地块</a:t>
            </a:r>
          </a:p>
        </p:txBody>
      </p:sp>
      <p:sp>
        <p:nvSpPr>
          <p:cNvPr id="21" name="AutoShape 21"/>
          <p:cNvSpPr/>
          <p:nvPr/>
        </p:nvSpPr>
        <p:spPr>
          <a:xfrm>
            <a:off x="508000" y="3302000"/>
            <a:ext cx="20828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" y="3492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016000" y="3454400"/>
            <a:ext cx="1460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农资信息管理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" y="4064000"/>
            <a:ext cx="18288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对所有农资进行分类管理，设定安全库存水位线，保障供应。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768600" y="3302000"/>
            <a:ext cx="20828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95600" y="3492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3276600" y="3454400"/>
            <a:ext cx="1460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采购管理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895600" y="4064000"/>
            <a:ext cx="18288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支持采购申请、审批流转到最终入库的全程线上化，透明可追溯。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29200" y="3302000"/>
            <a:ext cx="20828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56200" y="3492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5537200" y="3454400"/>
            <a:ext cx="1460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使用记录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156200" y="4064000"/>
            <a:ext cx="18288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每一笔农资领用都关联具体地块和农事任务，清晰记录使用情况。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289800" y="3302000"/>
            <a:ext cx="20828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16800" y="34925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797800" y="3454400"/>
            <a:ext cx="1460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库存管理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416800" y="4064000"/>
            <a:ext cx="18288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支持多仓库实时库存查询，库存不足时自动触发红/黄/绿三色预警。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550400" y="3302000"/>
            <a:ext cx="20828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77400" y="3492500"/>
            <a:ext cx="304800" cy="3048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10058400" y="3454400"/>
            <a:ext cx="1460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退货管理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677400" y="4064000"/>
            <a:ext cx="18288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对于质量不合格或闲置的农资，支持在线发起退货流程，规范处理。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08000" y="5461000"/>
            <a:ext cx="11176000" cy="1143000"/>
          </a:xfrm>
          <a:prstGeom prst="roundRect">
            <a:avLst>
              <a:gd name="adj" fmla="val 13333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762000" y="5651500"/>
            <a:ext cx="508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预期成效：库存准确率大幅提升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5842000" y="5588000"/>
            <a:ext cx="558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行业平均 60% ➔</a:t>
            </a:r>
            <a:r>
              <a:rPr lang="en-US" sz="36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95% +</a:t>
            </a:r>
            <a:endParaRPr lang="en-US" sz="1100"/>
          </a:p>
        </p:txBody>
      </p:sp>
      <p:sp>
        <p:nvSpPr>
          <p:cNvPr id="44" name="TextBox 43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37 / 53   ·   业务闭环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设备管理：7类智能设备，统一监控与运维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全品类设备接入支持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52500" y="2667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9500" y="2984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587500" y="2857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气象站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环境监测</a:t>
            </a:r>
          </a:p>
        </p:txBody>
      </p:sp>
      <p:sp>
        <p:nvSpPr>
          <p:cNvPr id="8" name="AutoShape 8"/>
          <p:cNvSpPr/>
          <p:nvPr/>
        </p:nvSpPr>
        <p:spPr>
          <a:xfrm>
            <a:off x="2603500" y="2667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730500" y="2984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3238500" y="2857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土壤传感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墒情检测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254500" y="2667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381500" y="2984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4889500" y="2857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虫情测报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虫害预警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52500" y="3937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79500" y="4254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587500" y="4127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监控设备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视频安防</a:t>
            </a:r>
          </a:p>
        </p:txBody>
      </p:sp>
      <p:sp>
        <p:nvSpPr>
          <p:cNvPr id="17" name="AutoShape 17"/>
          <p:cNvSpPr/>
          <p:nvPr/>
        </p:nvSpPr>
        <p:spPr>
          <a:xfrm>
            <a:off x="2603500" y="3937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730500" y="4254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3238500" y="4127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水肥一体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生产控制</a:t>
            </a:r>
          </a:p>
        </p:txBody>
      </p:sp>
      <p:sp>
        <p:nvSpPr>
          <p:cNvPr id="20" name="AutoShape 20"/>
          <p:cNvSpPr/>
          <p:nvPr/>
        </p:nvSpPr>
        <p:spPr>
          <a:xfrm>
            <a:off x="4254500" y="3937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381500" y="4254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4889500" y="4127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工控设备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自动化控制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032000" y="5207000"/>
            <a:ext cx="2921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286000" y="54102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2921000" y="5372100"/>
            <a:ext cx="1778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无人机设备：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大面积巡检与测绘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77000" y="2032000"/>
            <a:ext cx="4699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设备管理核心功能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2794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31000" y="3111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7493000" y="2984500"/>
            <a:ext cx="355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设备工控管理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远程控制设备启停，实时监控设备运行状态与异常告警。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6477000" y="4064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731000" y="4381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3" name="AutoShape 33"/>
          <p:cNvSpPr/>
          <p:nvPr/>
        </p:nvSpPr>
        <p:spPr>
          <a:xfrm>
            <a:off x="7493000" y="4254500"/>
            <a:ext cx="355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全生命周期档案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集中管理设备基础档案、安装位置、维护保养及维修记录。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6477000" y="5207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731000" y="5524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6" name="AutoShape 36"/>
          <p:cNvSpPr/>
          <p:nvPr/>
        </p:nvSpPr>
        <p:spPr>
          <a:xfrm>
            <a:off x="7493000" y="5397500"/>
            <a:ext cx="355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多源数据实时接入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兼容主流IoT协议，统一汇聚、清洗并可视化展示所有监测设备的实时数据。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38 / 53   ·   业务闭环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668682" y="331374"/>
            <a:ext cx="6159055" cy="73942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70707"/>
                </a:solidFill>
                <a:latin typeface="Noto Sans SC" panose="020B0200000000000000" charset="-122"/>
                <a:ea typeface="Noto Sans SC" panose="020B0200000000000000" charset="-122"/>
              </a:rPr>
              <a:t>设备管理·界面展示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" y="1490472"/>
            <a:ext cx="3694176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c_task_assig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400" y="1587500"/>
            <a:ext cx="3340100" cy="1879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370831" y="1490472"/>
            <a:ext cx="3694176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c_data_collec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6600" y="1587500"/>
            <a:ext cx="3340100" cy="18796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257031" y="1490472"/>
            <a:ext cx="3694176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2800" y="1587500"/>
            <a:ext cx="3340100" cy="18796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84632" y="3822191"/>
            <a:ext cx="3694176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c_alert_overvie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400" y="3924300"/>
            <a:ext cx="3340100" cy="18796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370831" y="3822191"/>
            <a:ext cx="3694176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c_harvest_stor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6600" y="3924300"/>
            <a:ext cx="3340100" cy="18796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257031" y="3822191"/>
            <a:ext cx="3694176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2800" y="3924300"/>
            <a:ext cx="3340100" cy="1879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160000" y="685800"/>
            <a:ext cx="1778000" cy="177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39 / 53   ·   业务闭环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543300"/>
            <a:ext cx="3492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任务派发与排程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0400" y="3543300"/>
            <a:ext cx="3492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基地数据采集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6600" y="3543300"/>
            <a:ext cx="3492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模型性能监控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5880100"/>
            <a:ext cx="3492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预警总览与处置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0400" y="5880100"/>
            <a:ext cx="3492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采收与仓储管理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6600" y="5880100"/>
            <a:ext cx="3492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报表中心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趣味营销：云认养 · 提前锁定销售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796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果树认养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667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消费者在线挑选并认养专属果树，支付认养费用建立绑定关系。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84500" y="1651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0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683000" y="18796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成长直播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11500" y="2667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通过照片、视频或实时摄像头，让认养者随时查看果树生长状态。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07000" y="1651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7500" y="190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905500" y="18796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农事互动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2667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认养者可远程参与浇水、施肥等趣味互动，体验真实的田园生活。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29500" y="1651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0" y="190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128000" y="18796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认养证书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556500" y="2667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生成独一无二的数字认养证书，方便用户分享到社交平台进行传播。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652000" y="1651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2500" y="1905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0350500" y="18796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果实交付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779000" y="2667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果实成熟后，按约定直接将生态果实或定制礼盒寄送到家。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191000"/>
            <a:ext cx="33782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52500" y="44450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提前锁定销售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52500" y="5207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在果实生长初期即完成销售闭环，帮助农场快速回笼现金流，降低市场波动风险。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406900" y="4191000"/>
            <a:ext cx="33782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4597400" y="44450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增强用户粘性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597400" y="5207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从单纯的买卖关系转变为情感连接，通过高频互动实现用户留存与口碑裂变。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051800" y="4191000"/>
            <a:ext cx="33782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242300" y="4381500"/>
            <a:ext cx="2997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提升品牌溢价</a:t>
            </a:r>
            <a:r>
              <a:rPr lang="en-US" sz="2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30%-50%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242300" y="5207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认养模式赋予农产品稀缺性与情感价值，使其脱离单纯价格竞争，获得更高的利润空间。</a:t>
            </a:r>
            <a:endParaRPr lang="en-US" sz="1100"/>
          </a:p>
        </p:txBody>
      </p:sp>
      <p:sp>
        <p:nvSpPr>
          <p:cNvPr id="33" name="TextBox 32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40 / 53   ·   业务闭环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4561713" y="326040"/>
            <a:ext cx="3156394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75" b="1" i="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</a:rPr>
              <a:t>云认养·界面展示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1490472"/>
            <a:ext cx="3694176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c_adoption_tre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400" y="1587500"/>
            <a:ext cx="3340100" cy="18796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370831" y="1490472"/>
            <a:ext cx="3694176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c_adoption_ord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6600" y="1587500"/>
            <a:ext cx="3340100" cy="18796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57031" y="1490472"/>
            <a:ext cx="3694176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c_adoption_ce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2800" y="1587500"/>
            <a:ext cx="3340100" cy="1879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60000" y="685800"/>
            <a:ext cx="1778000" cy="177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41 / 53   ·   业务闭环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43050" y="3822700"/>
            <a:ext cx="1574800" cy="2324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40431" y="3924300"/>
            <a:ext cx="980036" cy="21209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14450" y="6197600"/>
            <a:ext cx="20320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H5 云认养页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29250" y="3822700"/>
            <a:ext cx="1574800" cy="2324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6631" y="3924300"/>
            <a:ext cx="980036" cy="21209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200650" y="6197600"/>
            <a:ext cx="20320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移动端 · 认养管理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15450" y="3822700"/>
            <a:ext cx="1574800" cy="2324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12831" y="3924300"/>
            <a:ext cx="980036" cy="21209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086850" y="6197600"/>
            <a:ext cx="2032000" cy="177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认养详情 · 可采收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543300"/>
            <a:ext cx="3492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认养果树档案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0400" y="3543300"/>
            <a:ext cx="3492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认养订单管理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6600" y="3543300"/>
            <a:ext cx="3492500" cy="20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电子认养证书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270000"/>
            <a:ext cx="889000" cy="10160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Noto Sans SC"/>
              </a:rPr>
              <a:t>四大业务闭环总览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71600"/>
            <a:ext cx="10668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SC"/>
              </a:rPr>
              <a:t>从种植到消费，全流程数字化闭环（白皮书 十二）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778000"/>
            <a:ext cx="5207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454400"/>
            <a:ext cx="5003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Noto Sans SC"/>
              </a:rPr>
              <a:t>生产管理闭环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778000"/>
            <a:ext cx="5207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600" y="3454400"/>
            <a:ext cx="5003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Noto Sans SC"/>
              </a:rPr>
              <a:t>云认养闭环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4000500"/>
            <a:ext cx="5207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5676900"/>
            <a:ext cx="5003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Noto Sans SC"/>
              </a:rPr>
              <a:t>IoT 预警闭环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000" y="4000500"/>
            <a:ext cx="52070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600" y="5676900"/>
            <a:ext cx="5003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Noto Sans SC"/>
              </a:rPr>
              <a:t>移动作业闭环</a:t>
            </a:r>
          </a:p>
        </p:txBody>
      </p:sp>
      <p:pic>
        <p:nvPicPr>
          <p:cNvPr id="18" name="Picture 17" descr="pc_task_as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925" y="1883664"/>
            <a:ext cx="2443276" cy="1527048"/>
          </a:xfrm>
          <a:prstGeom prst="rect">
            <a:avLst/>
          </a:prstGeom>
        </p:spPr>
      </p:pic>
      <p:pic>
        <p:nvPicPr>
          <p:cNvPr id="19" name="Picture 18" descr="pc_adoption_tr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2321" y="1883664"/>
            <a:ext cx="2443276" cy="152704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7616" y="4105656"/>
            <a:ext cx="2714751" cy="1527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42 / 53   ·   业务闭环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300" y="4286250"/>
            <a:ext cx="24384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SC"/>
              </a:rPr>
              <a:t>PART 07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Noto Sans SC"/>
              </a:rPr>
              <a:t>07   技术实力与保障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3683000"/>
            <a:ext cx="15240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SC"/>
              </a:rPr>
              <a:t>架构 · 部署 · 合规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43 / 53   ·   技术保障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270000"/>
            <a:ext cx="889000" cy="10160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Noto Sans SC"/>
              </a:rPr>
              <a:t>系统技术架构与部署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71600"/>
            <a:ext cx="10668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SC"/>
              </a:rPr>
              <a:t>云原生 · 容器化 · 边缘计算 · 弱网适配 · 信创可选（白皮书 十/十三）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905000"/>
            <a:ext cx="3175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_tech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2504281"/>
            <a:ext cx="2971800" cy="16716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3600" y="4762500"/>
            <a:ext cx="29718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Noto Sans SC"/>
              </a:rPr>
              <a:t>云原生技术架构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05000"/>
            <a:ext cx="3175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_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0" y="2504281"/>
            <a:ext cx="2971800" cy="16716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73600" y="4762500"/>
            <a:ext cx="29718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Noto Sans SC"/>
              </a:rPr>
              <a:t>容器化部署 · K8s / 边缘计算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0" y="1905000"/>
            <a:ext cx="3175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iag_arch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00" y="2504281"/>
            <a:ext cx="2971800" cy="16716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83600" y="4762500"/>
            <a:ext cx="29718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Noto Sans SC"/>
              </a:rPr>
              <a:t>整体架构总览 · 信创可选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44 / 53   ·   技术保障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270000"/>
            <a:ext cx="889000" cy="10160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Noto Sans SC"/>
              </a:rPr>
              <a:t>安全合规与性能保障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71600"/>
            <a:ext cx="10668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Noto Sans SC"/>
              </a:rPr>
              <a:t>企业买家关心的合规、安全与可靠性，一次讲清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905000"/>
            <a:ext cx="3302000" cy="1714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9800" y="2082800"/>
            <a:ext cx="294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等保 2.0 三级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800" y="2616200"/>
            <a:ext cx="2946400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通过网络安全等级保护三级测评，满足政企采购合规门槛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1905000"/>
            <a:ext cx="3302000" cy="1714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2082800"/>
            <a:ext cx="294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国密 SM4 · SM2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2616200"/>
            <a:ext cx="2946400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支持国密算法加密与签名，数据主权自主可控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4000" y="1905000"/>
            <a:ext cx="3302000" cy="1714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51800" y="2082800"/>
            <a:ext cx="294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PIPL 隐私合规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1800" y="2616200"/>
            <a:ext cx="2946400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个人信息处理符合《个人信息保护法》要求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873500"/>
            <a:ext cx="3302000" cy="1714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4051300"/>
            <a:ext cx="294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容灾 RPO≤15min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584700"/>
            <a:ext cx="2946400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RTO≤1h，关键数据定期快照与异地容灾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8000" y="3873500"/>
            <a:ext cx="3302000" cy="1714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5800" y="4051300"/>
            <a:ext cx="294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可用性 ≥99.95%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800" y="4584700"/>
            <a:ext cx="2946400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高可用集群 + 蓝绿/金丝雀发布保障业务连续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74000" y="3873500"/>
            <a:ext cx="3302000" cy="171450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1800" y="4051300"/>
            <a:ext cx="294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Noto Sans SC"/>
              </a:rPr>
              <a:t>开源可控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1800" y="4584700"/>
            <a:ext cx="2946400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</a:rPr>
              <a:t>核心组件自主可控，支持信创环境部署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969000"/>
            <a:ext cx="10668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</a:rPr>
              <a:t>注：上述合规与性能指标依据《产品白皮书》第十一/十三章；实际交付以双方约定 SLA 与测评报告为准。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45 / 53   ·   技术保障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SC"/>
              </a:rPr>
              <a:t>PART 08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Noto Sans SC"/>
              </a:rPr>
              <a:t>08   价值论证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3683000"/>
            <a:ext cx="15240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SC"/>
              </a:rPr>
              <a:t>让数据说话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46 / 53   ·   价值论证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综合成效：数据说话，每一项指标都在变好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" y="1841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33500" y="1803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农事排程时间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现状: 2小时/天 → 优化后: &lt;30分钟/天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 75%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35500" y="1841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016500" y="1803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农事记录完整率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286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现状: &lt;30% → 优化后: &gt;80%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2794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大幅提升 167%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318500" y="1841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699500" y="1803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农资库存准确率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2286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现状: ~60% → 优化后: &gt;95%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2794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准确率提升 58%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556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2500" y="3746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1333500" y="3708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预警响应时间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4191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现状: 小时级 → 优化后: &lt;5分钟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4699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响应效率提升 &gt;90%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45000" y="3556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635500" y="3746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5016500" y="3708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巡园覆盖率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635500" y="4191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现状: 不可追踪 → 优化后: 全程可量化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35500" y="4699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管理全流程透明化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3556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318500" y="37465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8699500" y="3708400"/>
            <a:ext cx="254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农事建议准确率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318500" y="4191000"/>
            <a:ext cx="292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现状: 经验驱动 → 优化后: 数据驱动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318500" y="4699000"/>
            <a:ext cx="2921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建议准确率达 70%+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" y="520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52500" y="5359400"/>
            <a:ext cx="2286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5" name="AutoShape 35"/>
          <p:cNvSpPr/>
          <p:nvPr/>
        </p:nvSpPr>
        <p:spPr>
          <a:xfrm>
            <a:off x="1270000" y="5334000"/>
            <a:ext cx="2667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产量预估误差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52500" y="5715000"/>
            <a:ext cx="292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从无预估到实现 ±8% 以内的精准预测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产销协同更高效</a:t>
            </a:r>
          </a:p>
        </p:txBody>
      </p:sp>
      <p:sp>
        <p:nvSpPr>
          <p:cNvPr id="37" name="AutoShape 37"/>
          <p:cNvSpPr/>
          <p:nvPr/>
        </p:nvSpPr>
        <p:spPr>
          <a:xfrm>
            <a:off x="4445000" y="520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635500" y="5359400"/>
            <a:ext cx="2286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9" name="AutoShape 39"/>
          <p:cNvSpPr/>
          <p:nvPr/>
        </p:nvSpPr>
        <p:spPr>
          <a:xfrm>
            <a:off x="4953000" y="5334000"/>
            <a:ext cx="2667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品牌溢价能力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4635500" y="5715000"/>
            <a:ext cx="292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从无溯源到实现全程可追溯管理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品牌价值提升 10%+</a:t>
            </a:r>
          </a:p>
        </p:txBody>
      </p:sp>
      <p:sp>
        <p:nvSpPr>
          <p:cNvPr id="41" name="AutoShape 41"/>
          <p:cNvSpPr/>
          <p:nvPr/>
        </p:nvSpPr>
        <p:spPr>
          <a:xfrm>
            <a:off x="8128000" y="520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8318500" y="5359400"/>
            <a:ext cx="2286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3" name="AutoShape 43"/>
          <p:cNvSpPr/>
          <p:nvPr/>
        </p:nvSpPr>
        <p:spPr>
          <a:xfrm>
            <a:off x="8636000" y="5334000"/>
            <a:ext cx="2667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整体效益总结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318500" y="5715000"/>
            <a:ext cx="292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解决痛点，实现降本增效提质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全方位的业务价值增长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47 / 53   ·   价值论证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投资回报分析：真实客户收益，数据验证价值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rcRect/>
          <a:stretch>
            <a:fillRect/>
          </a:stretch>
        </p:blipFill>
        <p:spPr>
          <a:xfrm>
            <a:off x="1066800" y="1955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651000" y="1930400"/>
            <a:ext cx="393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投入分析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66800" y="2411730"/>
            <a:ext cx="4597400" cy="21602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系统部署成本：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智慧果园管理系统的开发与搭建费用。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设备接入成本：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物联网传感器、智能监测硬件及网络设施。</a:t>
            </a: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培训实施成本：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为员工提供系统与数字化种植的专业培训。</a:t>
            </a: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运营维护成本：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系统定期升级与硬件设备的日常巡检维护。</a:t>
            </a: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6223000" y="1651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rcRect/>
          <a:stretch>
            <a:fillRect/>
          </a:stretch>
        </p:blipFill>
        <p:spPr>
          <a:xfrm>
            <a:off x="6527800" y="1955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112000" y="1930400"/>
            <a:ext cx="393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产出分析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527800" y="2667000"/>
            <a:ext cx="45974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▶ 成本节约：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优化人工排班降低人力成本，精准控制农资投入减少浪费，智能预警降低自然灾害带来的损失。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▶ 收益提升：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科学种植显著提升产量与果实品质，打造数字化农业标杆，实现品牌溢价，拓宽销售渠道。</a:t>
            </a: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▶ 效率提升：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实现生产过程全流程数字化管理，数据驱动科学决策，快速响应市场需求与突发状况。</a:t>
            </a: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762000" y="4953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1066800" y="53086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1905000" y="5207000"/>
            <a:ext cx="368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预计投资回收期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18 - 24 个月</a:t>
            </a: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6223000" y="4953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0"/>
          <a:srcRect/>
          <a:stretch>
            <a:fillRect/>
          </a:stretch>
        </p:blipFill>
        <p:spPr>
          <a:xfrm>
            <a:off x="6527800" y="53086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7366000" y="5207000"/>
            <a:ext cx="368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预计年化投资回报率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40% - 60%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48 / 53   ·   价值论证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6451600"/>
            <a:ext cx="10668000" cy="330200"/>
          </a:xfrm>
          <a:prstGeom prst="rect">
            <a:avLst/>
          </a:prstGeom>
          <a:solidFill>
            <a:srgbClr val="F2F6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 bIns="25400"/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注：上述投资回报为典型客户测算区间，实际收益因基地规模、品种与运营情况而异；具体以双方合同约定与市场实测为准。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7000" y="2032000"/>
            <a:ext cx="47244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200" b="1">
                <a:solidFill>
                  <a:srgbClr val="4CAF50"/>
                </a:solidFill>
                <a:latin typeface="Noto Sans SC"/>
                <a:ea typeface="Noto Sans SC"/>
                <a:cs typeface="Noto Sans SC"/>
              </a:rPr>
              <a:t>产品路线图 · 持续进化</a:t>
            </a:r>
            <a:br/>
            <a:r>
              <a:rPr sz="12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• 2026 Q3：扩展水果品种支持（柑橘 / 葡萄 / 樱桃等）</a:t>
            </a:r>
            <a:br/>
            <a:r>
              <a:rPr sz="12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• 2026 Q4：接入更多 IoT 设备与第三方数据平台</a:t>
            </a:r>
            <a:br/>
            <a:r>
              <a:rPr sz="12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• 2027：开放 API，构建智慧农业开放生态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客户声音：真实价值的见证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603500"/>
            <a:ext cx="4064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“以前决策靠拍脑袋，现在看数据说话，心里踏实多了。”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某大型果业集团负责人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873500"/>
            <a:ext cx="4064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“没想到大爷大妈都能轻松上手，现在巡园效率太高了，问题发现得也早。”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某基地管理者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207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5143500"/>
            <a:ext cx="4064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“有了溯源码，消费者明显更信任我们的产品，愿意出更高的价格。”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某合作社理事长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03340" y="1905000"/>
            <a:ext cx="4954270" cy="4150995"/>
          </a:xfrm>
          <a:prstGeom prst="roundRect">
            <a:avLst>
              <a:gd name="adj" fmla="val 6956"/>
            </a:avLst>
          </a:prstGeom>
          <a:blipFill rotWithShape="1">
            <a:blip r:embed="rId6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49 / 53   ·   价值论证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SC"/>
              </a:rPr>
              <a:t>PART 09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Noto Sans SC"/>
              </a:rPr>
              <a:t>09   携手共赢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3683000"/>
            <a:ext cx="15240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SC"/>
              </a:rPr>
              <a:t>合作模式与行动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50 / 53   ·   携手共赢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携手共赢 · 合作模式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175000"/>
          </a:xfrm>
          <a:prstGeom prst="roundRect">
            <a:avLst>
              <a:gd name="adj" fmla="val 32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889000"/>
          </a:xfrm>
          <a:prstGeom prst="roundRect">
            <a:avLst>
              <a:gd name="adj" fmla="val 11428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基础版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适合起步阶段 | 1-3个基地</a:t>
            </a:r>
          </a:p>
        </p:txBody>
      </p:sp>
      <p:sp>
        <p:nvSpPr>
          <p:cNvPr id="6" name="AutoShape 6"/>
          <p:cNvSpPr/>
          <p:nvPr/>
        </p:nvSpPr>
        <p:spPr>
          <a:xfrm>
            <a:off x="952500" y="2794000"/>
            <a:ext cx="2921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600" b="1" i="0" u="none" strike="noStrike" dirty="0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¥ 50,000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年 /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基地</a:t>
            </a:r>
            <a:endParaRPr lang="en-US" sz="1100" dirty="0"/>
          </a:p>
          <a:p>
            <a:pPr indent="0" algn="ctr">
              <a:lnSpc>
                <a:spcPct val="133000"/>
              </a:lnSpc>
              <a:spcBef>
                <a:spcPts val="1500"/>
              </a:spcBef>
            </a:pP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核心SaaS功能完整开放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标准工单系统基础支持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在线文档与视频教程</a:t>
            </a:r>
            <a:endParaRPr lang="en-US" sz="13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3429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445000" y="1524000"/>
            <a:ext cx="3302000" cy="1016000"/>
          </a:xfrm>
          <a:prstGeom prst="roundRect">
            <a:avLst>
              <a:gd name="adj" fmla="val 1000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1714500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专业版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企业级首选 | &lt;10个基地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635500" y="2794000"/>
            <a:ext cx="2921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800" b="1" i="0" u="none" strike="noStrike" dirty="0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¥ 100,000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年 /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基地</a:t>
            </a:r>
            <a:endParaRPr lang="en-US" sz="1100" dirty="0"/>
          </a:p>
          <a:p>
            <a:pPr indent="0" algn="ctr">
              <a:lnSpc>
                <a:spcPct val="133000"/>
              </a:lnSpc>
              <a:spcBef>
                <a:spcPts val="1500"/>
              </a:spcBef>
            </a:pPr>
            <a:r>
              <a:rPr lang="en-US" sz="13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系统全功能模块解锁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专属通道，问题优先响应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含2场线上/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线下产品培训</a:t>
            </a:r>
            <a:endParaRPr lang="en-US" sz="1300" b="0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3175000"/>
          </a:xfrm>
          <a:prstGeom prst="roundRect">
            <a:avLst>
              <a:gd name="adj" fmla="val 32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889000"/>
          </a:xfrm>
          <a:prstGeom prst="roundRect">
            <a:avLst>
              <a:gd name="adj" fmla="val 11428"/>
            </a:avLst>
          </a:prstGeom>
          <a:solidFill>
            <a:srgbClr val="1B5E2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旗舰版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集团定制方案 | 10个以上基地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318500" y="2794000"/>
            <a:ext cx="2921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600" b="1" i="0" u="none" strike="noStrike" dirty="0" err="1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定制报价</a:t>
            </a:r>
            <a:endParaRPr lang="en-US" sz="1100" dirty="0"/>
          </a:p>
          <a:p>
            <a:pPr indent="0" algn="ctr">
              <a:lnSpc>
                <a:spcPct val="133000"/>
              </a:lnSpc>
              <a:spcBef>
                <a:spcPts val="1500"/>
              </a:spcBef>
            </a:pP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1对1专属VIP客户经理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系统功能定制开发支持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专家团队上门现场实施部署</a:t>
            </a:r>
            <a:endParaRPr lang="en-US" sz="13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2705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5524500"/>
            <a:ext cx="190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</a:t>
            </a:r>
            <a:b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服务保障体系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48000" y="5524500"/>
            <a:ext cx="279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3429000" y="5486400"/>
            <a:ext cx="127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7×24h技术支持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快速响应您的需求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53000" y="5524500"/>
            <a:ext cx="279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5334000" y="5486400"/>
            <a:ext cx="127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定期版本更新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持续迭代优化功能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58000" y="5524500"/>
            <a:ext cx="279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7239000" y="5486400"/>
            <a:ext cx="127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数据安全保障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确保备份与容灾恢复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763000" y="5524500"/>
            <a:ext cx="279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9144000" y="5486400"/>
            <a:ext cx="1524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培训与实操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定制化现场与远程部署</a:t>
            </a:r>
            <a:endParaRPr lang="en-US" sz="1100"/>
          </a:p>
        </p:txBody>
      </p:sp>
      <p:sp>
        <p:nvSpPr>
          <p:cNvPr id="25" name="TextBox 24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51 / 53   ·   携手共赢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立即行动，抢占千亿智慧果园先机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5E9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460500" y="20066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邮箱：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user007a@126.com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460500" y="28956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电话：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15111480531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460500" y="38735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地址：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长沙市枫林三路</a:t>
            </a:r>
            <a:b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湘江智谷超算中心C区F栋308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5E9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45000" y="4000500"/>
            <a:ext cx="330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添加解决方案专家微信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获取详细解决方案与资讯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F5E9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t="10742" b="10742"/>
          <a:stretch>
            <a:fillRect/>
          </a:stretch>
        </p:blipFill>
        <p:spPr>
          <a:xfrm>
            <a:off x="8763000" y="19685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128000" y="4000500"/>
            <a:ext cx="330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添加商务顾问微信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一对一专业种植咨询服务</a:t>
            </a:r>
          </a:p>
        </p:txBody>
      </p:sp>
      <p:sp>
        <p:nvSpPr>
          <p:cNvPr id="16" name="AutoShape 16"/>
          <p:cNvSpPr/>
          <p:nvPr/>
        </p:nvSpPr>
        <p:spPr>
          <a:xfrm>
            <a:off x="0" y="5524500"/>
            <a:ext cx="1219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让苹果种植更省心、更科学、更赚钱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6223000"/>
            <a:ext cx="952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智道易农科技有限公司</a:t>
            </a:r>
            <a:endParaRPr lang="en-US" sz="1100"/>
          </a:p>
        </p:txBody>
      </p:sp>
      <p:pic>
        <p:nvPicPr>
          <p:cNvPr id="20" name="Picture 14"/>
          <p:cNvPicPr>
            <a:picLocks noChangeAspect="1"/>
          </p:cNvPicPr>
          <p:nvPr/>
        </p:nvPicPr>
        <p:blipFill>
          <a:blip r:embed="rId6"/>
          <a:srcRect t="10742" b="10742"/>
          <a:stretch>
            <a:fillRect/>
          </a:stretch>
        </p:blipFill>
        <p:spPr>
          <a:xfrm>
            <a:off x="5207000" y="20955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TextBox 20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52 / 53   ·   携手共赢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30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让苹果种植更省心 · 更科学 · 更赚钱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期待与您携手 · 共启智慧农业新篇章</a:t>
            </a:r>
            <a:endParaRPr lang="en-US" sz="1100"/>
          </a:p>
        </p:txBody>
      </p:sp>
      <p:sp>
        <p:nvSpPr>
          <p:cNvPr id="7" name="TextBox 6"/>
          <p:cNvSpPr txBox="1"/>
          <p:nvPr/>
        </p:nvSpPr>
        <p:spPr>
          <a:xfrm>
            <a:off x="4572000" y="6629400"/>
            <a:ext cx="3048000" cy="1651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53 / 53   ·   携手共赢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20,&quot;width&quot;:84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3225</Words>
  <Application>Microsoft Office PowerPoint</Application>
  <PresentationFormat>宽屏</PresentationFormat>
  <Paragraphs>644</Paragraphs>
  <Slides>38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Noto Sans SC</vt:lpstr>
      <vt:lpstr>Songti SC</vt:lpstr>
      <vt:lpstr>Arial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友宝 刘</cp:lastModifiedBy>
  <cp:revision>28</cp:revision>
  <dcterms:created xsi:type="dcterms:W3CDTF">2026-05-23T09:46:00Z</dcterms:created>
  <dcterms:modified xsi:type="dcterms:W3CDTF">2026-10-22T04:52:07Z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DCE3CA80776148E0843631B60BEC92AB_13</vt:lpwstr>
  </property>
  <property fmtid="{D5CDD505-2E9C-101B-9397-08002B2CF9AE}" pid="3" name="KSOProductBuildVer">
    <vt:lpwstr>2052-12.1.0.26373</vt:lpwstr>
  </property>
</Properties>
</file>