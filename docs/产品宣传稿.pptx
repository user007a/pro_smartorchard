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1.svg" ContentType="image/svg+xml"/>
  <Override PartName="/ppt/media/image111.svg" ContentType="image/svg+xml"/>
  <Override PartName="/ppt/media/image113.svg" ContentType="image/svg+xml"/>
  <Override PartName="/ppt/media/image115.svg" ContentType="image/svg+xml"/>
  <Override PartName="/ppt/media/image125.svg" ContentType="image/svg+xml"/>
  <Override PartName="/ppt/media/image127.svg" ContentType="image/svg+xml"/>
  <Override PartName="/ppt/media/image129.svg" ContentType="image/svg+xml"/>
  <Override PartName="/ppt/media/image13.svg" ContentType="image/svg+xml"/>
  <Override PartName="/ppt/media/image131.svg" ContentType="image/svg+xml"/>
  <Override PartName="/ppt/media/image133.svg" ContentType="image/svg+xml"/>
  <Override PartName="/ppt/media/image135.svg" ContentType="image/svg+xml"/>
  <Override PartName="/ppt/media/image137.svg" ContentType="image/svg+xml"/>
  <Override PartName="/ppt/media/image138.svg" ContentType="image/svg+xml"/>
  <Override PartName="/ppt/media/image140.svg" ContentType="image/svg+xml"/>
  <Override PartName="/ppt/media/image142.svg" ContentType="image/svg+xml"/>
  <Override PartName="/ppt/media/image145.svg" ContentType="image/svg+xml"/>
  <Override PartName="/ppt/media/image147.svg" ContentType="image/svg+xml"/>
  <Override PartName="/ppt/media/image149.svg" ContentType="image/svg+xml"/>
  <Override PartName="/ppt/media/image15.svg" ContentType="image/svg+xml"/>
  <Override PartName="/ppt/media/image151.svg" ContentType="image/svg+xml"/>
  <Override PartName="/ppt/media/image17.svg" ContentType="image/svg+xml"/>
  <Override PartName="/ppt/media/image170.svg" ContentType="image/svg+xml"/>
  <Override PartName="/ppt/media/image172.svg" ContentType="image/svg+xml"/>
  <Override PartName="/ppt/media/image174.svg" ContentType="image/svg+xml"/>
  <Override PartName="/ppt/media/image176.svg" ContentType="image/svg+xml"/>
  <Override PartName="/ppt/media/image178.svg" ContentType="image/svg+xml"/>
  <Override PartName="/ppt/media/image180.svg" ContentType="image/svg+xml"/>
  <Override PartName="/ppt/media/image182.svg" ContentType="image/svg+xml"/>
  <Override PartName="/ppt/media/image19.svg" ContentType="image/svg+xml"/>
  <Override PartName="/ppt/media/image194.svg" ContentType="image/svg+xml"/>
  <Override PartName="/ppt/media/image196.svg" ContentType="image/svg+xml"/>
  <Override PartName="/ppt/media/image197.svg" ContentType="image/svg+xml"/>
  <Override PartName="/ppt/media/image199.svg" ContentType="image/svg+xml"/>
  <Override PartName="/ppt/media/image201.svg" ContentType="image/svg+xml"/>
  <Override PartName="/ppt/media/image203.svg" ContentType="image/svg+xml"/>
  <Override PartName="/ppt/media/image205.svg" ContentType="image/svg+xml"/>
  <Override PartName="/ppt/media/image207.svg" ContentType="image/svg+xml"/>
  <Override PartName="/ppt/media/image209.svg" ContentType="image/svg+xml"/>
  <Override PartName="/ppt/media/image211.svg" ContentType="image/svg+xml"/>
  <Override PartName="/ppt/media/image213.svg" ContentType="image/svg+xml"/>
  <Override PartName="/ppt/media/image215.svg" ContentType="image/svg+xml"/>
  <Override PartName="/ppt/media/image217.svg" ContentType="image/svg+xml"/>
  <Override PartName="/ppt/media/image219.svg" ContentType="image/svg+xml"/>
  <Override PartName="/ppt/media/image221.svg" ContentType="image/svg+xml"/>
  <Override PartName="/ppt/media/image223.svg" ContentType="image/svg+xml"/>
  <Override PartName="/ppt/media/image225.svg" ContentType="image/svg+xml"/>
  <Override PartName="/ppt/media/image227.svg" ContentType="image/svg+xml"/>
  <Override PartName="/ppt/media/image229.svg" ContentType="image/svg+xml"/>
  <Override PartName="/ppt/media/image244.svg" ContentType="image/svg+xml"/>
  <Override PartName="/ppt/media/image246.svg" ContentType="image/svg+xml"/>
  <Override PartName="/ppt/media/image248.svg" ContentType="image/svg+xml"/>
  <Override PartName="/ppt/media/image250.svg" ContentType="image/svg+xml"/>
  <Override PartName="/ppt/media/image252.svg" ContentType="image/svg+xml"/>
  <Override PartName="/ppt/media/image270.svg" ContentType="image/svg+xml"/>
  <Override PartName="/ppt/media/image272.svg" ContentType="image/svg+xml"/>
  <Override PartName="/ppt/media/image274.svg" ContentType="image/svg+xml"/>
  <Override PartName="/ppt/media/image41.svg" ContentType="image/svg+xml"/>
  <Override PartName="/ppt/media/image43.svg" ContentType="image/svg+xml"/>
  <Override PartName="/ppt/media/image45.svg" ContentType="image/svg+xml"/>
  <Override PartName="/ppt/media/image47.svg" ContentType="image/svg+xml"/>
  <Override PartName="/ppt/media/image49.svg" ContentType="image/svg+xml"/>
  <Override PartName="/ppt/media/image51.svg" ContentType="image/svg+xml"/>
  <Override PartName="/ppt/media/image53.svg" ContentType="image/svg+xml"/>
  <Override PartName="/ppt/media/image55.svg" ContentType="image/svg+xml"/>
  <Override PartName="/ppt/media/image86.svg" ContentType="image/svg+xml"/>
  <Override PartName="/ppt/media/image88.svg" ContentType="image/svg+xml"/>
  <Override PartName="/ppt/media/image90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10.xml" ContentType="application/vnd.openxmlformats-officedocument.theme+xml"/>
  <Override PartName="/ppt/theme/theme11.xml" ContentType="application/vnd.openxmlformats-officedocument.theme+xml"/>
  <Override PartName="/ppt/theme/theme12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autoCompressPictures="0">
  <p:sldMasterIdLst>
    <p:sldMasterId id="2147483648" r:id="rId1"/>
    <p:sldMasterId id="2147483660" r:id="rId3"/>
    <p:sldMasterId id="2147483662" r:id="rId4"/>
    <p:sldMasterId id="2147483665" r:id="rId5"/>
    <p:sldMasterId id="2147483668" r:id="rId6"/>
    <p:sldMasterId id="2147483670" r:id="rId7"/>
    <p:sldMasterId id="2147483673" r:id="rId8"/>
    <p:sldMasterId id="2147483676" r:id="rId9"/>
    <p:sldMasterId id="2147483679" r:id="rId10"/>
    <p:sldMasterId id="2147483682" r:id="rId11"/>
    <p:sldMasterId id="2147483685" r:id="rId12"/>
  </p:sldMasterIdLst>
  <p:notesMasterIdLst>
    <p:notesMasterId r:id="rId14"/>
  </p:notesMasterIdLst>
  <p:sldIdLst>
    <p:sldId id="256" r:id="rId13"/>
    <p:sldId id="257" r:id="rId15"/>
    <p:sldId id="258" r:id="rId16"/>
    <p:sldId id="259" r:id="rId17"/>
    <p:sldId id="260" r:id="rId18"/>
    <p:sldId id="261" r:id="rId19"/>
    <p:sldId id="262" r:id="rId20"/>
    <p:sldId id="263" r:id="rId21"/>
    <p:sldId id="264" r:id="rId22"/>
    <p:sldId id="286" r:id="rId23"/>
    <p:sldId id="265" r:id="rId24"/>
    <p:sldId id="287" r:id="rId25"/>
    <p:sldId id="266" r:id="rId26"/>
    <p:sldId id="288" r:id="rId27"/>
    <p:sldId id="267" r:id="rId28"/>
    <p:sldId id="297" r:id="rId29"/>
    <p:sldId id="268" r:id="rId30"/>
    <p:sldId id="298" r:id="rId31"/>
    <p:sldId id="269" r:id="rId32"/>
    <p:sldId id="270" r:id="rId33"/>
    <p:sldId id="271" r:id="rId34"/>
    <p:sldId id="272" r:id="rId35"/>
    <p:sldId id="273" r:id="rId36"/>
    <p:sldId id="299" r:id="rId37"/>
    <p:sldId id="274" r:id="rId38"/>
    <p:sldId id="300" r:id="rId39"/>
    <p:sldId id="275" r:id="rId40"/>
    <p:sldId id="276" r:id="rId41"/>
    <p:sldId id="277" r:id="rId42"/>
    <p:sldId id="293" r:id="rId43"/>
    <p:sldId id="284" r:id="rId44"/>
    <p:sldId id="294" r:id="rId45"/>
    <p:sldId id="279" r:id="rId46"/>
    <p:sldId id="280" r:id="rId47"/>
    <p:sldId id="281" r:id="rId48"/>
    <p:sldId id="282" r:id="rId49"/>
    <p:sldId id="283" r:id="rId50"/>
    <p:sldId id="285" r:id="rId51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L="0"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L="457200"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L="914400"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L="1371600"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L="1828800"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L="2286000"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L="2743200"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L="3200400"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L="3657600"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defaultTextStyle>
  <p:extLst>
    <p:ext uri="{EFAFB233-063F-42B5-8137-9DF3F51BA10A}">
      <p15:sldGuideLst xmlns:p15="http://schemas.microsoft.com/office/powerpoint/2012/main">
        <p15:guide id="1" orient="horz" pos="1606" userDrawn="1">
          <p15:clr>
            <a:srgbClr val="747775"/>
          </p15:clr>
        </p15:guide>
        <p15:guide id="2" pos="2880" userDrawn="1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showComments="0">
  <p:normalViewPr>
    <p:restoredLeft sz="15620"/>
    <p:restoredTop sz="94660"/>
  </p:normalViewPr>
  <p:slideViewPr>
    <p:cSldViewPr snapToGrid="0" showGuides="1">
      <p:cViewPr varScale="1">
        <p:scale>
          <a:sx n="100" d="100"/>
          <a:sy n="100" d="100"/>
        </p:scale>
        <p:origin x="0" y="0"/>
      </p:cViewPr>
      <p:guideLst>
        <p:guide orient="horz" pos="1606"/>
        <p:guide pos="2880"/>
      </p:guideLst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" Target="slides/slide1.xml"/><Relationship Id="rId14" Type="http://schemas.openxmlformats.org/officeDocument/2006/relationships/notesMaster" Target="notesMasters/notesMaster1.xml"/><Relationship Id="rId15" Type="http://schemas.openxmlformats.org/officeDocument/2006/relationships/slide" Target="slides/slide2.xml"/><Relationship Id="rId16" Type="http://schemas.openxmlformats.org/officeDocument/2006/relationships/slide" Target="slides/slide3.xml"/><Relationship Id="rId17" Type="http://schemas.openxmlformats.org/officeDocument/2006/relationships/slide" Target="slides/slide4.xml"/><Relationship Id="rId18" Type="http://schemas.openxmlformats.org/officeDocument/2006/relationships/slide" Target="slides/slide5.xml"/><Relationship Id="rId19" Type="http://schemas.openxmlformats.org/officeDocument/2006/relationships/slide" Target="slides/slide6.xml"/><Relationship Id="rId20" Type="http://schemas.openxmlformats.org/officeDocument/2006/relationships/slide" Target="slides/slide7.xml"/><Relationship Id="rId21" Type="http://schemas.openxmlformats.org/officeDocument/2006/relationships/slide" Target="slides/slide8.xml"/><Relationship Id="rId22" Type="http://schemas.openxmlformats.org/officeDocument/2006/relationships/slide" Target="slides/slide9.xml"/><Relationship Id="rId23" Type="http://schemas.openxmlformats.org/officeDocument/2006/relationships/slide" Target="slides/slide10.xml"/><Relationship Id="rId24" Type="http://schemas.openxmlformats.org/officeDocument/2006/relationships/slide" Target="slides/slide11.xml"/><Relationship Id="rId25" Type="http://schemas.openxmlformats.org/officeDocument/2006/relationships/slide" Target="slides/slide12.xml"/><Relationship Id="rId26" Type="http://schemas.openxmlformats.org/officeDocument/2006/relationships/slide" Target="slides/slide13.xml"/><Relationship Id="rId27" Type="http://schemas.openxmlformats.org/officeDocument/2006/relationships/slide" Target="slides/slide14.xml"/><Relationship Id="rId28" Type="http://schemas.openxmlformats.org/officeDocument/2006/relationships/slide" Target="slides/slide15.xml"/><Relationship Id="rId29" Type="http://schemas.openxmlformats.org/officeDocument/2006/relationships/slide" Target="slides/slide16.xml"/><Relationship Id="rId30" Type="http://schemas.openxmlformats.org/officeDocument/2006/relationships/slide" Target="slides/slide17.xml"/><Relationship Id="rId31" Type="http://schemas.openxmlformats.org/officeDocument/2006/relationships/slide" Target="slides/slide18.xml"/><Relationship Id="rId32" Type="http://schemas.openxmlformats.org/officeDocument/2006/relationships/slide" Target="slides/slide19.xml"/><Relationship Id="rId33" Type="http://schemas.openxmlformats.org/officeDocument/2006/relationships/slide" Target="slides/slide20.xml"/><Relationship Id="rId34" Type="http://schemas.openxmlformats.org/officeDocument/2006/relationships/slide" Target="slides/slide21.xml"/><Relationship Id="rId35" Type="http://schemas.openxmlformats.org/officeDocument/2006/relationships/slide" Target="slides/slide22.xml"/><Relationship Id="rId36" Type="http://schemas.openxmlformats.org/officeDocument/2006/relationships/slide" Target="slides/slide23.xml"/><Relationship Id="rId37" Type="http://schemas.openxmlformats.org/officeDocument/2006/relationships/slide" Target="slides/slide24.xml"/><Relationship Id="rId38" Type="http://schemas.openxmlformats.org/officeDocument/2006/relationships/slide" Target="slides/slide25.xml"/><Relationship Id="rId39" Type="http://schemas.openxmlformats.org/officeDocument/2006/relationships/slide" Target="slides/slide26.xml"/><Relationship Id="rId40" Type="http://schemas.openxmlformats.org/officeDocument/2006/relationships/slide" Target="slides/slide27.xml"/><Relationship Id="rId41" Type="http://schemas.openxmlformats.org/officeDocument/2006/relationships/slide" Target="slides/slide28.xml"/><Relationship Id="rId42" Type="http://schemas.openxmlformats.org/officeDocument/2006/relationships/slide" Target="slides/slide29.xml"/><Relationship Id="rId43" Type="http://schemas.openxmlformats.org/officeDocument/2006/relationships/slide" Target="slides/slide30.xml"/><Relationship Id="rId44" Type="http://schemas.openxmlformats.org/officeDocument/2006/relationships/slide" Target="slides/slide31.xml"/><Relationship Id="rId45" Type="http://schemas.openxmlformats.org/officeDocument/2006/relationships/slide" Target="slides/slide32.xml"/><Relationship Id="rId46" Type="http://schemas.openxmlformats.org/officeDocument/2006/relationships/slide" Target="slides/slide33.xml"/><Relationship Id="rId47" Type="http://schemas.openxmlformats.org/officeDocument/2006/relationships/slide" Target="slides/slide34.xml"/><Relationship Id="rId48" Type="http://schemas.openxmlformats.org/officeDocument/2006/relationships/slide" Target="slides/slide35.xml"/><Relationship Id="rId49" Type="http://schemas.openxmlformats.org/officeDocument/2006/relationships/slide" Target="slides/slide36.xml"/><Relationship Id="rId50" Type="http://schemas.openxmlformats.org/officeDocument/2006/relationships/slide" Target="slides/slide37.xml"/><Relationship Id="rId51" Type="http://schemas.openxmlformats.org/officeDocument/2006/relationships/slide" Target="slides/slide38.xml"/><Relationship Id="rId52" Type="http://schemas.openxmlformats.org/officeDocument/2006/relationships/presProps" Target="presProps.xml"/><Relationship Id="rId53" Type="http://schemas.openxmlformats.org/officeDocument/2006/relationships/viewProps" Target="viewProps.xml"/><Relationship Id="rId5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</a:fld>
            <a:endParaRPr lang="cs-CZ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slide" Target="../slides/slide28.xml"/><Relationship Id="rId2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slide" Target="../slides/slide29.xml"/><Relationship Id="rId2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slide" Target="../slides/slide30.xml"/><Relationship Id="rId2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slide" Target="../slides/slide31.xml"/><Relationship Id="rId2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slide" Target="../slides/slide32.xml"/><Relationship Id="rId2" Type="http://schemas.openxmlformats.org/officeDocument/2006/relationships/notesMaster" Target="../notesMasters/notesMaster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slide" Target="../slides/slide33.xml"/><Relationship Id="rId2" Type="http://schemas.openxmlformats.org/officeDocument/2006/relationships/notesMaster" Target="../notesMasters/notesMaster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slide" Target="../slides/slide34.xml"/><Relationship Id="rId2" Type="http://schemas.openxmlformats.org/officeDocument/2006/relationships/notesMaster" Target="../notesMasters/notesMaster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slide" Target="../slides/slide35.xml"/><Relationship Id="rId2" Type="http://schemas.openxmlformats.org/officeDocument/2006/relationships/notesMaster" Target="../notesMasters/notesMaster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slide" Target="../slides/slide36.xml"/><Relationship Id="rId2" Type="http://schemas.openxmlformats.org/officeDocument/2006/relationships/notesMaster" Target="../notesMasters/notesMaster1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slide" Target="../slides/slide37.xml"/><Relationship Id="rId2" Type="http://schemas.openxmlformats.org/officeDocument/2006/relationships/notesMaster" Target="../notesMasters/notesMaster1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slide" Target="../slides/slide38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Songti SC"/>
                <a:ea typeface="Songti SC"/>
                <a:cs typeface="Songti SC"/>
                <a:sym typeface="Songti SC"/>
              </a:rPr>
              <a:t>大家好，欢迎参加今天的分享。我们今天要探讨的是一个正在深刻改变传统农业的话题——智慧果园。我们带来的，不仅仅是一个软件，更是一个“懂苹果”的种植管理平台。我们的目标非常明确：通过科技的力量，让苹果种植变得更省心、更科学，最终帮助大家更赚钱。这不仅是我们的口号，更是我们产品设计的核心价值主张。</a:t>
            </a:r>
            <a:endParaRPr lang="en-US" sz="1400" b="0" i="0" u="none" strike="noStrike">
              <a:solidFill>
                <a:srgbClr val="000000"/>
              </a:solidFill>
              <a:latin typeface="Songti SC"/>
              <a:ea typeface="Songti SC"/>
              <a:cs typeface="Songti SC"/>
              <a:sym typeface="Songti SC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Songti SC"/>
                <a:ea typeface="Songti SC"/>
                <a:cs typeface="Songti SC"/>
                <a:sym typeface="Songti SC"/>
              </a:rPr>
              <a:t>本次分享将分为七个部分。首先，我们将一同洞察当前苹果产业的巨大市场机遇与严峻的产业痛点。接着，我会详细介绍我们的整体解决方案，包括其独特的架构、核心优势以及创新的五端协同模式。之后，我们将深入剖析平台的“智慧大脑”——六大农业模型。我们还会展示如何通过智能硬件、区块链溯源和无人机巡检等手段提升效率。最后，我们将通过可量化的成效数据和客户证言来论证平台的价值，并探讨我们的合作模式与未来规划。</a:t>
            </a:r>
            <a:endParaRPr lang="en-US" sz="1400" b="0" i="0" u="none" strike="noStrike">
              <a:solidFill>
                <a:srgbClr val="000000"/>
              </a:solidFill>
              <a:latin typeface="Songti SC"/>
              <a:ea typeface="Songti SC"/>
              <a:cs typeface="Songti SC"/>
              <a:sym typeface="Songti SC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我们正处在一个巨大的变革浪潮中。一方面，国家政策大力扶持，从2024年到2026年，各项规划和资金支持密集出台，为数字化转型提供了前所未有的窗口期。另一方面，市场已经用真金白银投票，头部企业的数字化投入年增长率高达150%，智能硬件的部署也超过了80%。这清晰地表明，数字化不再是选择题，而是必答题。苹果产业的变革，已经刻不容缓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Songti SC"/>
                <a:ea typeface="Songti SC"/>
                <a:cs typeface="Songti SC"/>
                <a:sym typeface="Songti SC"/>
              </a:rPr>
              <a:t>然而，机遇背后是严峻的挑战。我们深入调研发现，管理者和一线人员都面临着巨大的痛点。管理者们苦于数据孤岛、手工汇整和低效的农事管理，库存准确率甚至只有60%。而一线的兄弟们，则被复杂的操作、不稳定的网络和繁琐的记录流程所困扰。正如一位地块负责人所说：“每多一次点击，一天多几十次操作”，这不仅是效率问题，更是士气问题。这些痛点，正是我们产品要解决的核心。</a:t>
            </a:r>
            <a:endParaRPr lang="en-US" sz="1400" b="0" i="0" u="none" strike="noStrike">
              <a:solidFill>
                <a:srgbClr val="000000"/>
              </a:solidFill>
              <a:latin typeface="Songti SC"/>
              <a:ea typeface="Songti SC"/>
              <a:cs typeface="Songti SC"/>
              <a:sym typeface="Songti SC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针对这些痛点，我们推出了“智慧果园”平台。请记住，我们不是一个通用的ERP，而是一个真正懂苹果的垂直平台。我们的核心是六大农业模型和AI大模型。这带来了什么价值？我们实现了效率的大幅提升，排程时间减少超过60%；数据记录完整率提升到80%以上；库存准确率从行业平均的60%提升到95%以上；风险预警响应时间缩短到5分钟以内；通过区块链溯源，我们帮助客户提升品牌溢价；更重要的是，我们的智能决策能将农事建议的准确率提升到70%以上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Songti SC"/>
                <a:ea typeface="Songti SC"/>
                <a:cs typeface="Songti SC"/>
                <a:sym typeface="Songti SC"/>
              </a:rPr>
              <a:t>我们的设计哲学非常简单：一线不用，系统白搭。因此，我们坚持“以人为本”，一切设计都围绕着一线地块负责人的需求。我们做到了拍照即记录，离线优先，并且在各种设备上都保持大字大按钮的极简风格。同时，我们给自己划下了五条不可妥协的技术红线：弱网必须可用，离线数据绝不丢失，核心操作不超过三步，启动必须秒级响应，数据必须高度一致。这是我们对用户的承诺。</a:t>
            </a:r>
            <a:endParaRPr lang="en-US" sz="1400" b="0" i="0" u="none" strike="noStrike">
              <a:solidFill>
                <a:srgbClr val="000000"/>
              </a:solidFill>
              <a:latin typeface="Songti SC"/>
              <a:ea typeface="Songti SC"/>
              <a:cs typeface="Songti SC"/>
              <a:sym typeface="Songti SC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我们的优势是系统性的，构建了竞品难以复制的护城河。这八大核心优势，从决策引擎到品牌营销，从硬件集成到一线体验，覆盖了果园管理的方方面面。与通用ERP和设备厂商的系统相比，我们的核心差异在于深刻的行业理解、完整的业务闭环、极致的一线易用性以及强大的AI决策支持。我们不仅是一个工具，更是一个懂苹果的智慧伙伴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Songti SC"/>
                <a:ea typeface="Songti SC"/>
                <a:cs typeface="Songti SC"/>
                <a:sym typeface="Songti SC"/>
              </a:rPr>
              <a:t>为了实现全面的数字化管理，我们构建了独特的五端协同体系。以数据中心为核心，我们有面向管理者的电脑端指挥中心和大屏端决策舱，用于计划和监控；有面向一线员工的移动端执行前线，用于高效执行；还有面向消费者的H5端，用于建立信任。同时，我们的AI助手作为智慧顾问，贯穿始终，为所有角色提供智能支持。这五个端口协同工作，构成了一个完整的智慧果园生态系统。</a:t>
            </a:r>
            <a:endParaRPr lang="en-US" sz="1400" b="0" i="0" u="none" strike="noStrike">
              <a:solidFill>
                <a:srgbClr val="000000"/>
              </a:solidFill>
              <a:latin typeface="Songti SC"/>
              <a:ea typeface="Songti SC"/>
              <a:cs typeface="Songti SC"/>
              <a:sym typeface="Songti SC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Songti SC"/>
                <a:ea typeface="Songti SC"/>
                <a:cs typeface="Songti SC"/>
                <a:sym typeface="Songti SC"/>
              </a:rPr>
              <a:t>首先来看大屏端，这是管理者的“决策舱”。我们以真实的果园航拍图为基础，将所有关键信息呈现在一屏之上。顶部是实时更新的核心KPI，地图上可以叠加各种风险热力层，侧边栏则展示着动态的经营数据。任何异常情况都会实时提醒，并且可以一键下钻查看详情。无论是向领导汇报，还是日常监控，大屏端都能让您真正做到一屏掌控全局。</a:t>
            </a:r>
            <a:endParaRPr lang="en-US" sz="1400" b="0" i="0" u="none" strike="noStrike">
              <a:solidFill>
                <a:srgbClr val="000000"/>
              </a:solidFill>
              <a:latin typeface="Songti SC"/>
              <a:ea typeface="Songti SC"/>
              <a:cs typeface="Songti SC"/>
              <a:sym typeface="Songti SC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Songti SC"/>
                <a:ea typeface="Songti SC"/>
                <a:cs typeface="Songti SC"/>
                <a:sym typeface="Songti SC"/>
              </a:rPr>
              <a:t>这是智慧果园企业管理驾驶舱的实际界面。可以看到，我们以真实的果园航拍图为基础，将所有关键经营信息叠加在一屏之上。顶部展示核心KPI指标，包括种植面积、设备在线率、预警数量等。左侧是预警列表和风险中心，右侧是实时趋势图表。管理者可以随时掌握全局，快速定位问题并做出决策。</a:t>
            </a:r>
            <a:endParaRPr lang="en-US" sz="1400" b="0" i="0" u="none" strike="noStrike">
              <a:solidFill>
                <a:srgbClr val="000000"/>
              </a:solidFill>
              <a:latin typeface="Songti SC"/>
              <a:ea typeface="Songti SC"/>
              <a:cs typeface="Songti SC"/>
              <a:sym typeface="Songti SC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Songti SC"/>
                <a:ea typeface="Songti SC"/>
                <a:cs typeface="Songti SC"/>
                <a:sym typeface="Songti SC"/>
              </a:rPr>
              <a:t>再来看移动端，这是我们产品的灵魂所在，因为它决定了数据采集的质量。我们深知一线员工的痛点，所以做到了“首屏即任务”，打开就是活。我们用“拍照”代替打字，核心操作不超过三步。即使在网络不好的地方，也能离线操作，数据绝不丢失。大字大按钮的设计，让员工戴着手套也能轻松使用。正是这种极致的易用性，保证了我们超过70%的一线使用率和80%以上的数据记录完整率。</a:t>
            </a:r>
            <a:endParaRPr lang="en-US" sz="1400" b="0" i="0" u="none" strike="noStrike">
              <a:solidFill>
                <a:srgbClr val="000000"/>
              </a:solidFill>
              <a:latin typeface="Songti SC"/>
              <a:ea typeface="Songti SC"/>
              <a:cs typeface="Songti SC"/>
              <a:sym typeface="Songti SC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Songti SC"/>
                <a:ea typeface="Songti SC"/>
                <a:cs typeface="Songti SC"/>
                <a:sym typeface="Songti SC"/>
              </a:rPr>
              <a:t>这是移动端的实际操作界面。可以看到，界面设计简洁直观，大字大按钮非常适合田间操作。首页直接展示今日待办任务，员工打开APP就能知道今天要做什么。核心操作只需三步：拍照、选择、提交，真正做到了零门槛。即使在弱网环境下，数据也不会丢失，确保生产记录的完整性。</a:t>
            </a:r>
            <a:endParaRPr lang="en-US" sz="1400" b="0" i="0" u="none" strike="noStrike">
              <a:solidFill>
                <a:srgbClr val="000000"/>
              </a:solidFill>
              <a:latin typeface="Songti SC"/>
              <a:ea typeface="Songti SC"/>
              <a:cs typeface="Songti SC"/>
              <a:sym typeface="Songti SC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我们的AI助手是一个24小时在线的智慧顾问。无论是深夜还是周末，员工都可以随时向它提问，或者拍下病虫害照片让它识别。这极大地提升了一线人员的专业能力和工作效率。同时，我们通过H5端将这种能力延伸到消费者。消费者扫描苹果上的二维码，就能看到一个完整的“数字果履历”，从开花到采摘，全程透明可追溯。这不仅是强大的营销工具，更是建立品牌信任、实现品牌溢价的关键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Songti SC"/>
                <a:ea typeface="Songti SC"/>
                <a:cs typeface="Songti SC"/>
                <a:sym typeface="Songti SC"/>
              </a:rPr>
              <a:t>这是AI助手的实际对话界面。用户可以通过文字或语音向AI助手提问，获取专业的种植指导。比如询问某个病虫害如何防治，或者当前物候期应该做什么农事操作，AI都能给出专业、准确的回答。此外，图像识别功能支持随手一拍，即刻诊断作物病害。它就像一位24小时在线的农业专家，随时为种植户答疑解惑。</a:t>
            </a:r>
            <a:endParaRPr lang="en-US" sz="1400" b="0" i="0" u="none" strike="noStrike">
              <a:solidFill>
                <a:srgbClr val="000000"/>
              </a:solidFill>
              <a:latin typeface="Songti SC"/>
              <a:ea typeface="Songti SC"/>
              <a:cs typeface="Songti SC"/>
              <a:sym typeface="Songti SC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作为整个系统的大脑，电脑端提供了全面的后台支撑。在这里，管理者可以进行企业管理、农事计划编排、农资管理、设备监控等一系列核心操作。我们还集成了预警中心、区块链溯源、模型中心等高级功能。可以说，电脑端是整个平台的指挥中心，为管理者提供了一个强大的工具，用于计划编排、审批决策和报表分析，真正做到运筹帷幄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Songti SC"/>
                <a:ea typeface="Songti SC"/>
                <a:cs typeface="Songti SC"/>
                <a:sym typeface="Songti SC"/>
              </a:rPr>
              <a:t>现在，让我们深入了解平台的“智慧大脑”——六大农业模型。这六个模型覆盖了从生长、气象、病虫害到物候期、产量预估和市场价格的全过程。它们相互关联，协同工作，为不同角色的用户提供精准的决策支持。例如，生长模型告诉我们现在该做什么，病虫害模型预警风险，而产量和价格模型则指导我们如何实现收益最大化。这些模型的应用，使我们的农事建议准确率提升超过70%，风险预警提前24小时，产量预估误差控制在8%以内。</a:t>
            </a:r>
            <a:endParaRPr lang="en-US" sz="1400" b="0" i="0" u="none" strike="noStrike">
              <a:solidFill>
                <a:srgbClr val="000000"/>
              </a:solidFill>
              <a:latin typeface="Songti SC"/>
              <a:ea typeface="Songti SC"/>
              <a:cs typeface="Songti SC"/>
              <a:sym typeface="Songti SC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我们先来看生长模型和物候期模型。生长模型通过分析积温、水肥等数据，能精准判断果树处于哪个生长阶段，并给出相应的农事建议。物候期模型则更进一步，它能预测未来关键农时，比如开花、套袋的精确时间窗口。这两个模型结合，就像给果园配备了一位经验丰富的农艺师，帮助我们精准把握生产节奏，不错过任何一个关键农时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接下来是气象和病虫害模型，它们是果园的“风险雷达”。我们的气象模型能提供分钟级的精准预报，并针对苹果种植生成专属的气象指数，比如锈病发生指数。病虫害模型则能结合气象和虫情数据，提前预测病虫害风险，并在地图上以热力图的形式展示，同时给出精准的防治建议。这两个模型能将风险预警提前24小时以上，帮助我们将损失降到最低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最后是产量预估和市场价格模型，它们是实现“以销定产”和利润最大化的关键。产量预估模型能在收获前几个月就精准预测产量，误差控制在8%以内，为销售计划提供可靠依据。市场价格模型则能预测未来的价格走势，帮助我们判断最佳的销售时机。这两个模型结合，让我们从被动的生产者，转变为主动的经营者，真正实现产销协同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空谈不如实证。我们的六大模型已经在多个客户那里取得了显著成效。农事建议准确率超过70%，风险预警提前24小时，产量预估误差在8%以内。更重要的是，这些模型实实在在地帮助客户减少了15%以上的化肥农药使用，提升了8%以上的特级果率。在陕西洛川，一个基地的病虫害损失降低了20%；在山东烟台，一个合作社的霜冻损失降低了30%。这些数据证明了我们技术的价值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除了内部管理，我们还利用前沿科技赋能品牌营销。通过区块链技术，我们为每一颗苹果建立了不可篡改的“数字身份证”。消费者扫码后，可以看到从种植到采收的全过程，包括区块链存证和权威质检报告。这带来了三大核心价值：提升品牌溢价、满足政策合规、丰富营销素材。一个透明、可信的品牌故事，是提升产品附加值的关键。</a:t>
            </a:r>
            <a:endParaRPr lang="en-US" sz="1400" b="0" i="0" u="none" strike="noStrike">
              <a:solidFill>
                <a:srgbClr val="00000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我们还引入了无人机进行高空AI巡检。管理者只需在电脑上规划好航线，无人机就能自动完成巡检任务。采集到的图像会由AI自动分析，发现缺苗、病害等异常情况，并立即推送到手机上。这种方式不仅实现了全园无死角覆盖，更将异常发现效率提升了80%以上，时间成本降低了60%。一个3000亩的基地，每周巡园时间从3天缩短到了4小时，效果非常显著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我们的农事管理模块，打通了从计划到执行的管理闭环。管理者在电脑端轻松编排计划，计划自动下发到一线员工的手机上。员工通过拍照完成记录，数据自动汇总生成报表。管理者再根据报表优化下一轮计划。这个闭环彻底解决了数据孤岛问题，确保了生产过程数据的完整采集，也让计划编排效率提升了60%以上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在农资管理方面，我们实现了从采购到使用的全链路精细化管理。从采购申请、审批、入库，到库存预警、领用和使用记录，每一个环节都在线上完成。我们的系统不仅能自动进行库存预警，还能检测异常用量，防止浪费。通过这套体系，我们帮助客户将库存准确率从行业平均的60%大幅提升到了95%以上，极大地提升了农资管理的效益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Songti SC"/>
                <a:ea typeface="Songti SC"/>
                <a:cs typeface="Songti SC"/>
                <a:sym typeface="Songti SC"/>
              </a:rPr>
              <a:t>我们的平台能够整合管理七大类智能设备，包括气象站、土壤传感器、水肥一体机等。通过统一的设备管理界面，您可以远程控制设备、实时监控状态、查看历史数据曲线，并记录设备的全生命周期维保信息。这实现了对所有硬件的统一监控与运维，让复杂的设备管理变得简单高效。</a:t>
            </a:r>
            <a:endParaRPr lang="en-US" sz="1400" b="0" i="0" u="none" strike="noStrike">
              <a:solidFill>
                <a:srgbClr val="000000"/>
              </a:solidFill>
              <a:latin typeface="Songti SC"/>
              <a:ea typeface="Songti SC"/>
              <a:cs typeface="Songti SC"/>
              <a:sym typeface="Songti SC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Songti SC"/>
                <a:ea typeface="Songti SC"/>
                <a:cs typeface="Songti SC"/>
                <a:sym typeface="Songti SC"/>
              </a:rPr>
              <a:t>这是设备管理的实际操作界面。系统支持接入七大类智能设备，包括气象站、土壤传感器、虫情测报灯、监控设备、水肥一体机、工控设备和无人机。在设备列表中，可以清晰看到每台设备的在线状态、实时数据和运行情况。管理者可以远程监控设备运行、查看历史数据曲线，并管理设备的全生命周期维保信息。</a:t>
            </a:r>
            <a:endParaRPr lang="en-US" sz="1400" b="0" i="0" u="none" strike="noStrike">
              <a:solidFill>
                <a:srgbClr val="000000"/>
              </a:solidFill>
              <a:latin typeface="Songti SC"/>
              <a:ea typeface="Songti SC"/>
              <a:cs typeface="Songti SC"/>
              <a:sym typeface="Songti SC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在营销创新方面，我们推出了“云认养”功能。消费者可以在线认养一棵果树，实时观看它的成长过程，甚至参与农事互动。这不仅能帮助您提前锁定销售、快速回笼资金，还能极大地增强用户粘性，形成口碑传播。更重要的是，认养价格通常可以比市场价高出30%到50%，实现显著的品牌溢价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Songti SC"/>
                <a:ea typeface="Songti SC"/>
                <a:cs typeface="Songti SC"/>
                <a:sym typeface="Songti SC"/>
              </a:rPr>
              <a:t>这是云认养功能的消费者端界面。消费者可以在这里浏览并挑选心仪的果树进行认养，查看果树的生长照片和视频直播。认养成功后，会获得独一无二的数字认养证书，方便分享到社交平台。果实成熟后，系统会安排新鲜果实直接配送到家。这个功能不仅帮助农场提前锁定销售，还通过情感连接大幅提升了用户粘性和品牌溢价。</a:t>
            </a:r>
            <a:endParaRPr lang="en-US" sz="1400" b="0" i="0" u="none" strike="noStrike">
              <a:solidFill>
                <a:srgbClr val="000000"/>
              </a:solidFill>
              <a:latin typeface="Songti SC"/>
              <a:ea typeface="Songti SC"/>
              <a:cs typeface="Songti SC"/>
              <a:sym typeface="Songti SC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Songti SC"/>
                <a:ea typeface="Songti SC"/>
                <a:cs typeface="Songti SC"/>
                <a:sym typeface="Songti SC"/>
              </a:rPr>
              <a:t>总结一下，我们的平台为客户带来了全面的业务改善。农事排程时间减少了75%，农资库存准确率提升了58%，预警响应时间更是提升了超过90%。我们实现了精准的产量预测，将农事记录完整率提升了167%，并通过数据驱动将农事建议准确率提升到70%以上。最终，这些改善都转化为了实实在在的品牌溢价。每一项指标的改善，都直接回应了我们最初发现的行业痛点。</a:t>
            </a:r>
            <a:endParaRPr lang="en-US" sz="1400" b="0" i="0" u="none" strike="noStrike">
              <a:solidFill>
                <a:srgbClr val="000000"/>
              </a:solidFill>
              <a:latin typeface="Songti SC"/>
              <a:ea typeface="Songti SC"/>
              <a:cs typeface="Songti SC"/>
              <a:sym typeface="Songti SC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那么，这样一套系统的投入产出如何呢？我们进行了详细的投资回报分析。投入主要包括系统部署、设备接入、培训和维护成本。而产出则体现在三个方面：成本节约、收益提升和效率提升。综合测算，我们的客户平均可以在18到24个月内收回投资，年化投资回报率可达40%到60%。这是一个非常值得的投资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听听我们客户的声音。无论是集团负责人、基地管理者还是合作社理事长，都对我们的产品给予了高度评价。这证明了我们的产品是真正解决问题的。同时，我们不会停下脚步。这是我们未来的产品路线图，我们将支持更多水果品种，推出碳足迹核算和数字孪生功能，并对接金融保险服务。我们将持续进化，为客户创造更大的价值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我们提供灵活的合作模式，以满足不同规模客户的需求。从适合起步阶段的基础版，到企业级首选的专业版，再到为大型集团定制的旗舰版，我们都有相应的解决方案。无论您选择哪个版本，我们都提供7x24小时的技术支持、定期的版本更新、完善的数据安全保障以及专业的培训服务。我们期待与您携手共赢。</a:t>
            </a:r>
            <a:endParaRPr lang="en-US" sz="1400" b="0" i="0" u="none" strike="noStrike">
              <a:solidFill>
                <a:srgbClr val="00000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我的分享到此结束。智慧果园的时代已经到来，这是一个千亿级的蓝海市场。现在就行动起来，抢占先机。您可以通过屏幕上的联系方式与我们取得联系，或者直接扫描二维码，添加我们的商务顾问，获取专属的定制方案。再次感谢大家的聆听，希望我们的平台能真正帮助您实现更省心、更科学、更赚钱的苹果种植。谢谢！</a:t>
            </a:r>
            <a:endParaRPr lang="en-US" sz="1400" b="0" i="0" u="none" strike="noStrike">
              <a:solidFill>
                <a:srgbClr val="00000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我的介绍到此结束，非常感谢大家的聆听。我们坚信，科技是推动农业发展的核心动力。期待能有机会与您携手，共同开启智慧农业的新篇章。谢谢大家！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matchingName="标题幻灯片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hape 30"/>
          <p:cNvSpPr txBox="1"/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 panose="020B0604020202020204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3" name="Shape 31"/>
          <p:cNvSpPr txBox="1"/>
          <p:nvPr>
            <p:ph type="subTitle" idx="1"/>
          </p:nvPr>
        </p:nvSpPr>
        <p:spPr>
          <a:xfrm>
            <a:off x="1143000" y="2701528"/>
            <a:ext cx="6858000" cy="12418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sp>
        <p:nvSpPr>
          <p:cNvPr id="14" name="Shape 32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5" name="Shape 33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6" name="Shape 34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matchingName="标题和内容">
  <p:cSld name="OBJECT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hape 54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9" name="Shape 55"/>
          <p:cNvSpPr txBox="1"/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20" name="Shape 56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1" name="Shape 57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2" name="Shape 58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matchingName="节标题">
  <p:cSld name="SECTION_HEADER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Shape 59"/>
          <p:cNvSpPr txBox="1"/>
          <p:nvPr>
            <p:ph type="title"/>
          </p:nvPr>
        </p:nvSpPr>
        <p:spPr>
          <a:xfrm>
            <a:off x="623888" y="1282304"/>
            <a:ext cx="7886700" cy="2139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 panose="020B0604020202020204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5" name="Shape 60"/>
          <p:cNvSpPr txBox="1"/>
          <p:nvPr>
            <p:ph type="body" idx="1"/>
          </p:nvPr>
        </p:nvSpPr>
        <p:spPr>
          <a:xfrm>
            <a:off x="623888" y="3442097"/>
            <a:ext cx="7886700" cy="11251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 sz="15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6" name="Shape 61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7" name="Shape 62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8" name="Shape 63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matchingName="两栏内容">
  <p:cSld name="TWO_OBJECTS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Shape 9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1" name="Shape 10"/>
          <p:cNvSpPr txBox="1"/>
          <p:nvPr>
            <p:ph type="body" idx="1"/>
          </p:nvPr>
        </p:nvSpPr>
        <p:spPr>
          <a:xfrm>
            <a:off x="6286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2" name="Shape 11"/>
          <p:cNvSpPr txBox="1"/>
          <p:nvPr>
            <p:ph type="body" idx="2"/>
          </p:nvPr>
        </p:nvSpPr>
        <p:spPr>
          <a:xfrm>
            <a:off x="46291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3" name="Shape 12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4" name="Shape 13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5" name="Shape 14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matchingName="比较">
  <p:cSld name="TWO_OBJECTS_WITH_TEXT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Shape 35"/>
          <p:cNvSpPr txBox="1"/>
          <p:nvPr>
            <p:ph type="title"/>
          </p:nvPr>
        </p:nvSpPr>
        <p:spPr>
          <a:xfrm>
            <a:off x="629841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8" name="Shape 36"/>
          <p:cNvSpPr txBox="1"/>
          <p:nvPr>
            <p:ph type="body" idx="1"/>
          </p:nvPr>
        </p:nvSpPr>
        <p:spPr>
          <a:xfrm>
            <a:off x="629841" y="1260872"/>
            <a:ext cx="3868340" cy="61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/>
        </p:txBody>
      </p:sp>
      <p:sp>
        <p:nvSpPr>
          <p:cNvPr id="39" name="Shape 37"/>
          <p:cNvSpPr txBox="1"/>
          <p:nvPr>
            <p:ph type="body" idx="2"/>
          </p:nvPr>
        </p:nvSpPr>
        <p:spPr>
          <a:xfrm>
            <a:off x="629841" y="1878806"/>
            <a:ext cx="3868340" cy="2763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40" name="Shape 38"/>
          <p:cNvSpPr txBox="1"/>
          <p:nvPr>
            <p:ph type="body" idx="3"/>
          </p:nvPr>
        </p:nvSpPr>
        <p:spPr>
          <a:xfrm>
            <a:off x="4629150" y="1260872"/>
            <a:ext cx="3887391" cy="61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/>
        </p:txBody>
      </p:sp>
      <p:sp>
        <p:nvSpPr>
          <p:cNvPr id="41" name="Shape 39"/>
          <p:cNvSpPr txBox="1"/>
          <p:nvPr>
            <p:ph type="body" idx="4"/>
          </p:nvPr>
        </p:nvSpPr>
        <p:spPr>
          <a:xfrm>
            <a:off x="4629150" y="1878806"/>
            <a:ext cx="3887391" cy="2763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42" name="Shape 40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3" name="Shape 41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4" name="Shape 42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matchingName="仅标题">
  <p:cSld name="TITLE_ONLY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Shape 20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7" name="Shape 21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8" name="Shape 22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9" name="Shape 23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matchingName="空白">
  <p:cSld name="BLANK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Shape 6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2" name="Shape 7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3" name="Shape 8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matchingName="内容与标题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Shape 43"/>
          <p:cNvSpPr txBox="1"/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 panose="020B0604020202020204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6" name="Shape 44"/>
          <p:cNvSpPr txBox="1"/>
          <p:nvPr>
            <p:ph type="body" idx="1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619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2pPr>
            <a:lvl3pPr marL="1371600" lvl="2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marL="2286000" lvl="4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marL="2743200" lvl="5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marL="3200400" lvl="6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marL="3657600" lvl="7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marL="4114800" lvl="8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/>
        </p:txBody>
      </p:sp>
      <p:sp>
        <p:nvSpPr>
          <p:cNvPr id="57" name="Shape 45"/>
          <p:cNvSpPr txBox="1"/>
          <p:nvPr>
            <p:ph type="body" idx="2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/>
        </p:txBody>
      </p:sp>
      <p:sp>
        <p:nvSpPr>
          <p:cNvPr id="58" name="Shape 46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9" name="Shape 47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0" name="Shape 48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matchingName="图片与标题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Shape 24"/>
          <p:cNvSpPr txBox="1"/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 panose="020B0604020202020204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3" name="Shape 25"/>
          <p:cNvSpPr/>
          <p:nvPr>
            <p:ph type="pic" idx="2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Shape 26"/>
          <p:cNvSpPr txBox="1"/>
          <p:nvPr>
            <p:ph type="body" idx="1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/>
        </p:txBody>
      </p:sp>
      <p:sp>
        <p:nvSpPr>
          <p:cNvPr id="65" name="Shape 27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6" name="Shape 28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7" name="Shape 29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matchingName="标题和竖排文字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Shape 49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0" name="Shape 50"/>
          <p:cNvSpPr txBox="1"/>
          <p:nvPr>
            <p:ph type="body" idx="1"/>
          </p:nvPr>
        </p:nvSpPr>
        <p:spPr>
          <a:xfrm rot="5400000">
            <a:off x="2940248" y="-942379"/>
            <a:ext cx="3263504" cy="78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71" name="Shape 51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2" name="Shape 52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3" name="Shape 53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matchingName="竖排标题与文本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Shape 15"/>
          <p:cNvSpPr txBox="1"/>
          <p:nvPr>
            <p:ph type="title"/>
          </p:nvPr>
        </p:nvSpPr>
        <p:spPr>
          <a:xfrm rot="5400000">
            <a:off x="5350073" y="1467445"/>
            <a:ext cx="4358879" cy="1971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6" name="Shape 16"/>
          <p:cNvSpPr txBox="1"/>
          <p:nvPr>
            <p:ph type="body" idx="1"/>
          </p:nvPr>
        </p:nvSpPr>
        <p:spPr>
          <a:xfrm rot="5400000">
            <a:off x="1349573" y="-447080"/>
            <a:ext cx="4358879" cy="5800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77" name="Shape 17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8" name="Shape 18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9" name="Shape 19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</p:spPr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</p:spPr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</p:spPr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</p:spPr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</p:spPr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</p:spPr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</p:spPr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</p:spPr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slideLayout" Target="../slideLayouts/slideLayout14.xml"/><Relationship Id="rId3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slideLayout" Target="../slideLayouts/slideLayout16.xml"/><Relationship Id="rId3" Type="http://schemas.openxmlformats.org/officeDocument/2006/relationships/theme" Target="../theme/theme4.xml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theme" Target="../theme/theme5.xml"/></Relationships>
</file>

<file path=ppt/slideMasters/_rels/slideMaster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slideLayout" Target="../slideLayouts/slideLayout19.xml"/><Relationship Id="rId3" Type="http://schemas.openxmlformats.org/officeDocument/2006/relationships/theme" Target="../theme/theme6.xml"/></Relationships>
</file>

<file path=ppt/slideMasters/_rels/slideMaster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slideLayout" Target="../slideLayouts/slideLayout21.xml"/><Relationship Id="rId3" Type="http://schemas.openxmlformats.org/officeDocument/2006/relationships/theme" Target="../theme/theme7.xml"/></Relationships>
</file>

<file path=ppt/slideMasters/_rels/slideMaster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slideLayout" Target="../slideLayouts/slideLayout23.xml"/><Relationship Id="rId3" Type="http://schemas.openxmlformats.org/officeDocument/2006/relationships/theme" Target="../theme/theme8.xml"/></Relationships>
</file>

<file path=ppt/slideMasters/_rels/slideMaster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slideLayout" Target="../slideLayouts/slideLayout25.xml"/><Relationship Id="rId3" Type="http://schemas.openxmlformats.org/officeDocument/2006/relationships/theme" Target="../theme/theme9.xml"/></Relationships>
</file>

<file path=ppt/slideMasters/_rels/slideMaster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slideLayout" Target="../slideLayouts/slideLayout27.xml"/><Relationship Id="rId3" Type="http://schemas.openxmlformats.org/officeDocument/2006/relationships/theme" Target="../theme/theme10.xml"/></Relationships>
</file>

<file path=ppt/slideMasters/_rels/slideMaster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slideLayout" Target="../slideLayouts/slideLayout29.xml"/><Relationship Id="rId3" Type="http://schemas.openxmlformats.org/officeDocument/2006/relationships/theme" Target="../theme/theme1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1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ial" panose="020B0604020202020204"/>
              <a:buNone/>
              <a:defRPr sz="33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7" name="Shape 2"/>
          <p:cNvSpPr txBox="1"/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36195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 panose="020B0604020202020204"/>
              <a:buChar char="•"/>
              <a:defRPr sz="21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1371600" marR="0" lvl="2" indent="-3238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 panose="020B0604020202020204"/>
              <a:buChar char="•"/>
              <a:defRPr sz="15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/>
        </p:txBody>
      </p:sp>
      <p:sp>
        <p:nvSpPr>
          <p:cNvPr id="8" name="Shape 3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/>
        </p:txBody>
      </p:sp>
      <p:sp>
        <p:nvSpPr>
          <p:cNvPr id="9" name="Shape 4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100"/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/>
        </p:txBody>
      </p:sp>
      <p:sp>
        <p:nvSpPr>
          <p:cNvPr id="10" name="Shape 5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0" marR="0" lvl="1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0" marR="0" lvl="2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0" marR="0" lvl="3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0" marR="0" lvl="4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0" marR="0" lvl="5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0" marR="0" lvl="6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0" marR="0" lvl="7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0" marR="0" lvl="8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63" r:id="rId1"/>
    <p:sldLayoutId id="2147483664" r:id="rId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66" r:id="rId1"/>
    <p:sldLayoutId id="2147483667" r:id="rId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69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71" r:id="rId1"/>
    <p:sldLayoutId id="2147483672" r:id="rId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74" r:id="rId1"/>
    <p:sldLayoutId id="2147483675" r:id="rId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77" r:id="rId1"/>
    <p:sldLayoutId id="2147483678" r:id="rId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80" r:id="rId1"/>
    <p:sldLayoutId id="2147483681" r:id="rId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83" r:id="rId1"/>
    <p:sldLayoutId id="2147483684" r:id="rId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Masters/slideMaster1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86" r:id="rId1"/>
    <p:sldLayoutId id="2147483687" r:id="rId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2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tags" Target="../tags/tag1.xml"/><Relationship Id="rId2" Type="http://schemas.openxmlformats.org/officeDocument/2006/relationships/tags" Target="../tags/tag2.xml"/><Relationship Id="rId3" Type="http://schemas.openxmlformats.org/officeDocument/2006/relationships/tags" Target="../tags/tag3.xml"/><Relationship Id="rId4" Type="http://schemas.openxmlformats.org/officeDocument/2006/relationships/image" Target="../media/image2.png"/><Relationship Id="rId5" Type="http://schemas.openxmlformats.org/officeDocument/2006/relationships/tags" Target="../tags/tag4.xml"/><Relationship Id="rId6" Type="http://schemas.openxmlformats.org/officeDocument/2006/relationships/tags" Target="../tags/tag5.xml"/><Relationship Id="rId7" Type="http://schemas.openxmlformats.org/officeDocument/2006/relationships/tags" Target="../tags/tag6.xml"/><Relationship Id="rId8" Type="http://schemas.openxmlformats.org/officeDocument/2006/relationships/tags" Target="../tags/tag7.xml"/><Relationship Id="rId9" Type="http://schemas.openxmlformats.org/officeDocument/2006/relationships/image" Target="../media/image3.png"/><Relationship Id="rId10" Type="http://schemas.openxmlformats.org/officeDocument/2006/relationships/tags" Target="../tags/tag8.xml"/><Relationship Id="rId11" Type="http://schemas.openxmlformats.org/officeDocument/2006/relationships/tags" Target="../tags/tag9.xml"/><Relationship Id="rId12" Type="http://schemas.openxmlformats.org/officeDocument/2006/relationships/tags" Target="../tags/tag10.xml"/><Relationship Id="rId13" Type="http://schemas.openxmlformats.org/officeDocument/2006/relationships/tags" Target="../tags/tag11.xml"/><Relationship Id="rId14" Type="http://schemas.openxmlformats.org/officeDocument/2006/relationships/image" Target="../media/image4.png"/><Relationship Id="rId15" Type="http://schemas.openxmlformats.org/officeDocument/2006/relationships/tags" Target="../tags/tag12.xml"/><Relationship Id="rId16" Type="http://schemas.openxmlformats.org/officeDocument/2006/relationships/tags" Target="../tags/tag13.xml"/><Relationship Id="rId17" Type="http://schemas.openxmlformats.org/officeDocument/2006/relationships/tags" Target="../tags/tag14.xml"/><Relationship Id="rId18" Type="http://schemas.openxmlformats.org/officeDocument/2006/relationships/tags" Target="../tags/tag15.xml"/><Relationship Id="rId19" Type="http://schemas.openxmlformats.org/officeDocument/2006/relationships/image" Target="../media/image5.png"/><Relationship Id="rId20" Type="http://schemas.openxmlformats.org/officeDocument/2006/relationships/tags" Target="../tags/tag16.xml"/><Relationship Id="rId21" Type="http://schemas.openxmlformats.org/officeDocument/2006/relationships/tags" Target="../tags/tag17.xml"/><Relationship Id="rId22" Type="http://schemas.openxmlformats.org/officeDocument/2006/relationships/tags" Target="../tags/tag18.xml"/><Relationship Id="rId23" Type="http://schemas.openxmlformats.org/officeDocument/2006/relationships/tags" Target="../tags/tag19.xml"/><Relationship Id="rId24" Type="http://schemas.openxmlformats.org/officeDocument/2006/relationships/image" Target="../media/image6.png"/><Relationship Id="rId25" Type="http://schemas.openxmlformats.org/officeDocument/2006/relationships/tags" Target="../tags/tag20.xml"/><Relationship Id="rId26" Type="http://schemas.openxmlformats.org/officeDocument/2006/relationships/tags" Target="../tags/tag21.xml"/><Relationship Id="rId27" Type="http://schemas.openxmlformats.org/officeDocument/2006/relationships/tags" Target="../tags/tag22.xml"/><Relationship Id="rId28" Type="http://schemas.openxmlformats.org/officeDocument/2006/relationships/tags" Target="../tags/tag23.xml"/><Relationship Id="rId29" Type="http://schemas.openxmlformats.org/officeDocument/2006/relationships/image" Target="../media/image7.png"/><Relationship Id="rId30" Type="http://schemas.openxmlformats.org/officeDocument/2006/relationships/tags" Target="../tags/tag24.xml"/><Relationship Id="rId31" Type="http://schemas.openxmlformats.org/officeDocument/2006/relationships/tags" Target="../tags/tag25.xml"/><Relationship Id="rId32" Type="http://schemas.openxmlformats.org/officeDocument/2006/relationships/tags" Target="../tags/tag26.xml"/><Relationship Id="rId33" Type="http://schemas.openxmlformats.org/officeDocument/2006/relationships/tags" Target="../tags/tag27.xml"/><Relationship Id="rId34" Type="http://schemas.openxmlformats.org/officeDocument/2006/relationships/image" Target="../media/image8.png"/><Relationship Id="rId35" Type="http://schemas.openxmlformats.org/officeDocument/2006/relationships/tags" Target="../tags/tag28.xml"/><Relationship Id="rId36" Type="http://schemas.openxmlformats.org/officeDocument/2006/relationships/tags" Target="../tags/tag29.xml"/><Relationship Id="rId37" Type="http://schemas.openxmlformats.org/officeDocument/2006/relationships/tags" Target="../tags/tag30.xml"/><Relationship Id="rId38" Type="http://schemas.openxmlformats.org/officeDocument/2006/relationships/tags" Target="../tags/tag31.xml"/><Relationship Id="rId39" Type="http://schemas.openxmlformats.org/officeDocument/2006/relationships/image" Target="../media/image9.png"/><Relationship Id="rId40" Type="http://schemas.openxmlformats.org/officeDocument/2006/relationships/tags" Target="../tags/tag32.xml"/><Relationship Id="rId41" Type="http://schemas.openxmlformats.org/officeDocument/2006/relationships/tags" Target="../tags/tag33.xml"/><Relationship Id="rId42" Type="http://schemas.openxmlformats.org/officeDocument/2006/relationships/slideLayout" Target="../slideLayouts/slideLayout12.xml"/><Relationship Id="rId4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image" Target="../media/image11.svg"/><Relationship Id="rId3" Type="http://schemas.openxmlformats.org/officeDocument/2006/relationships/image" Target="../media/image12.png"/><Relationship Id="rId4" Type="http://schemas.openxmlformats.org/officeDocument/2006/relationships/image" Target="../media/image13.svg"/><Relationship Id="rId5" Type="http://schemas.openxmlformats.org/officeDocument/2006/relationships/image" Target="../media/image14.png"/><Relationship Id="rId6" Type="http://schemas.openxmlformats.org/officeDocument/2006/relationships/image" Target="../media/image15.svg"/><Relationship Id="rId7" Type="http://schemas.openxmlformats.org/officeDocument/2006/relationships/image" Target="../media/image16.png"/><Relationship Id="rId8" Type="http://schemas.openxmlformats.org/officeDocument/2006/relationships/image" Target="../media/image17.svg"/><Relationship Id="rId9" Type="http://schemas.openxmlformats.org/officeDocument/2006/relationships/image" Target="../media/image18.png"/><Relationship Id="rId10" Type="http://schemas.openxmlformats.org/officeDocument/2006/relationships/image" Target="../media/image19.svg"/><Relationship Id="rId11" Type="http://schemas.openxmlformats.org/officeDocument/2006/relationships/slideLayout" Target="../slideLayouts/slideLayout12.xml"/><Relationship Id="rId1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20.png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Relationship Id="rId5" Type="http://schemas.openxmlformats.org/officeDocument/2006/relationships/image" Target="../media/image24.png"/><Relationship Id="rId6" Type="http://schemas.openxmlformats.org/officeDocument/2006/relationships/image" Target="../media/image25.png"/><Relationship Id="rId7" Type="http://schemas.openxmlformats.org/officeDocument/2006/relationships/image" Target="../media/image26.png"/><Relationship Id="rId8" Type="http://schemas.openxmlformats.org/officeDocument/2006/relationships/image" Target="../media/image27.png"/><Relationship Id="rId9" Type="http://schemas.openxmlformats.org/officeDocument/2006/relationships/image" Target="../media/image28.png"/><Relationship Id="rId10" Type="http://schemas.openxmlformats.org/officeDocument/2006/relationships/image" Target="../media/image29.png"/><Relationship Id="rId11" Type="http://schemas.openxmlformats.org/officeDocument/2006/relationships/slideLayout" Target="../slideLayouts/slideLayout12.xml"/><Relationship Id="rId1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30.png"/><Relationship Id="rId2" Type="http://schemas.openxmlformats.org/officeDocument/2006/relationships/image" Target="../media/image31.png"/><Relationship Id="rId3" Type="http://schemas.openxmlformats.org/officeDocument/2006/relationships/image" Target="../media/image32.png"/><Relationship Id="rId4" Type="http://schemas.openxmlformats.org/officeDocument/2006/relationships/image" Target="../media/image33.png"/><Relationship Id="rId5" Type="http://schemas.openxmlformats.org/officeDocument/2006/relationships/image" Target="../media/image34.png"/><Relationship Id="rId6" Type="http://schemas.openxmlformats.org/officeDocument/2006/relationships/image" Target="../media/image35.png"/><Relationship Id="rId7" Type="http://schemas.openxmlformats.org/officeDocument/2006/relationships/slideLayout" Target="../slideLayouts/slideLayout12.xml"/><Relationship Id="rId8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36.png"/><Relationship Id="rId2" Type="http://schemas.openxmlformats.org/officeDocument/2006/relationships/image" Target="../media/image37.png"/><Relationship Id="rId3" Type="http://schemas.openxmlformats.org/officeDocument/2006/relationships/image" Target="../media/image38.png"/><Relationship Id="rId4" Type="http://schemas.openxmlformats.org/officeDocument/2006/relationships/image" Target="../media/image39.png"/><Relationship Id="rId5" Type="http://schemas.openxmlformats.org/officeDocument/2006/relationships/slideLayout" Target="../slideLayouts/slideLayout12.xml"/><Relationship Id="rId6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40.png"/><Relationship Id="rId2" Type="http://schemas.openxmlformats.org/officeDocument/2006/relationships/image" Target="../media/image41.svg"/><Relationship Id="rId3" Type="http://schemas.openxmlformats.org/officeDocument/2006/relationships/image" Target="../media/image42.png"/><Relationship Id="rId4" Type="http://schemas.openxmlformats.org/officeDocument/2006/relationships/image" Target="../media/image43.svg"/><Relationship Id="rId5" Type="http://schemas.openxmlformats.org/officeDocument/2006/relationships/image" Target="../media/image44.png"/><Relationship Id="rId6" Type="http://schemas.openxmlformats.org/officeDocument/2006/relationships/image" Target="../media/image45.svg"/><Relationship Id="rId7" Type="http://schemas.openxmlformats.org/officeDocument/2006/relationships/image" Target="../media/image46.png"/><Relationship Id="rId8" Type="http://schemas.openxmlformats.org/officeDocument/2006/relationships/image" Target="../media/image47.svg"/><Relationship Id="rId9" Type="http://schemas.openxmlformats.org/officeDocument/2006/relationships/image" Target="../media/image48.png"/><Relationship Id="rId10" Type="http://schemas.openxmlformats.org/officeDocument/2006/relationships/image" Target="../media/image49.svg"/><Relationship Id="rId11" Type="http://schemas.openxmlformats.org/officeDocument/2006/relationships/image" Target="../media/image50.png"/><Relationship Id="rId12" Type="http://schemas.openxmlformats.org/officeDocument/2006/relationships/image" Target="../media/image51.svg"/><Relationship Id="rId13" Type="http://schemas.openxmlformats.org/officeDocument/2006/relationships/image" Target="../media/image52.png"/><Relationship Id="rId14" Type="http://schemas.openxmlformats.org/officeDocument/2006/relationships/image" Target="../media/image53.svg"/><Relationship Id="rId15" Type="http://schemas.openxmlformats.org/officeDocument/2006/relationships/image" Target="../media/image54.png"/><Relationship Id="rId16" Type="http://schemas.openxmlformats.org/officeDocument/2006/relationships/image" Target="../media/image55.svg"/><Relationship Id="rId17" Type="http://schemas.openxmlformats.org/officeDocument/2006/relationships/slideLayout" Target="../slideLayouts/slideLayout12.xml"/><Relationship Id="rId18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56.png"/><Relationship Id="rId2" Type="http://schemas.openxmlformats.org/officeDocument/2006/relationships/image" Target="../media/image57.png"/><Relationship Id="rId3" Type="http://schemas.openxmlformats.org/officeDocument/2006/relationships/image" Target="../media/image58.png"/><Relationship Id="rId4" Type="http://schemas.openxmlformats.org/officeDocument/2006/relationships/image" Target="../media/image59.png"/><Relationship Id="rId5" Type="http://schemas.openxmlformats.org/officeDocument/2006/relationships/image" Target="../media/image60.png"/><Relationship Id="rId6" Type="http://schemas.openxmlformats.org/officeDocument/2006/relationships/image" Target="../media/image61.png"/><Relationship Id="rId7" Type="http://schemas.openxmlformats.org/officeDocument/2006/relationships/slideLayout" Target="../slideLayouts/slideLayout12.xml"/><Relationship Id="rId8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62.png"/><Relationship Id="rId2" Type="http://schemas.openxmlformats.org/officeDocument/2006/relationships/image" Target="../media/image63.png"/><Relationship Id="rId3" Type="http://schemas.openxmlformats.org/officeDocument/2006/relationships/image" Target="../media/image64.png"/><Relationship Id="rId4" Type="http://schemas.openxmlformats.org/officeDocument/2006/relationships/image" Target="../media/image65.png"/><Relationship Id="rId5" Type="http://schemas.openxmlformats.org/officeDocument/2006/relationships/image" Target="../media/image66.png"/><Relationship Id="rId6" Type="http://schemas.openxmlformats.org/officeDocument/2006/relationships/image" Target="../media/image67.png"/><Relationship Id="rId7" Type="http://schemas.openxmlformats.org/officeDocument/2006/relationships/image" Target="../media/image68.png"/><Relationship Id="rId8" Type="http://schemas.openxmlformats.org/officeDocument/2006/relationships/image" Target="../media/image69.png"/><Relationship Id="rId9" Type="http://schemas.openxmlformats.org/officeDocument/2006/relationships/slideLayout" Target="../slideLayouts/slideLayout12.xml"/><Relationship Id="rId10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70.png"/><Relationship Id="rId2" Type="http://schemas.openxmlformats.org/officeDocument/2006/relationships/image" Target="../media/image71.png"/><Relationship Id="rId3" Type="http://schemas.openxmlformats.org/officeDocument/2006/relationships/image" Target="../media/image72.png"/><Relationship Id="rId4" Type="http://schemas.openxmlformats.org/officeDocument/2006/relationships/image" Target="../media/image73.png"/><Relationship Id="rId5" Type="http://schemas.openxmlformats.org/officeDocument/2006/relationships/slideLayout" Target="../slideLayouts/slideLayout13.xml"/><Relationship Id="rId6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74.png"/><Relationship Id="rId2" Type="http://schemas.openxmlformats.org/officeDocument/2006/relationships/image" Target="../media/image75.png"/><Relationship Id="rId3" Type="http://schemas.openxmlformats.org/officeDocument/2006/relationships/image" Target="../media/image76.png"/><Relationship Id="rId4" Type="http://schemas.openxmlformats.org/officeDocument/2006/relationships/image" Target="../media/image77.png"/><Relationship Id="rId5" Type="http://schemas.openxmlformats.org/officeDocument/2006/relationships/image" Target="../media/image61.png"/><Relationship Id="rId6" Type="http://schemas.openxmlformats.org/officeDocument/2006/relationships/image" Target="../media/image64.png"/><Relationship Id="rId7" Type="http://schemas.openxmlformats.org/officeDocument/2006/relationships/image" Target="../media/image78.png"/><Relationship Id="rId8" Type="http://schemas.openxmlformats.org/officeDocument/2006/relationships/image" Target="../media/image79.png"/><Relationship Id="rId9" Type="http://schemas.openxmlformats.org/officeDocument/2006/relationships/image" Target="../media/image80.png"/><Relationship Id="rId10" Type="http://schemas.openxmlformats.org/officeDocument/2006/relationships/slideLayout" Target="../slideLayouts/slideLayout12.xml"/><Relationship Id="rId11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81.png"/><Relationship Id="rId2" Type="http://schemas.openxmlformats.org/officeDocument/2006/relationships/image" Target="../media/image82.png"/><Relationship Id="rId3" Type="http://schemas.openxmlformats.org/officeDocument/2006/relationships/image" Target="../media/image83.png"/><Relationship Id="rId4" Type="http://schemas.openxmlformats.org/officeDocument/2006/relationships/image" Target="../media/image84.png"/><Relationship Id="rId5" Type="http://schemas.openxmlformats.org/officeDocument/2006/relationships/slideLayout" Target="../slideLayouts/slideLayout15.xml"/><Relationship Id="rId6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85.png"/><Relationship Id="rId2" Type="http://schemas.openxmlformats.org/officeDocument/2006/relationships/image" Target="../media/image86.svg"/><Relationship Id="rId3" Type="http://schemas.openxmlformats.org/officeDocument/2006/relationships/image" Target="../media/image87.png"/><Relationship Id="rId4" Type="http://schemas.openxmlformats.org/officeDocument/2006/relationships/image" Target="../media/image88.svg"/><Relationship Id="rId5" Type="http://schemas.openxmlformats.org/officeDocument/2006/relationships/image" Target="../media/image89.png"/><Relationship Id="rId6" Type="http://schemas.openxmlformats.org/officeDocument/2006/relationships/image" Target="../media/image90.svg"/><Relationship Id="rId7" Type="http://schemas.openxmlformats.org/officeDocument/2006/relationships/slideLayout" Target="../slideLayouts/slideLayout12.xml"/><Relationship Id="rId8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91.png"/><Relationship Id="rId2" Type="http://schemas.openxmlformats.org/officeDocument/2006/relationships/image" Target="../media/image92.png"/><Relationship Id="rId3" Type="http://schemas.openxmlformats.org/officeDocument/2006/relationships/image" Target="../media/image93.png"/><Relationship Id="rId4" Type="http://schemas.openxmlformats.org/officeDocument/2006/relationships/image" Target="../media/image94.png"/><Relationship Id="rId5" Type="http://schemas.openxmlformats.org/officeDocument/2006/relationships/slideLayout" Target="../slideLayouts/slideLayout17.xml"/><Relationship Id="rId6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95.png"/><Relationship Id="rId2" Type="http://schemas.openxmlformats.org/officeDocument/2006/relationships/image" Target="../media/image96.png"/><Relationship Id="rId3" Type="http://schemas.openxmlformats.org/officeDocument/2006/relationships/image" Target="../media/image97.png"/><Relationship Id="rId4" Type="http://schemas.openxmlformats.org/officeDocument/2006/relationships/image" Target="../media/image98.png"/><Relationship Id="rId5" Type="http://schemas.openxmlformats.org/officeDocument/2006/relationships/image" Target="../media/image99.png"/><Relationship Id="rId6" Type="http://schemas.openxmlformats.org/officeDocument/2006/relationships/image" Target="../media/image100.png"/><Relationship Id="rId7" Type="http://schemas.openxmlformats.org/officeDocument/2006/relationships/slideLayout" Target="../slideLayouts/slideLayout12.xml"/><Relationship Id="rId8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101.png"/><Relationship Id="rId2" Type="http://schemas.openxmlformats.org/officeDocument/2006/relationships/image" Target="../media/image102.png"/><Relationship Id="rId3" Type="http://schemas.openxmlformats.org/officeDocument/2006/relationships/image" Target="../media/image103.png"/><Relationship Id="rId4" Type="http://schemas.openxmlformats.org/officeDocument/2006/relationships/image" Target="../media/image104.png"/><Relationship Id="rId5" Type="http://schemas.openxmlformats.org/officeDocument/2006/relationships/image" Target="../media/image105.png"/><Relationship Id="rId6" Type="http://schemas.openxmlformats.org/officeDocument/2006/relationships/image" Target="../media/image106.png"/><Relationship Id="rId7" Type="http://schemas.openxmlformats.org/officeDocument/2006/relationships/image" Target="../media/image107.png"/><Relationship Id="rId8" Type="http://schemas.openxmlformats.org/officeDocument/2006/relationships/image" Target="../media/image108.png"/><Relationship Id="rId9" Type="http://schemas.openxmlformats.org/officeDocument/2006/relationships/image" Target="../media/image109.png"/><Relationship Id="rId10" Type="http://schemas.openxmlformats.org/officeDocument/2006/relationships/slideLayout" Target="../slideLayouts/slideLayout19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110.png"/><Relationship Id="rId2" Type="http://schemas.openxmlformats.org/officeDocument/2006/relationships/image" Target="../media/image111.svg"/><Relationship Id="rId3" Type="http://schemas.openxmlformats.org/officeDocument/2006/relationships/image" Target="../media/image112.png"/><Relationship Id="rId4" Type="http://schemas.openxmlformats.org/officeDocument/2006/relationships/image" Target="../media/image113.svg"/><Relationship Id="rId5" Type="http://schemas.openxmlformats.org/officeDocument/2006/relationships/image" Target="../media/image114.png"/><Relationship Id="rId6" Type="http://schemas.openxmlformats.org/officeDocument/2006/relationships/image" Target="../media/image115.svg"/><Relationship Id="rId7" Type="http://schemas.openxmlformats.org/officeDocument/2006/relationships/slideLayout" Target="../slideLayouts/slideLayout12.xml"/><Relationship Id="rId8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116.png"/><Relationship Id="rId2" Type="http://schemas.openxmlformats.org/officeDocument/2006/relationships/image" Target="../media/image117.png"/><Relationship Id="rId3" Type="http://schemas.openxmlformats.org/officeDocument/2006/relationships/image" Target="../media/image118.png"/><Relationship Id="rId4" Type="http://schemas.openxmlformats.org/officeDocument/2006/relationships/image" Target="../media/image119.png"/><Relationship Id="rId5" Type="http://schemas.openxmlformats.org/officeDocument/2006/relationships/image" Target="../media/image120.png"/><Relationship Id="rId6" Type="http://schemas.openxmlformats.org/officeDocument/2006/relationships/image" Target="../media/image121.png"/><Relationship Id="rId7" Type="http://schemas.openxmlformats.org/officeDocument/2006/relationships/image" Target="../media/image122.png"/><Relationship Id="rId8" Type="http://schemas.openxmlformats.org/officeDocument/2006/relationships/image" Target="../media/image123.png"/><Relationship Id="rId9" Type="http://schemas.openxmlformats.org/officeDocument/2006/relationships/slideLayout" Target="../slideLayouts/slideLayout2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image" Target="../media/image64.png"/><Relationship Id="rId2" Type="http://schemas.openxmlformats.org/officeDocument/2006/relationships/image" Target="../media/image41.svg"/><Relationship Id="rId3" Type="http://schemas.openxmlformats.org/officeDocument/2006/relationships/image" Target="../media/image124.png"/><Relationship Id="rId4" Type="http://schemas.openxmlformats.org/officeDocument/2006/relationships/image" Target="../media/image125.svg"/><Relationship Id="rId5" Type="http://schemas.openxmlformats.org/officeDocument/2006/relationships/image" Target="../media/image126.png"/><Relationship Id="rId6" Type="http://schemas.openxmlformats.org/officeDocument/2006/relationships/image" Target="../media/image127.svg"/><Relationship Id="rId7" Type="http://schemas.openxmlformats.org/officeDocument/2006/relationships/image" Target="../media/image128.png"/><Relationship Id="rId8" Type="http://schemas.openxmlformats.org/officeDocument/2006/relationships/image" Target="../media/image129.svg"/><Relationship Id="rId9" Type="http://schemas.openxmlformats.org/officeDocument/2006/relationships/slideLayout" Target="../slideLayouts/slideLayout12.xml"/><Relationship Id="rId10" Type="http://schemas.openxmlformats.org/officeDocument/2006/relationships/notesSlide" Target="../notesSlides/notesSlide1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image" Target="../media/image130.png"/><Relationship Id="rId2" Type="http://schemas.openxmlformats.org/officeDocument/2006/relationships/image" Target="../media/image131.svg"/><Relationship Id="rId3" Type="http://schemas.openxmlformats.org/officeDocument/2006/relationships/image" Target="../media/image132.png"/><Relationship Id="rId4" Type="http://schemas.openxmlformats.org/officeDocument/2006/relationships/image" Target="../media/image133.svg"/><Relationship Id="rId5" Type="http://schemas.openxmlformats.org/officeDocument/2006/relationships/image" Target="../media/image134.png"/><Relationship Id="rId6" Type="http://schemas.openxmlformats.org/officeDocument/2006/relationships/image" Target="../media/image135.svg"/><Relationship Id="rId7" Type="http://schemas.openxmlformats.org/officeDocument/2006/relationships/image" Target="../media/image136.png"/><Relationship Id="rId8" Type="http://schemas.openxmlformats.org/officeDocument/2006/relationships/image" Target="../media/image137.svg"/><Relationship Id="rId9" Type="http://schemas.openxmlformats.org/officeDocument/2006/relationships/slideLayout" Target="../slideLayouts/slideLayout12.xml"/><Relationship Id="rId10" Type="http://schemas.openxmlformats.org/officeDocument/2006/relationships/notesSlide" Target="../notesSlides/notesSlide1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image" Target="../media/image80.png"/><Relationship Id="rId2" Type="http://schemas.openxmlformats.org/officeDocument/2006/relationships/image" Target="../media/image138.svg"/><Relationship Id="rId3" Type="http://schemas.openxmlformats.org/officeDocument/2006/relationships/image" Target="../media/image139.png"/><Relationship Id="rId4" Type="http://schemas.openxmlformats.org/officeDocument/2006/relationships/image" Target="../media/image140.svg"/><Relationship Id="rId5" Type="http://schemas.openxmlformats.org/officeDocument/2006/relationships/image" Target="../media/image64.png"/><Relationship Id="rId6" Type="http://schemas.openxmlformats.org/officeDocument/2006/relationships/image" Target="../media/image41.svg"/><Relationship Id="rId7" Type="http://schemas.openxmlformats.org/officeDocument/2006/relationships/image" Target="../media/image141.png"/><Relationship Id="rId8" Type="http://schemas.openxmlformats.org/officeDocument/2006/relationships/image" Target="../media/image142.svg"/><Relationship Id="rId9" Type="http://schemas.openxmlformats.org/officeDocument/2006/relationships/image" Target="../media/image143.png"/><Relationship Id="rId10" Type="http://schemas.openxmlformats.org/officeDocument/2006/relationships/image" Target="../media/image11.svg"/><Relationship Id="rId11" Type="http://schemas.openxmlformats.org/officeDocument/2006/relationships/image" Target="../media/image144.png"/><Relationship Id="rId12" Type="http://schemas.openxmlformats.org/officeDocument/2006/relationships/image" Target="../media/image145.svg"/><Relationship Id="rId13" Type="http://schemas.openxmlformats.org/officeDocument/2006/relationships/image" Target="../media/image146.png"/><Relationship Id="rId14" Type="http://schemas.openxmlformats.org/officeDocument/2006/relationships/image" Target="../media/image147.svg"/><Relationship Id="rId15" Type="http://schemas.openxmlformats.org/officeDocument/2006/relationships/image" Target="../media/image148.png"/><Relationship Id="rId16" Type="http://schemas.openxmlformats.org/officeDocument/2006/relationships/image" Target="../media/image149.svg"/><Relationship Id="rId17" Type="http://schemas.openxmlformats.org/officeDocument/2006/relationships/image" Target="../media/image150.png"/><Relationship Id="rId18" Type="http://schemas.openxmlformats.org/officeDocument/2006/relationships/image" Target="../media/image151.svg"/><Relationship Id="rId19" Type="http://schemas.openxmlformats.org/officeDocument/2006/relationships/slideLayout" Target="../slideLayouts/slideLayout12.xml"/><Relationship Id="rId20" Type="http://schemas.openxmlformats.org/officeDocument/2006/relationships/notesSlide" Target="../notesSlides/notesSlide2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image" Target="../media/image152.png"/><Relationship Id="rId2" Type="http://schemas.openxmlformats.org/officeDocument/2006/relationships/image" Target="../media/image80.png"/><Relationship Id="rId3" Type="http://schemas.openxmlformats.org/officeDocument/2006/relationships/image" Target="../media/image153.png"/><Relationship Id="rId4" Type="http://schemas.openxmlformats.org/officeDocument/2006/relationships/image" Target="../media/image154.png"/><Relationship Id="rId5" Type="http://schemas.openxmlformats.org/officeDocument/2006/relationships/image" Target="../media/image42.png"/><Relationship Id="rId6" Type="http://schemas.openxmlformats.org/officeDocument/2006/relationships/image" Target="../media/image155.png"/><Relationship Id="rId7" Type="http://schemas.openxmlformats.org/officeDocument/2006/relationships/image" Target="../media/image156.png"/><Relationship Id="rId8" Type="http://schemas.openxmlformats.org/officeDocument/2006/relationships/slideLayout" Target="../slideLayouts/slideLayout12.xml"/><Relationship Id="rId9" Type="http://schemas.openxmlformats.org/officeDocument/2006/relationships/notesSlide" Target="../notesSlides/notesSlide2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image" Target="../media/image157.png"/><Relationship Id="rId2" Type="http://schemas.openxmlformats.org/officeDocument/2006/relationships/image" Target="../media/image158.png"/><Relationship Id="rId3" Type="http://schemas.openxmlformats.org/officeDocument/2006/relationships/image" Target="../media/image159.png"/><Relationship Id="rId4" Type="http://schemas.openxmlformats.org/officeDocument/2006/relationships/image" Target="../media/image160.png"/><Relationship Id="rId5" Type="http://schemas.openxmlformats.org/officeDocument/2006/relationships/image" Target="../media/image161.png"/><Relationship Id="rId6" Type="http://schemas.openxmlformats.org/officeDocument/2006/relationships/image" Target="../media/image162.png"/><Relationship Id="rId7" Type="http://schemas.openxmlformats.org/officeDocument/2006/relationships/image" Target="../media/image163.png"/><Relationship Id="rId8" Type="http://schemas.openxmlformats.org/officeDocument/2006/relationships/image" Target="../media/image164.png"/><Relationship Id="rId9" Type="http://schemas.openxmlformats.org/officeDocument/2006/relationships/image" Target="../media/image165.png"/><Relationship Id="rId10" Type="http://schemas.openxmlformats.org/officeDocument/2006/relationships/image" Target="../media/image166.png"/><Relationship Id="rId11" Type="http://schemas.openxmlformats.org/officeDocument/2006/relationships/image" Target="../media/image167.png"/><Relationship Id="rId12" Type="http://schemas.openxmlformats.org/officeDocument/2006/relationships/image" Target="../media/image168.png"/><Relationship Id="rId13" Type="http://schemas.openxmlformats.org/officeDocument/2006/relationships/slideLayout" Target="../slideLayouts/slideLayout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image" Target="../media/image169.png"/><Relationship Id="rId2" Type="http://schemas.openxmlformats.org/officeDocument/2006/relationships/image" Target="../media/image170.svg"/><Relationship Id="rId3" Type="http://schemas.openxmlformats.org/officeDocument/2006/relationships/image" Target="../media/image171.png"/><Relationship Id="rId4" Type="http://schemas.openxmlformats.org/officeDocument/2006/relationships/image" Target="../media/image172.svg"/><Relationship Id="rId5" Type="http://schemas.openxmlformats.org/officeDocument/2006/relationships/image" Target="../media/image173.png"/><Relationship Id="rId6" Type="http://schemas.openxmlformats.org/officeDocument/2006/relationships/image" Target="../media/image174.svg"/><Relationship Id="rId7" Type="http://schemas.openxmlformats.org/officeDocument/2006/relationships/image" Target="../media/image175.png"/><Relationship Id="rId8" Type="http://schemas.openxmlformats.org/officeDocument/2006/relationships/image" Target="../media/image176.svg"/><Relationship Id="rId9" Type="http://schemas.openxmlformats.org/officeDocument/2006/relationships/image" Target="../media/image177.png"/><Relationship Id="rId10" Type="http://schemas.openxmlformats.org/officeDocument/2006/relationships/image" Target="../media/image178.svg"/><Relationship Id="rId11" Type="http://schemas.openxmlformats.org/officeDocument/2006/relationships/image" Target="../media/image179.png"/><Relationship Id="rId12" Type="http://schemas.openxmlformats.org/officeDocument/2006/relationships/image" Target="../media/image180.svg"/><Relationship Id="rId13" Type="http://schemas.openxmlformats.org/officeDocument/2006/relationships/image" Target="../media/image181.png"/><Relationship Id="rId14" Type="http://schemas.openxmlformats.org/officeDocument/2006/relationships/image" Target="../media/image182.svg"/><Relationship Id="rId15" Type="http://schemas.openxmlformats.org/officeDocument/2006/relationships/slideLayout" Target="../slideLayouts/slideLayout12.xml"/><Relationship Id="rId16" Type="http://schemas.openxmlformats.org/officeDocument/2006/relationships/notesSlide" Target="../notesSlides/notesSlide2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image" Target="../media/image183.png"/><Relationship Id="rId2" Type="http://schemas.openxmlformats.org/officeDocument/2006/relationships/image" Target="../media/image184.png"/><Relationship Id="rId3" Type="http://schemas.openxmlformats.org/officeDocument/2006/relationships/image" Target="../media/image185.png"/><Relationship Id="rId4" Type="http://schemas.openxmlformats.org/officeDocument/2006/relationships/image" Target="../media/image186.png"/><Relationship Id="rId5" Type="http://schemas.openxmlformats.org/officeDocument/2006/relationships/image" Target="../media/image187.png"/><Relationship Id="rId6" Type="http://schemas.openxmlformats.org/officeDocument/2006/relationships/image" Target="../media/image188.png"/><Relationship Id="rId7" Type="http://schemas.openxmlformats.org/officeDocument/2006/relationships/image" Target="../media/image189.png"/><Relationship Id="rId8" Type="http://schemas.openxmlformats.org/officeDocument/2006/relationships/image" Target="../media/image190.png"/><Relationship Id="rId9" Type="http://schemas.openxmlformats.org/officeDocument/2006/relationships/image" Target="../media/image191.png"/><Relationship Id="rId10" Type="http://schemas.openxmlformats.org/officeDocument/2006/relationships/image" Target="../media/image192.png"/><Relationship Id="rId11" Type="http://schemas.openxmlformats.org/officeDocument/2006/relationships/slideLayout" Target="../slideLayouts/slideLayout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image" Target="../media/image193.png"/><Relationship Id="rId2" Type="http://schemas.openxmlformats.org/officeDocument/2006/relationships/image" Target="../media/image194.svg"/><Relationship Id="rId3" Type="http://schemas.openxmlformats.org/officeDocument/2006/relationships/image" Target="../media/image195.png"/><Relationship Id="rId4" Type="http://schemas.openxmlformats.org/officeDocument/2006/relationships/image" Target="../media/image196.svg"/><Relationship Id="rId5" Type="http://schemas.openxmlformats.org/officeDocument/2006/relationships/image" Target="../media/image63.png"/><Relationship Id="rId6" Type="http://schemas.openxmlformats.org/officeDocument/2006/relationships/image" Target="../media/image197.svg"/><Relationship Id="rId7" Type="http://schemas.openxmlformats.org/officeDocument/2006/relationships/image" Target="../media/image198.png"/><Relationship Id="rId8" Type="http://schemas.openxmlformats.org/officeDocument/2006/relationships/image" Target="../media/image199.svg"/><Relationship Id="rId9" Type="http://schemas.openxmlformats.org/officeDocument/2006/relationships/image" Target="../media/image200.png"/><Relationship Id="rId10" Type="http://schemas.openxmlformats.org/officeDocument/2006/relationships/image" Target="../media/image201.svg"/><Relationship Id="rId11" Type="http://schemas.openxmlformats.org/officeDocument/2006/relationships/image" Target="../media/image202.png"/><Relationship Id="rId12" Type="http://schemas.openxmlformats.org/officeDocument/2006/relationships/image" Target="../media/image203.svg"/><Relationship Id="rId13" Type="http://schemas.openxmlformats.org/officeDocument/2006/relationships/image" Target="../media/image204.png"/><Relationship Id="rId14" Type="http://schemas.openxmlformats.org/officeDocument/2006/relationships/image" Target="../media/image205.svg"/><Relationship Id="rId15" Type="http://schemas.openxmlformats.org/officeDocument/2006/relationships/image" Target="../media/image206.png"/><Relationship Id="rId16" Type="http://schemas.openxmlformats.org/officeDocument/2006/relationships/image" Target="../media/image207.svg"/><Relationship Id="rId17" Type="http://schemas.openxmlformats.org/officeDocument/2006/relationships/slideLayout" Target="../slideLayouts/slideLayout12.xml"/><Relationship Id="rId18" Type="http://schemas.openxmlformats.org/officeDocument/2006/relationships/notesSlide" Target="../notesSlides/notesSlide2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image" Target="../media/image208.png"/><Relationship Id="rId2" Type="http://schemas.openxmlformats.org/officeDocument/2006/relationships/image" Target="../media/image209.svg"/><Relationship Id="rId3" Type="http://schemas.openxmlformats.org/officeDocument/2006/relationships/image" Target="../media/image210.png"/><Relationship Id="rId4" Type="http://schemas.openxmlformats.org/officeDocument/2006/relationships/image" Target="../media/image211.svg"/><Relationship Id="rId5" Type="http://schemas.openxmlformats.org/officeDocument/2006/relationships/image" Target="../media/image212.png"/><Relationship Id="rId6" Type="http://schemas.openxmlformats.org/officeDocument/2006/relationships/image" Target="../media/image213.svg"/><Relationship Id="rId7" Type="http://schemas.openxmlformats.org/officeDocument/2006/relationships/image" Target="../media/image214.png"/><Relationship Id="rId8" Type="http://schemas.openxmlformats.org/officeDocument/2006/relationships/image" Target="../media/image215.svg"/><Relationship Id="rId9" Type="http://schemas.openxmlformats.org/officeDocument/2006/relationships/image" Target="../media/image216.png"/><Relationship Id="rId10" Type="http://schemas.openxmlformats.org/officeDocument/2006/relationships/image" Target="../media/image217.svg"/><Relationship Id="rId11" Type="http://schemas.openxmlformats.org/officeDocument/2006/relationships/image" Target="../media/image218.png"/><Relationship Id="rId12" Type="http://schemas.openxmlformats.org/officeDocument/2006/relationships/image" Target="../media/image219.svg"/><Relationship Id="rId13" Type="http://schemas.openxmlformats.org/officeDocument/2006/relationships/image" Target="../media/image220.png"/><Relationship Id="rId14" Type="http://schemas.openxmlformats.org/officeDocument/2006/relationships/image" Target="../media/image221.svg"/><Relationship Id="rId15" Type="http://schemas.openxmlformats.org/officeDocument/2006/relationships/image" Target="../media/image222.png"/><Relationship Id="rId16" Type="http://schemas.openxmlformats.org/officeDocument/2006/relationships/image" Target="../media/image223.svg"/><Relationship Id="rId17" Type="http://schemas.openxmlformats.org/officeDocument/2006/relationships/image" Target="../media/image224.png"/><Relationship Id="rId18" Type="http://schemas.openxmlformats.org/officeDocument/2006/relationships/image" Target="../media/image225.svg"/><Relationship Id="rId19" Type="http://schemas.openxmlformats.org/officeDocument/2006/relationships/image" Target="../media/image226.png"/><Relationship Id="rId20" Type="http://schemas.openxmlformats.org/officeDocument/2006/relationships/image" Target="../media/image227.svg"/><Relationship Id="rId21" Type="http://schemas.openxmlformats.org/officeDocument/2006/relationships/image" Target="../media/image228.png"/><Relationship Id="rId22" Type="http://schemas.openxmlformats.org/officeDocument/2006/relationships/image" Target="../media/image229.svg"/><Relationship Id="rId23" Type="http://schemas.openxmlformats.org/officeDocument/2006/relationships/slideLayout" Target="../slideLayouts/slideLayout12.xml"/><Relationship Id="rId24" Type="http://schemas.openxmlformats.org/officeDocument/2006/relationships/notesSlide" Target="../notesSlides/notesSlide2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image" Target="../media/image230.png"/><Relationship Id="rId2" Type="http://schemas.openxmlformats.org/officeDocument/2006/relationships/image" Target="../media/image231.png"/><Relationship Id="rId3" Type="http://schemas.openxmlformats.org/officeDocument/2006/relationships/image" Target="../media/image232.png"/><Relationship Id="rId4" Type="http://schemas.openxmlformats.org/officeDocument/2006/relationships/image" Target="../media/image233.png"/><Relationship Id="rId5" Type="http://schemas.openxmlformats.org/officeDocument/2006/relationships/image" Target="../media/image234.png"/><Relationship Id="rId6" Type="http://schemas.openxmlformats.org/officeDocument/2006/relationships/image" Target="../media/image79.png"/><Relationship Id="rId7" Type="http://schemas.openxmlformats.org/officeDocument/2006/relationships/image" Target="../media/image100.png"/><Relationship Id="rId8" Type="http://schemas.openxmlformats.org/officeDocument/2006/relationships/image" Target="../media/image235.png"/><Relationship Id="rId9" Type="http://schemas.openxmlformats.org/officeDocument/2006/relationships/image" Target="../media/image236.png"/><Relationship Id="rId10" Type="http://schemas.openxmlformats.org/officeDocument/2006/relationships/slideLayout" Target="../slideLayouts/slideLayout12.xml"/><Relationship Id="rId11" Type="http://schemas.openxmlformats.org/officeDocument/2006/relationships/notesSlide" Target="../notesSlides/notesSlide25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image" Target="../media/image237.png"/><Relationship Id="rId2" Type="http://schemas.openxmlformats.org/officeDocument/2006/relationships/image" Target="../media/image238.png"/><Relationship Id="rId3" Type="http://schemas.openxmlformats.org/officeDocument/2006/relationships/image" Target="../media/image239.png"/><Relationship Id="rId4" Type="http://schemas.openxmlformats.org/officeDocument/2006/relationships/image" Target="../media/image240.png"/><Relationship Id="rId5" Type="http://schemas.openxmlformats.org/officeDocument/2006/relationships/image" Target="../media/image241.png"/><Relationship Id="rId6" Type="http://schemas.openxmlformats.org/officeDocument/2006/relationships/image" Target="../media/image242.png"/><Relationship Id="rId7" Type="http://schemas.openxmlformats.org/officeDocument/2006/relationships/slideLayout" Target="../slideLayouts/slideLayout26.xml"/><Relationship Id="rId8" Type="http://schemas.openxmlformats.org/officeDocument/2006/relationships/notesSlide" Target="../notesSlides/notesSlide2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image" Target="../media/image243.png"/><Relationship Id="rId2" Type="http://schemas.openxmlformats.org/officeDocument/2006/relationships/image" Target="../media/image244.svg"/><Relationship Id="rId3" Type="http://schemas.openxmlformats.org/officeDocument/2006/relationships/image" Target="../media/image245.png"/><Relationship Id="rId4" Type="http://schemas.openxmlformats.org/officeDocument/2006/relationships/image" Target="../media/image246.svg"/><Relationship Id="rId5" Type="http://schemas.openxmlformats.org/officeDocument/2006/relationships/image" Target="../media/image247.png"/><Relationship Id="rId6" Type="http://schemas.openxmlformats.org/officeDocument/2006/relationships/image" Target="../media/image248.svg"/><Relationship Id="rId7" Type="http://schemas.openxmlformats.org/officeDocument/2006/relationships/image" Target="../media/image249.png"/><Relationship Id="rId8" Type="http://schemas.openxmlformats.org/officeDocument/2006/relationships/image" Target="../media/image250.svg"/><Relationship Id="rId9" Type="http://schemas.openxmlformats.org/officeDocument/2006/relationships/image" Target="../media/image251.png"/><Relationship Id="rId10" Type="http://schemas.openxmlformats.org/officeDocument/2006/relationships/image" Target="../media/image252.svg"/><Relationship Id="rId11" Type="http://schemas.openxmlformats.org/officeDocument/2006/relationships/slideLayout" Target="../slideLayouts/slideLayout12.xml"/><Relationship Id="rId12" Type="http://schemas.openxmlformats.org/officeDocument/2006/relationships/notesSlide" Target="../notesSlides/notesSlide2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image" Target="../media/image253.png"/><Relationship Id="rId2" Type="http://schemas.openxmlformats.org/officeDocument/2006/relationships/image" Target="../media/image254.png"/><Relationship Id="rId3" Type="http://schemas.openxmlformats.org/officeDocument/2006/relationships/image" Target="../media/image255.png"/><Relationship Id="rId4" Type="http://schemas.openxmlformats.org/officeDocument/2006/relationships/image" Target="../media/image256.png"/><Relationship Id="rId5" Type="http://schemas.openxmlformats.org/officeDocument/2006/relationships/image" Target="../media/image257.png"/><Relationship Id="rId6" Type="http://schemas.openxmlformats.org/officeDocument/2006/relationships/image" Target="../media/image258.png"/><Relationship Id="rId7" Type="http://schemas.openxmlformats.org/officeDocument/2006/relationships/slideLayout" Target="../slideLayouts/slideLayout28.xml"/><Relationship Id="rId8" Type="http://schemas.openxmlformats.org/officeDocument/2006/relationships/notesSlide" Target="../notesSlides/notesSlide28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image" Target="../media/image193.png"/><Relationship Id="rId2" Type="http://schemas.openxmlformats.org/officeDocument/2006/relationships/image" Target="../media/image259.png"/><Relationship Id="rId3" Type="http://schemas.openxmlformats.org/officeDocument/2006/relationships/image" Target="../media/image260.png"/><Relationship Id="rId4" Type="http://schemas.openxmlformats.org/officeDocument/2006/relationships/image" Target="../media/image261.png"/><Relationship Id="rId5" Type="http://schemas.openxmlformats.org/officeDocument/2006/relationships/image" Target="../media/image262.png"/><Relationship Id="rId6" Type="http://schemas.openxmlformats.org/officeDocument/2006/relationships/image" Target="../media/image59.png"/><Relationship Id="rId7" Type="http://schemas.openxmlformats.org/officeDocument/2006/relationships/image" Target="../media/image263.png"/><Relationship Id="rId8" Type="http://schemas.openxmlformats.org/officeDocument/2006/relationships/image" Target="../media/image264.png"/><Relationship Id="rId9" Type="http://schemas.openxmlformats.org/officeDocument/2006/relationships/image" Target="../media/image265.png"/><Relationship Id="rId10" Type="http://schemas.openxmlformats.org/officeDocument/2006/relationships/slideLayout" Target="../slideLayouts/slideLayout12.xml"/><Relationship Id="rId11" Type="http://schemas.openxmlformats.org/officeDocument/2006/relationships/notesSlide" Target="../notesSlides/notesSlide29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tags" Target="../tags/tag34.xml"/><Relationship Id="rId2" Type="http://schemas.openxmlformats.org/officeDocument/2006/relationships/tags" Target="../tags/tag35.xml"/><Relationship Id="rId3" Type="http://schemas.openxmlformats.org/officeDocument/2006/relationships/image" Target="../media/image266.png"/><Relationship Id="rId4" Type="http://schemas.openxmlformats.org/officeDocument/2006/relationships/tags" Target="../tags/tag36.xml"/><Relationship Id="rId5" Type="http://schemas.openxmlformats.org/officeDocument/2006/relationships/tags" Target="../tags/tag37.xml"/><Relationship Id="rId6" Type="http://schemas.openxmlformats.org/officeDocument/2006/relationships/tags" Target="../tags/tag38.xml"/><Relationship Id="rId7" Type="http://schemas.openxmlformats.org/officeDocument/2006/relationships/tags" Target="../tags/tag39.xml"/><Relationship Id="rId8" Type="http://schemas.openxmlformats.org/officeDocument/2006/relationships/image" Target="../media/image64.png"/><Relationship Id="rId9" Type="http://schemas.openxmlformats.org/officeDocument/2006/relationships/tags" Target="../tags/tag40.xml"/><Relationship Id="rId10" Type="http://schemas.openxmlformats.org/officeDocument/2006/relationships/tags" Target="../tags/tag41.xml"/><Relationship Id="rId11" Type="http://schemas.openxmlformats.org/officeDocument/2006/relationships/tags" Target="../tags/tag42.xml"/><Relationship Id="rId12" Type="http://schemas.openxmlformats.org/officeDocument/2006/relationships/tags" Target="../tags/tag43.xml"/><Relationship Id="rId13" Type="http://schemas.openxmlformats.org/officeDocument/2006/relationships/image" Target="../media/image267.png"/><Relationship Id="rId14" Type="http://schemas.openxmlformats.org/officeDocument/2006/relationships/tags" Target="../tags/tag44.xml"/><Relationship Id="rId15" Type="http://schemas.openxmlformats.org/officeDocument/2006/relationships/tags" Target="../tags/tag45.xml"/><Relationship Id="rId16" Type="http://schemas.openxmlformats.org/officeDocument/2006/relationships/tags" Target="../tags/tag46.xml"/><Relationship Id="rId17" Type="http://schemas.openxmlformats.org/officeDocument/2006/relationships/image" Target="../media/image268.png"/><Relationship Id="rId18" Type="http://schemas.openxmlformats.org/officeDocument/2006/relationships/tags" Target="../tags/tag47.xml"/><Relationship Id="rId19" Type="http://schemas.openxmlformats.org/officeDocument/2006/relationships/slideLayout" Target="../slideLayouts/slideLayout12.xml"/><Relationship Id="rId20" Type="http://schemas.openxmlformats.org/officeDocument/2006/relationships/notesSlide" Target="../notesSlides/notesSlide30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image" Target="../media/image269.png"/><Relationship Id="rId2" Type="http://schemas.openxmlformats.org/officeDocument/2006/relationships/image" Target="../media/image270.svg"/><Relationship Id="rId3" Type="http://schemas.openxmlformats.org/officeDocument/2006/relationships/image" Target="../media/image271.png"/><Relationship Id="rId4" Type="http://schemas.openxmlformats.org/officeDocument/2006/relationships/image" Target="../media/image272.svg"/><Relationship Id="rId5" Type="http://schemas.openxmlformats.org/officeDocument/2006/relationships/image" Target="../media/image273.png"/><Relationship Id="rId6" Type="http://schemas.openxmlformats.org/officeDocument/2006/relationships/image" Target="../media/image274.svg"/><Relationship Id="rId7" Type="http://schemas.openxmlformats.org/officeDocument/2006/relationships/image" Target="../media/image275.jpeg"/><Relationship Id="rId8" Type="http://schemas.openxmlformats.org/officeDocument/2006/relationships/slideLayout" Target="../slideLayouts/slideLayout12.xml"/><Relationship Id="rId9" Type="http://schemas.openxmlformats.org/officeDocument/2006/relationships/notesSlide" Target="../notesSlides/notesSlide31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image" Target="../media/image276.png"/><Relationship Id="rId2" Type="http://schemas.openxmlformats.org/officeDocument/2006/relationships/image" Target="../media/image277.png"/><Relationship Id="rId3" Type="http://schemas.openxmlformats.org/officeDocument/2006/relationships/image" Target="../media/image278.png"/><Relationship Id="rId4" Type="http://schemas.openxmlformats.org/officeDocument/2006/relationships/image" Target="../media/image279.png"/><Relationship Id="rId5" Type="http://schemas.openxmlformats.org/officeDocument/2006/relationships/slideLayout" Target="../slideLayouts/slideLayout12.xml"/><Relationship Id="rId6" Type="http://schemas.openxmlformats.org/officeDocument/2006/relationships/notesSlide" Target="../notesSlides/notesSlide3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image" Target="../media/image280.png"/><Relationship Id="rId2" Type="http://schemas.openxmlformats.org/officeDocument/2006/relationships/image" Target="../media/image281.png"/><Relationship Id="rId3" Type="http://schemas.openxmlformats.org/officeDocument/2006/relationships/image" Target="../media/image144.png"/><Relationship Id="rId4" Type="http://schemas.openxmlformats.org/officeDocument/2006/relationships/image" Target="../media/image282.png"/><Relationship Id="rId5" Type="http://schemas.openxmlformats.org/officeDocument/2006/relationships/image" Target="../media/image283.png"/><Relationship Id="rId6" Type="http://schemas.openxmlformats.org/officeDocument/2006/relationships/slideLayout" Target="../slideLayouts/slideLayout12.xml"/><Relationship Id="rId7" Type="http://schemas.openxmlformats.org/officeDocument/2006/relationships/notesSlide" Target="../notesSlides/notesSlide33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2.xml"/><Relationship Id="rId3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2032000"/>
            <a:ext cx="12192000" cy="1016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48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智慧果园 · 懂苹果的种植管理平台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5588000" y="3429000"/>
            <a:ext cx="1016000" cy="50800"/>
          </a:xfrm>
          <a:prstGeom prst="roundRect">
            <a:avLst>
              <a:gd name="adj" fmla="val 0"/>
            </a:avLst>
          </a:prstGeom>
          <a:solidFill>
            <a:srgbClr val="4CAF5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" name="AutoShape 4"/>
          <p:cNvSpPr/>
          <p:nvPr/>
        </p:nvSpPr>
        <p:spPr>
          <a:xfrm>
            <a:off x="0" y="4191000"/>
            <a:ext cx="12192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400" b="0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让苹果种植更省心、更科学、更赚钱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0" y="5588000"/>
            <a:ext cx="12192000" cy="508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智道易农科技有限公司</a:t>
            </a:r>
            <a:endParaRPr lang="en-US" sz="11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668000" cy="508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内容导航</a:t>
            </a:r>
            <a:endParaRPr lang="en-US" sz="1100"/>
          </a:p>
        </p:txBody>
      </p:sp>
      <p:sp>
        <p:nvSpPr>
          <p:cNvPr id="3" name="AutoShape 3"/>
          <p:cNvSpPr/>
          <p:nvPr>
            <p:custDataLst>
              <p:tags r:id="rId1"/>
            </p:custDataLst>
          </p:nvPr>
        </p:nvSpPr>
        <p:spPr>
          <a:xfrm>
            <a:off x="762000" y="1744980"/>
            <a:ext cx="5207000" cy="889000"/>
          </a:xfrm>
          <a:prstGeom prst="roundRect">
            <a:avLst>
              <a:gd name="adj" fmla="val 11428"/>
            </a:avLst>
          </a:prstGeom>
          <a:solidFill>
            <a:srgbClr val="F9FAFB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" name="AutoShape 4"/>
          <p:cNvSpPr/>
          <p:nvPr>
            <p:custDataLst>
              <p:tags r:id="rId2"/>
            </p:custDataLst>
          </p:nvPr>
        </p:nvSpPr>
        <p:spPr>
          <a:xfrm>
            <a:off x="952500" y="1884680"/>
            <a:ext cx="609600" cy="609600"/>
          </a:xfrm>
          <a:prstGeom prst="ellipse">
            <a:avLst/>
          </a:prstGeom>
          <a:solidFill>
            <a:srgbClr val="4CAF5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5" name="Picture 5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rcRect/>
          <a:stretch>
            <a:fillRect/>
          </a:stretch>
        </p:blipFill>
        <p:spPr>
          <a:xfrm>
            <a:off x="1079500" y="2011680"/>
            <a:ext cx="355600" cy="3556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6" name="AutoShape 6"/>
          <p:cNvSpPr/>
          <p:nvPr>
            <p:custDataLst>
              <p:tags r:id="rId5"/>
            </p:custDataLst>
          </p:nvPr>
        </p:nvSpPr>
        <p:spPr>
          <a:xfrm>
            <a:off x="1778000" y="1897380"/>
            <a:ext cx="2667000" cy="5842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01. 市场洞察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3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千亿蓝海与产业痛点</a:t>
            </a:r>
            <a:endParaRPr lang="en-US" sz="1300" b="0" i="0" u="none" strike="noStrike">
              <a:solidFill>
                <a:srgbClr val="6B728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8" name="AutoShape 8"/>
          <p:cNvSpPr/>
          <p:nvPr>
            <p:custDataLst>
              <p:tags r:id="rId6"/>
            </p:custDataLst>
          </p:nvPr>
        </p:nvSpPr>
        <p:spPr>
          <a:xfrm>
            <a:off x="762000" y="2887980"/>
            <a:ext cx="5207000" cy="889000"/>
          </a:xfrm>
          <a:prstGeom prst="roundRect">
            <a:avLst>
              <a:gd name="adj" fmla="val 11428"/>
            </a:avLst>
          </a:prstGeom>
          <a:solidFill>
            <a:srgbClr val="F9FAFB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9" name="AutoShape 9"/>
          <p:cNvSpPr/>
          <p:nvPr>
            <p:custDataLst>
              <p:tags r:id="rId7"/>
            </p:custDataLst>
          </p:nvPr>
        </p:nvSpPr>
        <p:spPr>
          <a:xfrm>
            <a:off x="952500" y="3027680"/>
            <a:ext cx="609600" cy="609600"/>
          </a:xfrm>
          <a:prstGeom prst="ellipse">
            <a:avLst/>
          </a:prstGeom>
          <a:solidFill>
            <a:srgbClr val="4CAF5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0" name="Picture 10"/>
          <p:cNvPicPr>
            <a:picLocks noChangeAspect="1"/>
          </p:cNvPicPr>
          <p:nvPr>
            <p:custDataLst>
              <p:tags r:id="rId8"/>
            </p:custDataLst>
          </p:nvPr>
        </p:nvPicPr>
        <p:blipFill>
          <a:blip r:embed="rId9"/>
          <a:srcRect/>
          <a:stretch>
            <a:fillRect/>
          </a:stretch>
        </p:blipFill>
        <p:spPr>
          <a:xfrm>
            <a:off x="1079500" y="3154680"/>
            <a:ext cx="355600" cy="3556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1" name="AutoShape 11"/>
          <p:cNvSpPr/>
          <p:nvPr>
            <p:custDataLst>
              <p:tags r:id="rId10"/>
            </p:custDataLst>
          </p:nvPr>
        </p:nvSpPr>
        <p:spPr>
          <a:xfrm>
            <a:off x="1778000" y="3040380"/>
            <a:ext cx="2667000" cy="5842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02. 解决方案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3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架构、优势与五端协同</a:t>
            </a:r>
            <a:endParaRPr lang="en-US" sz="1300" b="0" i="0" u="none" strike="noStrike">
              <a:solidFill>
                <a:srgbClr val="6B728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3" name="AutoShape 13"/>
          <p:cNvSpPr/>
          <p:nvPr>
            <p:custDataLst>
              <p:tags r:id="rId11"/>
            </p:custDataLst>
          </p:nvPr>
        </p:nvSpPr>
        <p:spPr>
          <a:xfrm>
            <a:off x="762000" y="4030980"/>
            <a:ext cx="5207000" cy="889000"/>
          </a:xfrm>
          <a:prstGeom prst="roundRect">
            <a:avLst>
              <a:gd name="adj" fmla="val 11428"/>
            </a:avLst>
          </a:prstGeom>
          <a:solidFill>
            <a:srgbClr val="F9FAFB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4" name="AutoShape 14"/>
          <p:cNvSpPr/>
          <p:nvPr>
            <p:custDataLst>
              <p:tags r:id="rId12"/>
            </p:custDataLst>
          </p:nvPr>
        </p:nvSpPr>
        <p:spPr>
          <a:xfrm>
            <a:off x="952500" y="4170680"/>
            <a:ext cx="609600" cy="609600"/>
          </a:xfrm>
          <a:prstGeom prst="ellipse">
            <a:avLst/>
          </a:prstGeom>
          <a:solidFill>
            <a:srgbClr val="4CAF5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5" name="Picture 15"/>
          <p:cNvPicPr>
            <a:picLocks noChangeAspect="1"/>
          </p:cNvPicPr>
          <p:nvPr>
            <p:custDataLst>
              <p:tags r:id="rId13"/>
            </p:custDataLst>
          </p:nvPr>
        </p:nvPicPr>
        <p:blipFill>
          <a:blip r:embed="rId14"/>
          <a:srcRect/>
          <a:stretch>
            <a:fillRect/>
          </a:stretch>
        </p:blipFill>
        <p:spPr>
          <a:xfrm>
            <a:off x="1079500" y="4297680"/>
            <a:ext cx="355600" cy="3556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6" name="AutoShape 16"/>
          <p:cNvSpPr/>
          <p:nvPr>
            <p:custDataLst>
              <p:tags r:id="rId15"/>
            </p:custDataLst>
          </p:nvPr>
        </p:nvSpPr>
        <p:spPr>
          <a:xfrm>
            <a:off x="1778000" y="4183380"/>
            <a:ext cx="2667000" cy="5842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03. 智慧大脑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3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六大农业模型深度解析</a:t>
            </a:r>
            <a:endParaRPr lang="en-US" sz="1300" b="0" i="0" u="none" strike="noStrike">
              <a:solidFill>
                <a:srgbClr val="6B728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8" name="AutoShape 18"/>
          <p:cNvSpPr/>
          <p:nvPr>
            <p:custDataLst>
              <p:tags r:id="rId16"/>
            </p:custDataLst>
          </p:nvPr>
        </p:nvSpPr>
        <p:spPr>
          <a:xfrm>
            <a:off x="762000" y="5173980"/>
            <a:ext cx="5207000" cy="889000"/>
          </a:xfrm>
          <a:prstGeom prst="roundRect">
            <a:avLst>
              <a:gd name="adj" fmla="val 11428"/>
            </a:avLst>
          </a:prstGeom>
          <a:solidFill>
            <a:srgbClr val="F9FAFB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9" name="AutoShape 19"/>
          <p:cNvSpPr/>
          <p:nvPr>
            <p:custDataLst>
              <p:tags r:id="rId17"/>
            </p:custDataLst>
          </p:nvPr>
        </p:nvSpPr>
        <p:spPr>
          <a:xfrm>
            <a:off x="952500" y="5313680"/>
            <a:ext cx="609600" cy="609600"/>
          </a:xfrm>
          <a:prstGeom prst="ellipse">
            <a:avLst/>
          </a:prstGeom>
          <a:solidFill>
            <a:srgbClr val="4CAF5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0" name="Picture 20"/>
          <p:cNvPicPr>
            <a:picLocks noChangeAspect="1"/>
          </p:cNvPicPr>
          <p:nvPr>
            <p:custDataLst>
              <p:tags r:id="rId18"/>
            </p:custDataLst>
          </p:nvPr>
        </p:nvPicPr>
        <p:blipFill>
          <a:blip r:embed="rId19"/>
          <a:srcRect/>
          <a:stretch>
            <a:fillRect/>
          </a:stretch>
        </p:blipFill>
        <p:spPr>
          <a:xfrm>
            <a:off x="1079500" y="5440680"/>
            <a:ext cx="355600" cy="3556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21" name="AutoShape 21"/>
          <p:cNvSpPr/>
          <p:nvPr>
            <p:custDataLst>
              <p:tags r:id="rId20"/>
            </p:custDataLst>
          </p:nvPr>
        </p:nvSpPr>
        <p:spPr>
          <a:xfrm>
            <a:off x="1778000" y="5326380"/>
            <a:ext cx="2667000" cy="5842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04. 智能装备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3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硬件、溯源与高效巡检</a:t>
            </a:r>
            <a:endParaRPr lang="en-US" sz="1300" b="0" i="0" u="none" strike="noStrike">
              <a:solidFill>
                <a:srgbClr val="6B728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3" name="AutoShape 23"/>
          <p:cNvSpPr/>
          <p:nvPr>
            <p:custDataLst>
              <p:tags r:id="rId21"/>
            </p:custDataLst>
          </p:nvPr>
        </p:nvSpPr>
        <p:spPr>
          <a:xfrm>
            <a:off x="6223000" y="1744980"/>
            <a:ext cx="5207000" cy="889000"/>
          </a:xfrm>
          <a:prstGeom prst="roundRect">
            <a:avLst>
              <a:gd name="adj" fmla="val 11428"/>
            </a:avLst>
          </a:prstGeom>
          <a:solidFill>
            <a:srgbClr val="F9FAFB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4" name="AutoShape 24"/>
          <p:cNvSpPr/>
          <p:nvPr>
            <p:custDataLst>
              <p:tags r:id="rId22"/>
            </p:custDataLst>
          </p:nvPr>
        </p:nvSpPr>
        <p:spPr>
          <a:xfrm>
            <a:off x="6413500" y="1884680"/>
            <a:ext cx="609600" cy="609600"/>
          </a:xfrm>
          <a:prstGeom prst="ellipse">
            <a:avLst/>
          </a:prstGeom>
          <a:solidFill>
            <a:srgbClr val="4CAF5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5" name="Picture 25"/>
          <p:cNvPicPr>
            <a:picLocks noChangeAspect="1"/>
          </p:cNvPicPr>
          <p:nvPr>
            <p:custDataLst>
              <p:tags r:id="rId23"/>
            </p:custDataLst>
          </p:nvPr>
        </p:nvPicPr>
        <p:blipFill>
          <a:blip r:embed="rId24"/>
          <a:srcRect/>
          <a:stretch>
            <a:fillRect/>
          </a:stretch>
        </p:blipFill>
        <p:spPr>
          <a:xfrm>
            <a:off x="6540500" y="2011680"/>
            <a:ext cx="355600" cy="3556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26" name="AutoShape 26"/>
          <p:cNvSpPr/>
          <p:nvPr>
            <p:custDataLst>
              <p:tags r:id="rId25"/>
            </p:custDataLst>
          </p:nvPr>
        </p:nvSpPr>
        <p:spPr>
          <a:xfrm>
            <a:off x="7239000" y="1897380"/>
            <a:ext cx="2667000" cy="5842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05. 业务闭环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3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从种植到营销的全链路</a:t>
            </a:r>
            <a:endParaRPr lang="en-US" sz="1300" b="0" i="0" u="none" strike="noStrike">
              <a:solidFill>
                <a:srgbClr val="6B728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8" name="AutoShape 28"/>
          <p:cNvSpPr/>
          <p:nvPr>
            <p:custDataLst>
              <p:tags r:id="rId26"/>
            </p:custDataLst>
          </p:nvPr>
        </p:nvSpPr>
        <p:spPr>
          <a:xfrm>
            <a:off x="6223000" y="2887980"/>
            <a:ext cx="5207000" cy="889000"/>
          </a:xfrm>
          <a:prstGeom prst="roundRect">
            <a:avLst>
              <a:gd name="adj" fmla="val 11428"/>
            </a:avLst>
          </a:prstGeom>
          <a:solidFill>
            <a:srgbClr val="F9FAFB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9" name="AutoShape 29"/>
          <p:cNvSpPr/>
          <p:nvPr>
            <p:custDataLst>
              <p:tags r:id="rId27"/>
            </p:custDataLst>
          </p:nvPr>
        </p:nvSpPr>
        <p:spPr>
          <a:xfrm>
            <a:off x="6413500" y="3027680"/>
            <a:ext cx="609600" cy="609600"/>
          </a:xfrm>
          <a:prstGeom prst="ellipse">
            <a:avLst/>
          </a:prstGeom>
          <a:solidFill>
            <a:srgbClr val="4CAF5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0" name="Picture 30"/>
          <p:cNvPicPr>
            <a:picLocks noChangeAspect="1"/>
          </p:cNvPicPr>
          <p:nvPr>
            <p:custDataLst>
              <p:tags r:id="rId28"/>
            </p:custDataLst>
          </p:nvPr>
        </p:nvPicPr>
        <p:blipFill>
          <a:blip r:embed="rId29"/>
          <a:srcRect/>
          <a:stretch>
            <a:fillRect/>
          </a:stretch>
        </p:blipFill>
        <p:spPr>
          <a:xfrm>
            <a:off x="6540500" y="3154680"/>
            <a:ext cx="355600" cy="3556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31" name="AutoShape 31"/>
          <p:cNvSpPr/>
          <p:nvPr>
            <p:custDataLst>
              <p:tags r:id="rId30"/>
            </p:custDataLst>
          </p:nvPr>
        </p:nvSpPr>
        <p:spPr>
          <a:xfrm>
            <a:off x="7239000" y="3040380"/>
            <a:ext cx="2667000" cy="5842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06. 价值论证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3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可量化的成效与客户证言</a:t>
            </a:r>
            <a:endParaRPr lang="en-US" sz="1300" b="0" i="0" u="none" strike="noStrike">
              <a:solidFill>
                <a:srgbClr val="6B728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33" name="AutoShape 33"/>
          <p:cNvSpPr/>
          <p:nvPr>
            <p:custDataLst>
              <p:tags r:id="rId31"/>
            </p:custDataLst>
          </p:nvPr>
        </p:nvSpPr>
        <p:spPr>
          <a:xfrm>
            <a:off x="6223000" y="4030980"/>
            <a:ext cx="5207000" cy="889000"/>
          </a:xfrm>
          <a:prstGeom prst="roundRect">
            <a:avLst>
              <a:gd name="adj" fmla="val 11428"/>
            </a:avLst>
          </a:prstGeom>
          <a:solidFill>
            <a:srgbClr val="F9FAFB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4" name="AutoShape 34"/>
          <p:cNvSpPr/>
          <p:nvPr>
            <p:custDataLst>
              <p:tags r:id="rId32"/>
            </p:custDataLst>
          </p:nvPr>
        </p:nvSpPr>
        <p:spPr>
          <a:xfrm>
            <a:off x="6413500" y="4170680"/>
            <a:ext cx="609600" cy="609600"/>
          </a:xfrm>
          <a:prstGeom prst="ellipse">
            <a:avLst/>
          </a:prstGeom>
          <a:solidFill>
            <a:srgbClr val="4CAF5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5" name="Picture 35"/>
          <p:cNvPicPr>
            <a:picLocks noChangeAspect="1"/>
          </p:cNvPicPr>
          <p:nvPr>
            <p:custDataLst>
              <p:tags r:id="rId33"/>
            </p:custDataLst>
          </p:nvPr>
        </p:nvPicPr>
        <p:blipFill>
          <a:blip r:embed="rId34"/>
          <a:srcRect/>
          <a:stretch>
            <a:fillRect/>
          </a:stretch>
        </p:blipFill>
        <p:spPr>
          <a:xfrm>
            <a:off x="6540500" y="4297680"/>
            <a:ext cx="355600" cy="3556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36" name="AutoShape 36"/>
          <p:cNvSpPr/>
          <p:nvPr>
            <p:custDataLst>
              <p:tags r:id="rId35"/>
            </p:custDataLst>
          </p:nvPr>
        </p:nvSpPr>
        <p:spPr>
          <a:xfrm>
            <a:off x="7239000" y="4183380"/>
            <a:ext cx="2667000" cy="5842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07. 携手共赢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3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合作模式与未来规划</a:t>
            </a:r>
            <a:endParaRPr lang="en-US" sz="1300" b="0" i="0" u="none" strike="noStrike">
              <a:solidFill>
                <a:srgbClr val="6B728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38" name="AutoShape 38"/>
          <p:cNvSpPr/>
          <p:nvPr>
            <p:custDataLst>
              <p:tags r:id="rId36"/>
            </p:custDataLst>
          </p:nvPr>
        </p:nvSpPr>
        <p:spPr>
          <a:xfrm>
            <a:off x="6223000" y="5173980"/>
            <a:ext cx="5207000" cy="889000"/>
          </a:xfrm>
          <a:prstGeom prst="roundRect">
            <a:avLst>
              <a:gd name="adj" fmla="val 11428"/>
            </a:avLst>
          </a:prstGeom>
          <a:solidFill>
            <a:srgbClr val="FFF8E1">
              <a:alpha val="100000"/>
            </a:srgbClr>
          </a:solidFill>
          <a:ln w="12700" cap="flat" cmpd="sng">
            <a:solidFill>
              <a:srgbClr val="FFA00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9" name="AutoShape 39"/>
          <p:cNvSpPr/>
          <p:nvPr>
            <p:custDataLst>
              <p:tags r:id="rId37"/>
            </p:custDataLst>
          </p:nvPr>
        </p:nvSpPr>
        <p:spPr>
          <a:xfrm>
            <a:off x="6413500" y="5313680"/>
            <a:ext cx="609600" cy="609600"/>
          </a:xfrm>
          <a:prstGeom prst="ellipse">
            <a:avLst/>
          </a:prstGeom>
          <a:solidFill>
            <a:srgbClr val="FFA0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40" name="Picture 40"/>
          <p:cNvPicPr>
            <a:picLocks noChangeAspect="1"/>
          </p:cNvPicPr>
          <p:nvPr>
            <p:custDataLst>
              <p:tags r:id="rId38"/>
            </p:custDataLst>
          </p:nvPr>
        </p:nvPicPr>
        <p:blipFill>
          <a:blip r:embed="rId39"/>
          <a:srcRect/>
          <a:stretch>
            <a:fillRect/>
          </a:stretch>
        </p:blipFill>
        <p:spPr>
          <a:xfrm>
            <a:off x="6540500" y="5440680"/>
            <a:ext cx="355600" cy="3556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41" name="AutoShape 41"/>
          <p:cNvSpPr/>
          <p:nvPr>
            <p:custDataLst>
              <p:tags r:id="rId40"/>
            </p:custDataLst>
          </p:nvPr>
        </p:nvSpPr>
        <p:spPr>
          <a:xfrm>
            <a:off x="7239000" y="5326380"/>
            <a:ext cx="2667000" cy="5842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08. 交流互动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3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Q &amp; A 答疑与探讨</a:t>
            </a:r>
            <a:endParaRPr lang="en-US" sz="1300" b="0" i="0" u="none" strike="noStrike">
              <a:solidFill>
                <a:srgbClr val="6B728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42" name="AutoShape 42"/>
          <p:cNvSpPr/>
          <p:nvPr>
            <p:custDataLst>
              <p:tags r:id="rId41"/>
            </p:custDataLst>
          </p:nvPr>
        </p:nvSpPr>
        <p:spPr>
          <a:xfrm>
            <a:off x="10033000" y="5402580"/>
            <a:ext cx="1206500" cy="4318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r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FFA0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互动环节</a:t>
            </a:r>
            <a:endParaRPr lang="en-US" sz="11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668000" cy="508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数字化浪潮已至，苹果产业亟待变革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651000"/>
            <a:ext cx="5207000" cy="4572000"/>
          </a:xfrm>
          <a:prstGeom prst="roundRect">
            <a:avLst>
              <a:gd name="adj" fmla="val 333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" name="AutoShape 4"/>
          <p:cNvSpPr/>
          <p:nvPr/>
        </p:nvSpPr>
        <p:spPr>
          <a:xfrm>
            <a:off x="1016000" y="1905000"/>
            <a:ext cx="46990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核心洞察：产业数字化浪潮已至</a:t>
            </a:r>
            <a:endParaRPr lang="en-US" sz="1100"/>
          </a:p>
        </p:txBody>
      </p:sp>
      <p:pic>
        <p:nvPicPr>
          <p:cNvPr id="5" name="Picture 5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16000" y="2667000"/>
            <a:ext cx="355600" cy="355600"/>
          </a:xfrm>
          <a:prstGeom prst="rect">
            <a:avLst/>
          </a:prstGeom>
        </p:spPr>
      </p:pic>
      <p:sp>
        <p:nvSpPr>
          <p:cNvPr id="6" name="AutoShape 6"/>
          <p:cNvSpPr/>
          <p:nvPr/>
        </p:nvSpPr>
        <p:spPr>
          <a:xfrm>
            <a:off x="1524000" y="2641600"/>
            <a:ext cx="4191000" cy="698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行业先行者示范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2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全国各大苹果核心产区的龙头企业已率先部署智慧果园系统，构建竞争壁垒。</a:t>
            </a:r>
            <a:endParaRPr lang="en-US" sz="1100"/>
          </a:p>
        </p:txBody>
      </p:sp>
      <p:pic>
        <p:nvPicPr>
          <p:cNvPr id="7" name="Picture 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16000" y="3556000"/>
            <a:ext cx="355600" cy="355600"/>
          </a:xfrm>
          <a:prstGeom prst="rect">
            <a:avLst/>
          </a:prstGeom>
        </p:spPr>
      </p:pic>
      <p:sp>
        <p:nvSpPr>
          <p:cNvPr id="8" name="AutoShape 8"/>
          <p:cNvSpPr/>
          <p:nvPr/>
        </p:nvSpPr>
        <p:spPr>
          <a:xfrm>
            <a:off x="1524000" y="3530600"/>
            <a:ext cx="4191000" cy="698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投入爆发式增长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2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近三年来，苹果企业数字化投入同比增长超过</a:t>
            </a:r>
            <a:r>
              <a:rPr lang="en-US" sz="1200" b="1" i="0" u="none" strike="noStrike">
                <a:solidFill>
                  <a:srgbClr val="D32F2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150%</a:t>
            </a:r>
            <a:r>
              <a:rPr lang="en-US" sz="12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，转型意愿强烈。</a:t>
            </a:r>
            <a:endParaRPr lang="en-US" sz="1100"/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16000" y="4445000"/>
            <a:ext cx="355600" cy="355600"/>
          </a:xfrm>
          <a:prstGeom prst="rect">
            <a:avLst/>
          </a:prstGeom>
        </p:spPr>
      </p:pic>
      <p:sp>
        <p:nvSpPr>
          <p:cNvPr id="10" name="AutoShape 10"/>
          <p:cNvSpPr/>
          <p:nvPr/>
        </p:nvSpPr>
        <p:spPr>
          <a:xfrm>
            <a:off x="1524000" y="4419600"/>
            <a:ext cx="4191000" cy="698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智能硬件全面普及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2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气象站、土壤传感器、虫情灯等物联网设备部署量同比增长</a:t>
            </a:r>
            <a:r>
              <a:rPr lang="en-US" sz="1200" b="1" i="0" u="none" strike="noStrike">
                <a:solidFill>
                  <a:srgbClr val="D32F2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80%</a:t>
            </a:r>
            <a:r>
              <a:rPr lang="en-US" sz="12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。</a:t>
            </a:r>
            <a:endParaRPr lang="en-US" sz="1100"/>
          </a:p>
        </p:txBody>
      </p:sp>
      <p:pic>
        <p:nvPicPr>
          <p:cNvPr id="11" name="Picture 11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16000" y="5334000"/>
            <a:ext cx="355600" cy="355600"/>
          </a:xfrm>
          <a:prstGeom prst="rect">
            <a:avLst/>
          </a:prstGeom>
        </p:spPr>
      </p:pic>
      <p:sp>
        <p:nvSpPr>
          <p:cNvPr id="12" name="AutoShape 12"/>
          <p:cNvSpPr/>
          <p:nvPr/>
        </p:nvSpPr>
        <p:spPr>
          <a:xfrm>
            <a:off x="1524000" y="5308600"/>
            <a:ext cx="4191000" cy="698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AI大模型赋能决策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2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农业大模型技术日趋成熟，为种植管理提供精准的智能决策支持。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>
            <a:off x="6223000" y="1651000"/>
            <a:ext cx="5207000" cy="4572000"/>
          </a:xfrm>
          <a:prstGeom prst="roundRect">
            <a:avLst>
              <a:gd name="adj" fmla="val 333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4" name="AutoShape 14"/>
          <p:cNvSpPr/>
          <p:nvPr/>
        </p:nvSpPr>
        <p:spPr>
          <a:xfrm>
            <a:off x="6477000" y="1905000"/>
            <a:ext cx="46990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政策与投入双重驱动</a:t>
            </a:r>
            <a:endParaRPr lang="en-US" sz="1100"/>
          </a:p>
        </p:txBody>
      </p:sp>
      <p:sp>
        <p:nvSpPr>
          <p:cNvPr id="15" name="AutoShape 15"/>
          <p:cNvSpPr/>
          <p:nvPr/>
        </p:nvSpPr>
        <p:spPr>
          <a:xfrm>
            <a:off x="6477000" y="2667000"/>
            <a:ext cx="1460500" cy="1524000"/>
          </a:xfrm>
          <a:prstGeom prst="roundRect">
            <a:avLst>
              <a:gd name="adj" fmla="val 6956"/>
            </a:avLst>
          </a:prstGeom>
          <a:solidFill>
            <a:srgbClr val="E8F5E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6" name="AutoShape 16"/>
          <p:cNvSpPr/>
          <p:nvPr/>
        </p:nvSpPr>
        <p:spPr>
          <a:xfrm>
            <a:off x="6540500" y="2794000"/>
            <a:ext cx="1333500" cy="1270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8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2024年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1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《数字农业农村发展规划》正式发布，明确转型路径。</a:t>
            </a:r>
            <a:endParaRPr lang="en-US" sz="1100"/>
          </a:p>
        </p:txBody>
      </p:sp>
      <p:sp>
        <p:nvSpPr>
          <p:cNvPr id="17" name="AutoShape 17"/>
          <p:cNvSpPr/>
          <p:nvPr/>
        </p:nvSpPr>
        <p:spPr>
          <a:xfrm>
            <a:off x="8089900" y="2667000"/>
            <a:ext cx="1460500" cy="1524000"/>
          </a:xfrm>
          <a:prstGeom prst="roundRect">
            <a:avLst>
              <a:gd name="adj" fmla="val 6956"/>
            </a:avLst>
          </a:prstGeom>
          <a:solidFill>
            <a:srgbClr val="E3F2FD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8" name="AutoShape 18"/>
          <p:cNvSpPr/>
          <p:nvPr/>
        </p:nvSpPr>
        <p:spPr>
          <a:xfrm>
            <a:off x="8153400" y="2794000"/>
            <a:ext cx="1333500" cy="1270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8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2025年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1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各地智慧农业示范项目启动，高额财政补贴落地。</a:t>
            </a:r>
            <a:endParaRPr lang="en-US" sz="1100"/>
          </a:p>
        </p:txBody>
      </p:sp>
      <p:sp>
        <p:nvSpPr>
          <p:cNvPr id="19" name="AutoShape 19"/>
          <p:cNvSpPr/>
          <p:nvPr/>
        </p:nvSpPr>
        <p:spPr>
          <a:xfrm>
            <a:off x="9715500" y="2667000"/>
            <a:ext cx="1460500" cy="1524000"/>
          </a:xfrm>
          <a:prstGeom prst="roundRect">
            <a:avLst>
              <a:gd name="adj" fmla="val 6956"/>
            </a:avLst>
          </a:prstGeom>
          <a:solidFill>
            <a:srgbClr val="FFF3E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0" name="AutoShape 20"/>
          <p:cNvSpPr/>
          <p:nvPr/>
        </p:nvSpPr>
        <p:spPr>
          <a:xfrm>
            <a:off x="9779000" y="2794000"/>
            <a:ext cx="1333500" cy="1270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8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2026年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1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设立国家级农业数字化转型专项资金，扩大支持范围。</a:t>
            </a:r>
            <a:endParaRPr lang="en-US" sz="1100"/>
          </a:p>
        </p:txBody>
      </p:sp>
      <p:sp>
        <p:nvSpPr>
          <p:cNvPr id="21" name="AutoShape 21"/>
          <p:cNvSpPr/>
          <p:nvPr/>
        </p:nvSpPr>
        <p:spPr>
          <a:xfrm>
            <a:off x="6477000" y="4445000"/>
            <a:ext cx="4699000" cy="1651000"/>
          </a:xfrm>
          <a:prstGeom prst="roundRect">
            <a:avLst>
              <a:gd name="adj" fmla="val 6153"/>
            </a:avLst>
          </a:prstGeom>
          <a:solidFill>
            <a:srgbClr val="F8F9FA">
              <a:alpha val="100000"/>
            </a:srgbClr>
          </a:solidFill>
          <a:ln w="12700" cap="flat" cmpd="sng">
            <a:solidFill>
              <a:srgbClr val="E0E0E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2" name="Picture 22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667500" y="4826000"/>
            <a:ext cx="762000" cy="762000"/>
          </a:xfrm>
          <a:prstGeom prst="rect">
            <a:avLst/>
          </a:prstGeom>
        </p:spPr>
      </p:pic>
      <p:sp>
        <p:nvSpPr>
          <p:cNvPr id="23" name="AutoShape 23"/>
          <p:cNvSpPr/>
          <p:nvPr/>
        </p:nvSpPr>
        <p:spPr>
          <a:xfrm>
            <a:off x="7620000" y="4699000"/>
            <a:ext cx="3302000" cy="1143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7000"/>
              </a:lnSpc>
              <a:defRPr/>
            </a:pPr>
            <a:r>
              <a:rPr lang="en-US" sz="14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苹果企业数字化投入趋势 (2022-2026E)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2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随着政策红利释放与技术成熟，预计未来三年投入将持续保持高速增长态势，转型将从“尝鲜”走向“主流”。</a:t>
            </a:r>
            <a:endParaRPr lang="en-US" sz="11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668000" cy="508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管理者的烦恼 · 一线的挑战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524000"/>
            <a:ext cx="5207000" cy="3810000"/>
          </a:xfrm>
          <a:prstGeom prst="roundRect">
            <a:avLst>
              <a:gd name="adj" fmla="val 4000"/>
            </a:avLst>
          </a:prstGeom>
          <a:solidFill>
            <a:srgbClr val="F9F9F9">
              <a:alpha val="100000"/>
            </a:srgbClr>
          </a:solidFill>
          <a:ln w="12700" cap="flat" cmpd="sng">
            <a:solidFill>
              <a:srgbClr val="E6E6E6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" name="AutoShape 4"/>
          <p:cNvSpPr/>
          <p:nvPr/>
        </p:nvSpPr>
        <p:spPr>
          <a:xfrm>
            <a:off x="952500" y="1651000"/>
            <a:ext cx="4826000" cy="3048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🏢 企业管理者痛点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952500" y="2159000"/>
            <a:ext cx="2413000" cy="1016000"/>
          </a:xfrm>
          <a:prstGeom prst="roundRect">
            <a:avLst>
              <a:gd name="adj" fmla="val 10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1079500" y="2413000"/>
            <a:ext cx="457200" cy="4572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7" name="AutoShape 7"/>
          <p:cNvSpPr/>
          <p:nvPr/>
        </p:nvSpPr>
        <p:spPr>
          <a:xfrm>
            <a:off x="1651000" y="2286000"/>
            <a:ext cx="1651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数据孤岛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生产/销售/财务数据分散，无法关联分析。</a:t>
            </a:r>
            <a:endParaRPr lang="en-US" sz="1100" b="0" i="0" u="none" strike="noStrike">
              <a:solidFill>
                <a:srgbClr val="75757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8" name="AutoShape 8"/>
          <p:cNvSpPr/>
          <p:nvPr/>
        </p:nvSpPr>
        <p:spPr>
          <a:xfrm>
            <a:off x="3429000" y="2159000"/>
            <a:ext cx="2413000" cy="1016000"/>
          </a:xfrm>
          <a:prstGeom prst="roundRect">
            <a:avLst>
              <a:gd name="adj" fmla="val 10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3556000" y="2413000"/>
            <a:ext cx="457200" cy="4572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0" name="AutoShape 10"/>
          <p:cNvSpPr/>
          <p:nvPr/>
        </p:nvSpPr>
        <p:spPr>
          <a:xfrm>
            <a:off x="4127500" y="2286000"/>
            <a:ext cx="1651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预警滞后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气象/虫情预警响应慢，错失良机，损失钱财。</a:t>
            </a:r>
            <a:endParaRPr lang="en-US" sz="1100" b="0" i="0" u="none" strike="noStrike">
              <a:solidFill>
                <a:srgbClr val="75757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1" name="AutoShape 11"/>
          <p:cNvSpPr/>
          <p:nvPr/>
        </p:nvSpPr>
        <p:spPr>
          <a:xfrm>
            <a:off x="952500" y="3302000"/>
            <a:ext cx="2413000" cy="1016000"/>
          </a:xfrm>
          <a:prstGeom prst="roundRect">
            <a:avLst>
              <a:gd name="adj" fmla="val 10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1079500" y="3556000"/>
            <a:ext cx="457200" cy="4572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3" name="AutoShape 13"/>
          <p:cNvSpPr/>
          <p:nvPr/>
        </p:nvSpPr>
        <p:spPr>
          <a:xfrm>
            <a:off x="1651000" y="3429000"/>
            <a:ext cx="1651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手工汇整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报表需手工整理，耗时费力且易出错。</a:t>
            </a:r>
            <a:endParaRPr lang="en-US" sz="1100" b="0" i="0" u="none" strike="noStrike">
              <a:solidFill>
                <a:srgbClr val="75757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4" name="AutoShape 14"/>
          <p:cNvSpPr/>
          <p:nvPr/>
        </p:nvSpPr>
        <p:spPr>
          <a:xfrm>
            <a:off x="3429000" y="3302000"/>
            <a:ext cx="2413000" cy="1016000"/>
          </a:xfrm>
          <a:prstGeom prst="roundRect">
            <a:avLst>
              <a:gd name="adj" fmla="val 10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5" name="Picture 15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3556000" y="3556000"/>
            <a:ext cx="457200" cy="4572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6" name="AutoShape 16"/>
          <p:cNvSpPr/>
          <p:nvPr/>
        </p:nvSpPr>
        <p:spPr>
          <a:xfrm>
            <a:off x="4127500" y="3429000"/>
            <a:ext cx="1651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质量担忧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产品来源不可靠，难以满足消费者溯源需求。</a:t>
            </a:r>
            <a:endParaRPr lang="en-US" sz="1100" b="0" i="0" u="none" strike="noStrike">
              <a:solidFill>
                <a:srgbClr val="75757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7" name="AutoShape 17"/>
          <p:cNvSpPr/>
          <p:nvPr/>
        </p:nvSpPr>
        <p:spPr>
          <a:xfrm>
            <a:off x="952500" y="4445000"/>
            <a:ext cx="2413000" cy="1016000"/>
          </a:xfrm>
          <a:prstGeom prst="roundRect">
            <a:avLst>
              <a:gd name="adj" fmla="val 10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8" name="Picture 18"/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1079500" y="4699000"/>
            <a:ext cx="457200" cy="4572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9" name="AutoShape 19"/>
          <p:cNvSpPr/>
          <p:nvPr/>
        </p:nvSpPr>
        <p:spPr>
          <a:xfrm>
            <a:off x="1651000" y="4572000"/>
            <a:ext cx="1651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农事低效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依赖传统经验，排班耗时长，流转超2-4小时/次。</a:t>
            </a:r>
            <a:endParaRPr lang="en-US" sz="1100" b="0" i="0" u="none" strike="noStrike">
              <a:solidFill>
                <a:srgbClr val="75757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0" name="AutoShape 20"/>
          <p:cNvSpPr/>
          <p:nvPr/>
        </p:nvSpPr>
        <p:spPr>
          <a:xfrm>
            <a:off x="3429000" y="4445000"/>
            <a:ext cx="2413000" cy="1016000"/>
          </a:xfrm>
          <a:prstGeom prst="roundRect">
            <a:avLst>
              <a:gd name="adj" fmla="val 10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1" name="Picture 21"/>
          <p:cNvPicPr>
            <a:picLocks noChangeAspect="1"/>
          </p:cNvPicPr>
          <p:nvPr/>
        </p:nvPicPr>
        <p:blipFill>
          <a:blip r:embed="rId6"/>
          <a:srcRect/>
          <a:stretch>
            <a:fillRect/>
          </a:stretch>
        </p:blipFill>
        <p:spPr>
          <a:xfrm>
            <a:off x="3556000" y="4699000"/>
            <a:ext cx="457200" cy="4572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22" name="AutoShape 22"/>
          <p:cNvSpPr/>
          <p:nvPr/>
        </p:nvSpPr>
        <p:spPr>
          <a:xfrm>
            <a:off x="4127500" y="4572000"/>
            <a:ext cx="1651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库存失控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采用Excel管库存，库存准确率仅</a:t>
            </a:r>
            <a:r>
              <a:rPr lang="en-US" sz="1100" b="1" i="0" u="none" strike="noStrike">
                <a:solidFill>
                  <a:srgbClr val="D32F2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60%</a:t>
            </a:r>
            <a:endParaRPr lang="en-US" sz="1100" b="1" i="0" u="none" strike="noStrike">
              <a:solidFill>
                <a:srgbClr val="D32F2F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3" name="AutoShape 23"/>
          <p:cNvSpPr/>
          <p:nvPr/>
        </p:nvSpPr>
        <p:spPr>
          <a:xfrm>
            <a:off x="6223000" y="1524000"/>
            <a:ext cx="5207000" cy="3810000"/>
          </a:xfrm>
          <a:prstGeom prst="roundRect">
            <a:avLst>
              <a:gd name="adj" fmla="val 4000"/>
            </a:avLst>
          </a:prstGeom>
          <a:solidFill>
            <a:srgbClr val="F9F9F9">
              <a:alpha val="100000"/>
            </a:srgbClr>
          </a:solidFill>
          <a:ln w="12700" cap="flat" cmpd="sng">
            <a:solidFill>
              <a:srgbClr val="E6E6E6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4" name="AutoShape 24"/>
          <p:cNvSpPr/>
          <p:nvPr/>
        </p:nvSpPr>
        <p:spPr>
          <a:xfrm>
            <a:off x="6413500" y="1651000"/>
            <a:ext cx="4826000" cy="3048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976D2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👷 一线人员痛点</a:t>
            </a:r>
            <a:endParaRPr lang="en-US" sz="1100"/>
          </a:p>
        </p:txBody>
      </p:sp>
      <p:sp>
        <p:nvSpPr>
          <p:cNvPr id="25" name="AutoShape 25"/>
          <p:cNvSpPr/>
          <p:nvPr/>
        </p:nvSpPr>
        <p:spPr>
          <a:xfrm>
            <a:off x="6413500" y="2159000"/>
            <a:ext cx="2413000" cy="1460500"/>
          </a:xfrm>
          <a:prstGeom prst="roundRect">
            <a:avLst>
              <a:gd name="adj" fmla="val 6956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6" name="Picture 26"/>
          <p:cNvPicPr>
            <a:picLocks noChangeAspect="1"/>
          </p:cNvPicPr>
          <p:nvPr/>
        </p:nvPicPr>
        <p:blipFill>
          <a:blip r:embed="rId7"/>
          <a:srcRect/>
          <a:stretch>
            <a:fillRect/>
          </a:stretch>
        </p:blipFill>
        <p:spPr>
          <a:xfrm>
            <a:off x="6540500" y="2476500"/>
            <a:ext cx="508000" cy="508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27" name="AutoShape 27"/>
          <p:cNvSpPr/>
          <p:nvPr/>
        </p:nvSpPr>
        <p:spPr>
          <a:xfrm>
            <a:off x="7175500" y="2349500"/>
            <a:ext cx="1524000" cy="1079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操作复杂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现有APP步骤繁琐，上手门槛高，学会不敢干、不用。</a:t>
            </a:r>
            <a:endParaRPr lang="en-US" sz="1100" b="0" i="0" u="none" strike="noStrike">
              <a:solidFill>
                <a:srgbClr val="75757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8" name="AutoShape 28"/>
          <p:cNvSpPr/>
          <p:nvPr/>
        </p:nvSpPr>
        <p:spPr>
          <a:xfrm>
            <a:off x="8890000" y="2159000"/>
            <a:ext cx="2413000" cy="1460500"/>
          </a:xfrm>
          <a:prstGeom prst="roundRect">
            <a:avLst>
              <a:gd name="adj" fmla="val 6956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9" name="Picture 29"/>
          <p:cNvPicPr>
            <a:picLocks noChangeAspect="1"/>
          </p:cNvPicPr>
          <p:nvPr/>
        </p:nvPicPr>
        <p:blipFill>
          <a:blip r:embed="rId8"/>
          <a:srcRect/>
          <a:stretch>
            <a:fillRect/>
          </a:stretch>
        </p:blipFill>
        <p:spPr>
          <a:xfrm>
            <a:off x="9017000" y="2476500"/>
            <a:ext cx="508000" cy="508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30" name="AutoShape 30"/>
          <p:cNvSpPr/>
          <p:nvPr/>
        </p:nvSpPr>
        <p:spPr>
          <a:xfrm>
            <a:off x="9652000" y="2349500"/>
            <a:ext cx="1524000" cy="1079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网络不稳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山区/偏远地块4G信号弱，农事记录提交频繁失败。</a:t>
            </a:r>
            <a:endParaRPr lang="en-US" sz="1100" b="0" i="0" u="none" strike="noStrike">
              <a:solidFill>
                <a:srgbClr val="75757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31" name="AutoShape 31"/>
          <p:cNvSpPr/>
          <p:nvPr/>
        </p:nvSpPr>
        <p:spPr>
          <a:xfrm>
            <a:off x="6413500" y="3810000"/>
            <a:ext cx="2413000" cy="1460500"/>
          </a:xfrm>
          <a:prstGeom prst="roundRect">
            <a:avLst>
              <a:gd name="adj" fmla="val 6956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2" name="Picture 32"/>
          <p:cNvPicPr>
            <a:picLocks noChangeAspect="1"/>
          </p:cNvPicPr>
          <p:nvPr/>
        </p:nvPicPr>
        <p:blipFill>
          <a:blip r:embed="rId9"/>
          <a:srcRect/>
          <a:stretch>
            <a:fillRect/>
          </a:stretch>
        </p:blipFill>
        <p:spPr>
          <a:xfrm>
            <a:off x="6540500" y="4127500"/>
            <a:ext cx="508000" cy="508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33" name="AutoShape 33"/>
          <p:cNvSpPr/>
          <p:nvPr/>
        </p:nvSpPr>
        <p:spPr>
          <a:xfrm>
            <a:off x="7175500" y="4000500"/>
            <a:ext cx="1524000" cy="1079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记录麻烦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手机打字慢，系统选择项多，严重影响田间干活效率。</a:t>
            </a:r>
            <a:endParaRPr lang="en-US" sz="1100" b="0" i="0" u="none" strike="noStrike">
              <a:solidFill>
                <a:srgbClr val="75757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34" name="AutoShape 34"/>
          <p:cNvSpPr/>
          <p:nvPr/>
        </p:nvSpPr>
        <p:spPr>
          <a:xfrm>
            <a:off x="8890000" y="3810000"/>
            <a:ext cx="2413000" cy="1460500"/>
          </a:xfrm>
          <a:prstGeom prst="roundRect">
            <a:avLst>
              <a:gd name="adj" fmla="val 6956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5" name="Picture 35"/>
          <p:cNvPicPr>
            <a:picLocks noChangeAspect="1"/>
          </p:cNvPicPr>
          <p:nvPr/>
        </p:nvPicPr>
        <p:blipFill>
          <a:blip r:embed="rId10"/>
          <a:srcRect/>
          <a:stretch>
            <a:fillRect/>
          </a:stretch>
        </p:blipFill>
        <p:spPr>
          <a:xfrm>
            <a:off x="9017000" y="4127500"/>
            <a:ext cx="508000" cy="508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36" name="AutoShape 36"/>
          <p:cNvSpPr/>
          <p:nvPr/>
        </p:nvSpPr>
        <p:spPr>
          <a:xfrm>
            <a:off x="9652000" y="4000500"/>
            <a:ext cx="1524000" cy="1079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决策无据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长期仅凭个人经验操作，缺乏科学依据和数据支撑。</a:t>
            </a:r>
            <a:endParaRPr lang="en-US" sz="1100" b="0" i="0" u="none" strike="noStrike">
              <a:solidFill>
                <a:srgbClr val="75757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37" name="AutoShape 37"/>
          <p:cNvSpPr/>
          <p:nvPr/>
        </p:nvSpPr>
        <p:spPr>
          <a:xfrm>
            <a:off x="762000" y="5588000"/>
            <a:ext cx="10668000" cy="1016000"/>
          </a:xfrm>
          <a:prstGeom prst="roundRect">
            <a:avLst>
              <a:gd name="adj" fmla="val 15000"/>
            </a:avLst>
          </a:prstGeom>
          <a:solidFill>
            <a:srgbClr val="4CAF5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8" name="AutoShape 38"/>
          <p:cNvSpPr/>
          <p:nvPr/>
        </p:nvSpPr>
        <p:spPr>
          <a:xfrm>
            <a:off x="1016000" y="5778500"/>
            <a:ext cx="9906000" cy="635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2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“每多一次点击，一天多几十次操作”</a:t>
            </a:r>
            <a:r>
              <a:rPr lang="en-US" sz="1600" b="0" i="0" u="none" strike="noStrike">
                <a:solidFill>
                  <a:srgbClr val="FFFFFF">
                    <a:alpha val="90196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—— 地块负责人真实反馈</a:t>
            </a:r>
            <a:endParaRPr lang="en-US" sz="11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668000" cy="571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懂苹果的垂直平台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651000"/>
            <a:ext cx="10668000" cy="1397000"/>
          </a:xfrm>
          <a:prstGeom prst="roundRect">
            <a:avLst>
              <a:gd name="adj" fmla="val 10909"/>
            </a:avLst>
          </a:prstGeom>
          <a:solidFill>
            <a:srgbClr val="E8F5E9">
              <a:alpha val="100000"/>
            </a:srgbClr>
          </a:solidFill>
          <a:ln w="12700" cap="flat" cmpd="sng">
            <a:solidFill>
              <a:srgbClr val="4CAF50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" name="AutoShape 4"/>
          <p:cNvSpPr/>
          <p:nvPr/>
        </p:nvSpPr>
        <p:spPr>
          <a:xfrm>
            <a:off x="1016000" y="1841500"/>
            <a:ext cx="10160000" cy="1016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8000"/>
              </a:lnSpc>
              <a:defRPr/>
            </a:pPr>
            <a:r>
              <a:rPr lang="en-US" sz="18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不是通用农业 ERP 系统</a:t>
            </a:r>
            <a:endParaRPr lang="en-US" sz="1100"/>
          </a:p>
          <a:p>
            <a:pPr indent="0" algn="ctr">
              <a:lnSpc>
                <a:spcPct val="108000"/>
              </a:lnSpc>
            </a:pPr>
            <a:r>
              <a:rPr lang="en-US" sz="2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而是以</a:t>
            </a:r>
            <a:r>
              <a:rPr lang="en-US" sz="22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六大农业模型</a:t>
            </a:r>
            <a:r>
              <a:rPr lang="en-US" sz="2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为引擎，以</a:t>
            </a:r>
            <a:r>
              <a:rPr lang="zh-CN" altLang="en-US" sz="22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精细管理</a:t>
            </a:r>
            <a:r>
              <a:rPr lang="en-US" sz="2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为核心的垂直专业化管理系统</a:t>
            </a:r>
            <a:endParaRPr lang="en-US" sz="2200" b="1" i="0" u="none" strike="noStrike">
              <a:solidFill>
                <a:srgbClr val="333333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5" name="AutoShape 5"/>
          <p:cNvSpPr/>
          <p:nvPr/>
        </p:nvSpPr>
        <p:spPr>
          <a:xfrm>
            <a:off x="762000" y="3429000"/>
            <a:ext cx="3302000" cy="1587500"/>
          </a:xfrm>
          <a:prstGeom prst="roundRect">
            <a:avLst>
              <a:gd name="adj" fmla="val 6400"/>
            </a:avLst>
          </a:prstGeom>
          <a:solidFill>
            <a:srgbClr val="F9FAFB">
              <a:alpha val="100000"/>
            </a:srgbClr>
          </a:solidFill>
          <a:ln w="12700" cap="flat" cmpd="sng">
            <a:solidFill>
              <a:srgbClr val="E6E6E6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952500" y="3683000"/>
            <a:ext cx="457200" cy="4572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7" name="AutoShape 7"/>
          <p:cNvSpPr/>
          <p:nvPr/>
        </p:nvSpPr>
        <p:spPr>
          <a:xfrm>
            <a:off x="1587500" y="3581400"/>
            <a:ext cx="2286000" cy="1270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效率提升</a:t>
            </a:r>
            <a:endParaRPr lang="en-US" sz="1100"/>
          </a:p>
          <a:p>
            <a:pPr indent="0" algn="l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农事排程自动化，减少人工沟通成本</a:t>
            </a:r>
            <a:endParaRPr lang="en-US" sz="1200" b="0" i="0" u="none" strike="noStrike">
              <a:solidFill>
                <a:srgbClr val="66666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indent="0" algn="l">
              <a:lnSpc>
                <a:spcPct val="125000"/>
              </a:lnSpc>
              <a:spcBef>
                <a:spcPts val="800"/>
              </a:spcBef>
            </a:pPr>
            <a:r>
              <a:rPr lang="en-US" sz="13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排程时间减少 60%+</a:t>
            </a:r>
            <a:endParaRPr lang="en-US" sz="1300" b="1" i="0" u="none" strike="noStrike">
              <a:solidFill>
                <a:srgbClr val="4CAF5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8" name="AutoShape 8"/>
          <p:cNvSpPr/>
          <p:nvPr/>
        </p:nvSpPr>
        <p:spPr>
          <a:xfrm>
            <a:off x="4445000" y="3429000"/>
            <a:ext cx="3302000" cy="1587500"/>
          </a:xfrm>
          <a:prstGeom prst="roundRect">
            <a:avLst>
              <a:gd name="adj" fmla="val 6400"/>
            </a:avLst>
          </a:prstGeom>
          <a:solidFill>
            <a:srgbClr val="F9FAFB">
              <a:alpha val="100000"/>
            </a:srgbClr>
          </a:solidFill>
          <a:ln w="12700" cap="flat" cmpd="sng">
            <a:solidFill>
              <a:srgbClr val="E6E6E6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4635500" y="3683000"/>
            <a:ext cx="457200" cy="4572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0" name="AutoShape 10"/>
          <p:cNvSpPr/>
          <p:nvPr/>
        </p:nvSpPr>
        <p:spPr>
          <a:xfrm>
            <a:off x="5270500" y="3581400"/>
            <a:ext cx="2286000" cy="1270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数据完整</a:t>
            </a:r>
            <a:endParaRPr lang="en-US" sz="1100"/>
          </a:p>
          <a:p>
            <a:pPr indent="0" algn="l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拍照即记录，离线不丢失，数据留存无忧</a:t>
            </a:r>
            <a:endParaRPr lang="en-US" sz="1200" b="0" i="0" u="none" strike="noStrike">
              <a:solidFill>
                <a:srgbClr val="66666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indent="0" algn="l">
              <a:lnSpc>
                <a:spcPct val="125000"/>
              </a:lnSpc>
              <a:spcBef>
                <a:spcPts val="800"/>
              </a:spcBef>
            </a:pPr>
            <a:r>
              <a:rPr lang="en-US" sz="13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记录完整率提升至 80%+</a:t>
            </a:r>
            <a:endParaRPr lang="en-US" sz="1300" b="1" i="0" u="none" strike="noStrike">
              <a:solidFill>
                <a:srgbClr val="4CAF5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1" name="AutoShape 11"/>
          <p:cNvSpPr/>
          <p:nvPr/>
        </p:nvSpPr>
        <p:spPr>
          <a:xfrm>
            <a:off x="8128000" y="3429000"/>
            <a:ext cx="3302000" cy="1587500"/>
          </a:xfrm>
          <a:prstGeom prst="roundRect">
            <a:avLst>
              <a:gd name="adj" fmla="val 6400"/>
            </a:avLst>
          </a:prstGeom>
          <a:solidFill>
            <a:srgbClr val="F9FAFB">
              <a:alpha val="100000"/>
            </a:srgbClr>
          </a:solidFill>
          <a:ln w="12700" cap="flat" cmpd="sng">
            <a:solidFill>
              <a:srgbClr val="E6E6E6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8318500" y="3683000"/>
            <a:ext cx="457200" cy="4572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3" name="AutoShape 13"/>
          <p:cNvSpPr/>
          <p:nvPr/>
        </p:nvSpPr>
        <p:spPr>
          <a:xfrm>
            <a:off x="8953500" y="3581400"/>
            <a:ext cx="2286000" cy="1270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库存可控</a:t>
            </a:r>
            <a:endParaRPr lang="en-US" sz="1100"/>
          </a:p>
          <a:p>
            <a:pPr indent="0" algn="l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农资全链路数字化管理，实时库存预警</a:t>
            </a:r>
            <a:endParaRPr lang="en-US" sz="1200" b="0" i="0" u="none" strike="noStrike">
              <a:solidFill>
                <a:srgbClr val="66666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indent="0" algn="l">
              <a:lnSpc>
                <a:spcPct val="125000"/>
              </a:lnSpc>
              <a:spcBef>
                <a:spcPts val="800"/>
              </a:spcBef>
            </a:pPr>
            <a:r>
              <a:rPr lang="en-US" sz="13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库存数据准确率 &gt; 95%</a:t>
            </a:r>
            <a:endParaRPr lang="en-US" sz="1300" b="1" i="0" u="none" strike="noStrike">
              <a:solidFill>
                <a:srgbClr val="4CAF5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4" name="AutoShape 14"/>
          <p:cNvSpPr/>
          <p:nvPr/>
        </p:nvSpPr>
        <p:spPr>
          <a:xfrm>
            <a:off x="762000" y="5143500"/>
            <a:ext cx="3302000" cy="1587500"/>
          </a:xfrm>
          <a:prstGeom prst="roundRect">
            <a:avLst>
              <a:gd name="adj" fmla="val 6400"/>
            </a:avLst>
          </a:prstGeom>
          <a:solidFill>
            <a:srgbClr val="F9FAFB">
              <a:alpha val="100000"/>
            </a:srgbClr>
          </a:solidFill>
          <a:ln w="12700" cap="flat" cmpd="sng">
            <a:solidFill>
              <a:srgbClr val="E6E6E6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5" name="Picture 15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952500" y="5397500"/>
            <a:ext cx="457200" cy="4572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6" name="AutoShape 16"/>
          <p:cNvSpPr/>
          <p:nvPr/>
        </p:nvSpPr>
        <p:spPr>
          <a:xfrm>
            <a:off x="1587500" y="5295900"/>
            <a:ext cx="2286000" cy="1270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风险可控</a:t>
            </a:r>
            <a:endParaRPr lang="en-US" sz="1100"/>
          </a:p>
          <a:p>
            <a:pPr indent="0" algn="l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病虫害、气象等风险，分秒级预警响应</a:t>
            </a:r>
            <a:endParaRPr lang="en-US" sz="1200" b="0" i="0" u="none" strike="noStrike">
              <a:solidFill>
                <a:srgbClr val="66666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indent="0" algn="l">
              <a:lnSpc>
                <a:spcPct val="125000"/>
              </a:lnSpc>
              <a:spcBef>
                <a:spcPts val="800"/>
              </a:spcBef>
            </a:pPr>
            <a:r>
              <a:rPr lang="en-US" sz="13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风险预警响应 &lt; 5分钟</a:t>
            </a:r>
            <a:endParaRPr lang="en-US" sz="1300" b="1" i="0" u="none" strike="noStrike">
              <a:solidFill>
                <a:srgbClr val="4CAF5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7" name="AutoShape 17"/>
          <p:cNvSpPr/>
          <p:nvPr/>
        </p:nvSpPr>
        <p:spPr>
          <a:xfrm>
            <a:off x="4445000" y="5143500"/>
            <a:ext cx="3302000" cy="1587500"/>
          </a:xfrm>
          <a:prstGeom prst="roundRect">
            <a:avLst>
              <a:gd name="adj" fmla="val 6400"/>
            </a:avLst>
          </a:prstGeom>
          <a:solidFill>
            <a:srgbClr val="F9FAFB">
              <a:alpha val="100000"/>
            </a:srgbClr>
          </a:solidFill>
          <a:ln w="12700" cap="flat" cmpd="sng">
            <a:solidFill>
              <a:srgbClr val="E6E6E6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8" name="Picture 18"/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4635500" y="5397500"/>
            <a:ext cx="457200" cy="4572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9" name="AutoShape 19"/>
          <p:cNvSpPr/>
          <p:nvPr/>
        </p:nvSpPr>
        <p:spPr>
          <a:xfrm>
            <a:off x="5270500" y="5295900"/>
            <a:ext cx="2286000" cy="1270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品质可溯</a:t>
            </a:r>
            <a:endParaRPr lang="en-US" sz="1100"/>
          </a:p>
          <a:p>
            <a:pPr indent="0" algn="l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区块链全程溯源，构建消费者信任基石</a:t>
            </a:r>
            <a:endParaRPr lang="en-US" sz="1200" b="0" i="0" u="none" strike="noStrike">
              <a:solidFill>
                <a:srgbClr val="66666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indent="0" algn="l">
              <a:lnSpc>
                <a:spcPct val="125000"/>
              </a:lnSpc>
              <a:spcBef>
                <a:spcPts val="800"/>
              </a:spcBef>
            </a:pPr>
            <a:r>
              <a:rPr lang="en-US" sz="13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助力品牌溢价显著提升</a:t>
            </a:r>
            <a:endParaRPr lang="en-US" sz="1300" b="1" i="0" u="none" strike="noStrike">
              <a:solidFill>
                <a:srgbClr val="4CAF5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0" name="AutoShape 20"/>
          <p:cNvSpPr/>
          <p:nvPr/>
        </p:nvSpPr>
        <p:spPr>
          <a:xfrm>
            <a:off x="8128000" y="5143500"/>
            <a:ext cx="3302000" cy="1587500"/>
          </a:xfrm>
          <a:prstGeom prst="roundRect">
            <a:avLst>
              <a:gd name="adj" fmla="val 6400"/>
            </a:avLst>
          </a:prstGeom>
          <a:solidFill>
            <a:srgbClr val="F9FAFB">
              <a:alpha val="100000"/>
            </a:srgbClr>
          </a:solidFill>
          <a:ln w="12700" cap="flat" cmpd="sng">
            <a:solidFill>
              <a:srgbClr val="E6E6E6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1" name="Picture 21"/>
          <p:cNvPicPr>
            <a:picLocks noChangeAspect="1"/>
          </p:cNvPicPr>
          <p:nvPr/>
        </p:nvPicPr>
        <p:blipFill>
          <a:blip r:embed="rId6"/>
          <a:srcRect/>
          <a:stretch>
            <a:fillRect/>
          </a:stretch>
        </p:blipFill>
        <p:spPr>
          <a:xfrm>
            <a:off x="8318500" y="5397500"/>
            <a:ext cx="457200" cy="4572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22" name="AutoShape 22"/>
          <p:cNvSpPr/>
          <p:nvPr/>
        </p:nvSpPr>
        <p:spPr>
          <a:xfrm>
            <a:off x="8953500" y="5295900"/>
            <a:ext cx="2286000" cy="1270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决策智能</a:t>
            </a:r>
            <a:endParaRPr lang="en-US" sz="1100"/>
          </a:p>
          <a:p>
            <a:pPr indent="0" algn="l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六大专业农业模型驱动，科学指导农事决策</a:t>
            </a:r>
            <a:endParaRPr lang="en-US" sz="1200" b="0" i="0" u="none" strike="noStrike">
              <a:solidFill>
                <a:srgbClr val="66666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indent="0" algn="l">
              <a:lnSpc>
                <a:spcPct val="125000"/>
              </a:lnSpc>
              <a:spcBef>
                <a:spcPts val="800"/>
              </a:spcBef>
            </a:pPr>
            <a:r>
              <a:rPr lang="en-US" sz="13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农事建议准确率 70%+</a:t>
            </a:r>
            <a:endParaRPr lang="en-US" sz="1300" b="1" i="0" u="none" strike="noStrike">
              <a:solidFill>
                <a:srgbClr val="4CAF5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668000" cy="571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设计哲学：一线不用，系统白搭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778000"/>
            <a:ext cx="5207000" cy="4445000"/>
          </a:xfrm>
          <a:prstGeom prst="roundRect">
            <a:avLst>
              <a:gd name="adj" fmla="val 3428"/>
            </a:avLst>
          </a:prstGeom>
          <a:solidFill>
            <a:srgbClr val="F9FBF9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" name="AutoShape 4"/>
          <p:cNvSpPr/>
          <p:nvPr/>
        </p:nvSpPr>
        <p:spPr>
          <a:xfrm>
            <a:off x="1016000" y="2032000"/>
            <a:ext cx="4699000" cy="444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2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核心设计理念 · 以人为本</a:t>
            </a:r>
            <a:endParaRPr lang="en-US" sz="1100"/>
          </a:p>
        </p:txBody>
      </p:sp>
      <p:pic>
        <p:nvPicPr>
          <p:cNvPr id="5" name="Picture 5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1016000" y="2794000"/>
            <a:ext cx="457200" cy="4572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6" name="AutoShape 6"/>
          <p:cNvSpPr/>
          <p:nvPr/>
        </p:nvSpPr>
        <p:spPr>
          <a:xfrm>
            <a:off x="1651000" y="2768600"/>
            <a:ext cx="4064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以“地块负责人”为中心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3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将一线用户的操作体验作为产品生命线，拒绝复杂逻辑。</a:t>
            </a:r>
            <a:endParaRPr lang="en-US" sz="1300" b="0" i="0" u="none" strike="noStrike">
              <a:solidFill>
                <a:srgbClr val="66666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pic>
        <p:nvPicPr>
          <p:cNvPr id="7" name="Picture 7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1016000" y="3810000"/>
            <a:ext cx="457200" cy="4572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8" name="AutoShape 8"/>
          <p:cNvSpPr/>
          <p:nvPr/>
        </p:nvSpPr>
        <p:spPr>
          <a:xfrm>
            <a:off x="1651000" y="3784600"/>
            <a:ext cx="4064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拍照即记录，离线优先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3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适应复杂的田间网络环境，断网不停工，操作零门槛。</a:t>
            </a:r>
            <a:endParaRPr lang="en-US" sz="1300" b="0" i="0" u="none" strike="noStrike">
              <a:solidFill>
                <a:srgbClr val="66666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1016000" y="4953000"/>
            <a:ext cx="457200" cy="4572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0" name="AutoShape 10"/>
          <p:cNvSpPr/>
          <p:nvPr/>
        </p:nvSpPr>
        <p:spPr>
          <a:xfrm>
            <a:off x="1651000" y="4927600"/>
            <a:ext cx="4064000" cy="1016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大字大按钮，五端协同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3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适配户外强光下的视觉体验，Web/APP/小程序等多端实时同步，数据同源。</a:t>
            </a:r>
            <a:endParaRPr lang="en-US" sz="1300" b="0" i="0" u="none" strike="noStrike">
              <a:solidFill>
                <a:srgbClr val="66666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1" name="AutoShape 11"/>
          <p:cNvSpPr/>
          <p:nvPr/>
        </p:nvSpPr>
        <p:spPr>
          <a:xfrm>
            <a:off x="6350000" y="1778000"/>
            <a:ext cx="5080000" cy="444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200" b="1" i="0" u="none" strike="noStrike">
                <a:solidFill>
                  <a:srgbClr val="EA580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技术红线 · 不可妥协</a:t>
            </a:r>
            <a:endParaRPr lang="en-US" sz="1100"/>
          </a:p>
        </p:txBody>
      </p:sp>
      <p:sp>
        <p:nvSpPr>
          <p:cNvPr id="12" name="AutoShape 12"/>
          <p:cNvSpPr/>
          <p:nvPr/>
        </p:nvSpPr>
        <p:spPr>
          <a:xfrm>
            <a:off x="6350000" y="2540000"/>
            <a:ext cx="2413000" cy="1397000"/>
          </a:xfrm>
          <a:prstGeom prst="roundRect">
            <a:avLst>
              <a:gd name="adj" fmla="val 7272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3" name="Picture 13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6540500" y="2857500"/>
            <a:ext cx="355600" cy="3556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4" name="AutoShape 14"/>
          <p:cNvSpPr/>
          <p:nvPr/>
        </p:nvSpPr>
        <p:spPr>
          <a:xfrm>
            <a:off x="7048500" y="2730500"/>
            <a:ext cx="1587500" cy="1016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山区弱网可用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在信号极差环境，保证基础功能流畅运行。</a:t>
            </a:r>
            <a:endParaRPr lang="en-US" sz="1200" b="0" i="0" u="none" strike="noStrike">
              <a:solidFill>
                <a:srgbClr val="6B728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5" name="AutoShape 15"/>
          <p:cNvSpPr/>
          <p:nvPr/>
        </p:nvSpPr>
        <p:spPr>
          <a:xfrm>
            <a:off x="9017000" y="2540000"/>
            <a:ext cx="2413000" cy="1397000"/>
          </a:xfrm>
          <a:prstGeom prst="roundRect">
            <a:avLst>
              <a:gd name="adj" fmla="val 7272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6" name="Picture 16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9207500" y="2857500"/>
            <a:ext cx="355600" cy="3556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7" name="AutoShape 17"/>
          <p:cNvSpPr/>
          <p:nvPr/>
        </p:nvSpPr>
        <p:spPr>
          <a:xfrm>
            <a:off x="9715500" y="2730500"/>
            <a:ext cx="1587500" cy="1016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离线数据不丢失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本地数据多重缓存，联网后自动无缝恢复。</a:t>
            </a:r>
            <a:endParaRPr lang="en-US" sz="1200" b="0" i="0" u="none" strike="noStrike">
              <a:solidFill>
                <a:srgbClr val="6B728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8" name="AutoShape 18"/>
          <p:cNvSpPr/>
          <p:nvPr/>
        </p:nvSpPr>
        <p:spPr>
          <a:xfrm>
            <a:off x="6350000" y="4191000"/>
            <a:ext cx="1600200" cy="1905000"/>
          </a:xfrm>
          <a:prstGeom prst="roundRect">
            <a:avLst>
              <a:gd name="adj" fmla="val 6349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9" name="Picture 19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6502400" y="4445000"/>
            <a:ext cx="304800" cy="3048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20" name="AutoShape 20"/>
          <p:cNvSpPr/>
          <p:nvPr/>
        </p:nvSpPr>
        <p:spPr>
          <a:xfrm>
            <a:off x="6858000" y="4419600"/>
            <a:ext cx="1016000" cy="1397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操作极简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核心高频动作，3步以内必须完成。</a:t>
            </a:r>
            <a:endParaRPr lang="en-US" sz="1200" b="0" i="0" u="none" strike="noStrike">
              <a:solidFill>
                <a:srgbClr val="6B728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1" name="AutoShape 21"/>
          <p:cNvSpPr/>
          <p:nvPr/>
        </p:nvSpPr>
        <p:spPr>
          <a:xfrm>
            <a:off x="8089900" y="4191000"/>
            <a:ext cx="1600200" cy="1905000"/>
          </a:xfrm>
          <a:prstGeom prst="roundRect">
            <a:avLst>
              <a:gd name="adj" fmla="val 6349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2" name="Picture 22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8242300" y="4445000"/>
            <a:ext cx="304800" cy="3048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23" name="AutoShape 23"/>
          <p:cNvSpPr/>
          <p:nvPr/>
        </p:nvSpPr>
        <p:spPr>
          <a:xfrm>
            <a:off x="8597900" y="4419600"/>
            <a:ext cx="1016000" cy="1397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秒级启动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移动端冷启动时间严格控制在2秒以内。</a:t>
            </a:r>
            <a:endParaRPr lang="en-US" sz="1200" b="0" i="0" u="none" strike="noStrike">
              <a:solidFill>
                <a:srgbClr val="6B728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4" name="AutoShape 24"/>
          <p:cNvSpPr/>
          <p:nvPr/>
        </p:nvSpPr>
        <p:spPr>
          <a:xfrm>
            <a:off x="9829800" y="4191000"/>
            <a:ext cx="1600200" cy="1905000"/>
          </a:xfrm>
          <a:prstGeom prst="roundRect">
            <a:avLst>
              <a:gd name="adj" fmla="val 6349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5" name="Picture 25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9982200" y="4445000"/>
            <a:ext cx="304800" cy="3048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26" name="AutoShape 26"/>
          <p:cNvSpPr/>
          <p:nvPr/>
        </p:nvSpPr>
        <p:spPr>
          <a:xfrm>
            <a:off x="10337800" y="4419600"/>
            <a:ext cx="1016000" cy="1397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数据高一致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多端数据一致达到99.5%以上。</a:t>
            </a:r>
            <a:endParaRPr lang="en-US" sz="1200" b="0" i="0" u="none" strike="noStrike">
              <a:solidFill>
                <a:srgbClr val="6B728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6680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八大核心优势，构建竞品无法复制的护城河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524000"/>
            <a:ext cx="2565400" cy="1905000"/>
          </a:xfrm>
          <a:prstGeom prst="roundRect">
            <a:avLst>
              <a:gd name="adj" fmla="val 8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52500" y="1778000"/>
            <a:ext cx="508000" cy="508000"/>
          </a:xfrm>
          <a:prstGeom prst="rect">
            <a:avLst/>
          </a:prstGeom>
        </p:spPr>
      </p:pic>
      <p:sp>
        <p:nvSpPr>
          <p:cNvPr id="5" name="AutoShape 5"/>
          <p:cNvSpPr/>
          <p:nvPr/>
        </p:nvSpPr>
        <p:spPr>
          <a:xfrm>
            <a:off x="1651000" y="1714500"/>
            <a:ext cx="1549400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六大决策模型</a:t>
            </a:r>
            <a:endParaRPr lang="en-US" sz="1100"/>
          </a:p>
          <a:p>
            <a:pPr indent="0" algn="l">
              <a:lnSpc>
                <a:spcPct val="108000"/>
              </a:lnSpc>
              <a:spcBef>
                <a:spcPts val="600"/>
              </a:spcBef>
            </a:pPr>
            <a:r>
              <a:rPr lang="en-US" sz="11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核心决策引擎，真正懂农业，精准指导生产。</a:t>
            </a:r>
            <a:endParaRPr lang="en-US" sz="1100" b="0" i="0" u="none" strike="noStrike">
              <a:solidFill>
                <a:srgbClr val="66666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indent="0" algn="l">
              <a:lnSpc>
                <a:spcPct val="108000"/>
              </a:lnSpc>
              <a:spcBef>
                <a:spcPts val="600"/>
              </a:spcBef>
            </a:pPr>
            <a:r>
              <a:rPr lang="en-US" sz="11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懂苹果生长规律</a:t>
            </a:r>
            <a:endParaRPr lang="en-US" sz="1100" b="1" i="0" u="none" strike="noStrike">
              <a:solidFill>
                <a:srgbClr val="4CAF5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6" name="AutoShape 6"/>
          <p:cNvSpPr/>
          <p:nvPr/>
        </p:nvSpPr>
        <p:spPr>
          <a:xfrm>
            <a:off x="3530600" y="1524000"/>
            <a:ext cx="2565400" cy="1905000"/>
          </a:xfrm>
          <a:prstGeom prst="roundRect">
            <a:avLst>
              <a:gd name="adj" fmla="val 8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7" name="Picture 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721100" y="1778000"/>
            <a:ext cx="508000" cy="508000"/>
          </a:xfrm>
          <a:prstGeom prst="rect">
            <a:avLst/>
          </a:prstGeom>
        </p:spPr>
      </p:pic>
      <p:sp>
        <p:nvSpPr>
          <p:cNvPr id="8" name="AutoShape 8"/>
          <p:cNvSpPr/>
          <p:nvPr/>
        </p:nvSpPr>
        <p:spPr>
          <a:xfrm>
            <a:off x="4419600" y="1714500"/>
            <a:ext cx="1549400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区块链溯源</a:t>
            </a:r>
            <a:endParaRPr lang="en-US" sz="1100"/>
          </a:p>
          <a:p>
            <a:pPr indent="0" algn="l">
              <a:lnSpc>
                <a:spcPct val="108000"/>
              </a:lnSpc>
              <a:spcBef>
                <a:spcPts val="600"/>
              </a:spcBef>
            </a:pPr>
            <a:r>
              <a:rPr lang="en-US" sz="11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为每颗苹果提供不可篡改的“数字身份证”，全程透明。</a:t>
            </a:r>
            <a:endParaRPr lang="en-US" sz="1100" b="0" i="0" u="none" strike="noStrike">
              <a:solidFill>
                <a:srgbClr val="66666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indent="0" algn="l">
              <a:lnSpc>
                <a:spcPct val="108000"/>
              </a:lnSpc>
              <a:spcBef>
                <a:spcPts val="600"/>
              </a:spcBef>
            </a:pPr>
            <a:r>
              <a:rPr lang="en-US" sz="1100" b="1" i="0" u="none" strike="noStrike">
                <a:solidFill>
                  <a:srgbClr val="FF98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提升消费者信任</a:t>
            </a:r>
            <a:endParaRPr lang="en-US" sz="1100" b="1" i="0" u="none" strike="noStrike">
              <a:solidFill>
                <a:srgbClr val="FF980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9" name="AutoShape 9"/>
          <p:cNvSpPr/>
          <p:nvPr/>
        </p:nvSpPr>
        <p:spPr>
          <a:xfrm>
            <a:off x="6299200" y="1524000"/>
            <a:ext cx="2565400" cy="1905000"/>
          </a:xfrm>
          <a:prstGeom prst="roundRect">
            <a:avLst>
              <a:gd name="adj" fmla="val 8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0" name="Picture 10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489700" y="1778000"/>
            <a:ext cx="508000" cy="508000"/>
          </a:xfrm>
          <a:prstGeom prst="rect">
            <a:avLst/>
          </a:prstGeom>
        </p:spPr>
      </p:pic>
      <p:sp>
        <p:nvSpPr>
          <p:cNvPr id="11" name="AutoShape 11"/>
          <p:cNvSpPr/>
          <p:nvPr/>
        </p:nvSpPr>
        <p:spPr>
          <a:xfrm>
            <a:off x="7188200" y="1714500"/>
            <a:ext cx="1549400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AI大模型服务</a:t>
            </a:r>
            <a:endParaRPr lang="en-US" sz="1100"/>
          </a:p>
          <a:p>
            <a:pPr indent="0" algn="l">
              <a:lnSpc>
                <a:spcPct val="108000"/>
              </a:lnSpc>
              <a:spcBef>
                <a:spcPts val="600"/>
              </a:spcBef>
            </a:pPr>
            <a:r>
              <a:rPr lang="en-US" sz="11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提供24小时智能问答和图像识别，秒级解决种植难题。</a:t>
            </a:r>
            <a:endParaRPr lang="en-US" sz="1100" b="0" i="0" u="none" strike="noStrike">
              <a:solidFill>
                <a:srgbClr val="66666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indent="0" algn="l">
              <a:lnSpc>
                <a:spcPct val="108000"/>
              </a:lnSpc>
              <a:spcBef>
                <a:spcPts val="600"/>
              </a:spcBef>
            </a:pPr>
            <a:r>
              <a:rPr lang="en-US" sz="1100" b="1" i="0" u="none" strike="noStrike">
                <a:solidFill>
                  <a:srgbClr val="00BCD4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24h 专业农事顾问</a:t>
            </a:r>
            <a:endParaRPr lang="en-US" sz="1100" b="1" i="0" u="none" strike="noStrike">
              <a:solidFill>
                <a:srgbClr val="00BCD4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2" name="AutoShape 12"/>
          <p:cNvSpPr/>
          <p:nvPr/>
        </p:nvSpPr>
        <p:spPr>
          <a:xfrm>
            <a:off x="9067800" y="1524000"/>
            <a:ext cx="2565400" cy="1905000"/>
          </a:xfrm>
          <a:prstGeom prst="roundRect">
            <a:avLst>
              <a:gd name="adj" fmla="val 8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3" name="Picture 13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258300" y="1778000"/>
            <a:ext cx="508000" cy="508000"/>
          </a:xfrm>
          <a:prstGeom prst="rect">
            <a:avLst/>
          </a:prstGeom>
        </p:spPr>
      </p:pic>
      <p:sp>
        <p:nvSpPr>
          <p:cNvPr id="14" name="AutoShape 14"/>
          <p:cNvSpPr/>
          <p:nvPr/>
        </p:nvSpPr>
        <p:spPr>
          <a:xfrm>
            <a:off x="9956800" y="1714500"/>
            <a:ext cx="1549400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农资全链路管理</a:t>
            </a:r>
            <a:endParaRPr lang="en-US" sz="1100"/>
          </a:p>
          <a:p>
            <a:pPr indent="0" algn="l">
              <a:lnSpc>
                <a:spcPct val="108000"/>
              </a:lnSpc>
              <a:spcBef>
                <a:spcPts val="600"/>
              </a:spcBef>
            </a:pPr>
            <a:r>
              <a:rPr lang="en-US" sz="11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从采购到使用，全流程精细化管理，杜绝农资浪费。</a:t>
            </a:r>
            <a:endParaRPr lang="en-US" sz="1100" b="0" i="0" u="none" strike="noStrike">
              <a:solidFill>
                <a:srgbClr val="66666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indent="0" algn="l">
              <a:lnSpc>
                <a:spcPct val="108000"/>
              </a:lnSpc>
              <a:spcBef>
                <a:spcPts val="600"/>
              </a:spcBef>
            </a:pPr>
            <a:r>
              <a:rPr lang="en-US" sz="11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成本降低 15%+</a:t>
            </a:r>
            <a:endParaRPr lang="en-US" sz="1100" b="1" i="0" u="none" strike="noStrike">
              <a:solidFill>
                <a:srgbClr val="4CAF5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5" name="AutoShape 15"/>
          <p:cNvSpPr/>
          <p:nvPr/>
        </p:nvSpPr>
        <p:spPr>
          <a:xfrm>
            <a:off x="762000" y="3683000"/>
            <a:ext cx="2565400" cy="1905000"/>
          </a:xfrm>
          <a:prstGeom prst="roundRect">
            <a:avLst>
              <a:gd name="adj" fmla="val 8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6" name="Picture 16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52500" y="3937000"/>
            <a:ext cx="508000" cy="508000"/>
          </a:xfrm>
          <a:prstGeom prst="rect">
            <a:avLst/>
          </a:prstGeom>
        </p:spPr>
      </p:pic>
      <p:sp>
        <p:nvSpPr>
          <p:cNvPr id="17" name="AutoShape 17"/>
          <p:cNvSpPr/>
          <p:nvPr/>
        </p:nvSpPr>
        <p:spPr>
          <a:xfrm>
            <a:off x="1651000" y="3873500"/>
            <a:ext cx="1549400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无人机AI巡园</a:t>
            </a:r>
            <a:endParaRPr lang="en-US" sz="1100"/>
          </a:p>
          <a:p>
            <a:pPr indent="0" algn="l">
              <a:lnSpc>
                <a:spcPct val="108000"/>
              </a:lnSpc>
              <a:spcBef>
                <a:spcPts val="600"/>
              </a:spcBef>
            </a:pPr>
            <a:r>
              <a:rPr lang="en-US" sz="11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高空AI巡检，快速识别病虫害与长势，大幅降低人工成本。</a:t>
            </a:r>
            <a:endParaRPr lang="en-US" sz="1100" b="0" i="0" u="none" strike="noStrike">
              <a:solidFill>
                <a:srgbClr val="66666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indent="0" algn="l">
              <a:lnSpc>
                <a:spcPct val="108000"/>
              </a:lnSpc>
              <a:spcBef>
                <a:spcPts val="600"/>
              </a:spcBef>
            </a:pPr>
            <a:r>
              <a:rPr lang="en-US" sz="1100" b="1" i="0" u="none" strike="noStrike">
                <a:solidFill>
                  <a:srgbClr val="FF98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效率提升 80%+</a:t>
            </a:r>
            <a:endParaRPr lang="en-US" sz="1100" b="1" i="0" u="none" strike="noStrike">
              <a:solidFill>
                <a:srgbClr val="FF980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8" name="AutoShape 18"/>
          <p:cNvSpPr/>
          <p:nvPr/>
        </p:nvSpPr>
        <p:spPr>
          <a:xfrm>
            <a:off x="3530600" y="3683000"/>
            <a:ext cx="2565400" cy="1905000"/>
          </a:xfrm>
          <a:prstGeom prst="roundRect">
            <a:avLst>
              <a:gd name="adj" fmla="val 8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9" name="Picture 19"/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3721100" y="3937000"/>
            <a:ext cx="508000" cy="508000"/>
          </a:xfrm>
          <a:prstGeom prst="rect">
            <a:avLst/>
          </a:prstGeom>
        </p:spPr>
      </p:pic>
      <p:sp>
        <p:nvSpPr>
          <p:cNvPr id="20" name="AutoShape 20"/>
          <p:cNvSpPr/>
          <p:nvPr/>
        </p:nvSpPr>
        <p:spPr>
          <a:xfrm>
            <a:off x="4419600" y="3873500"/>
            <a:ext cx="1549400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VR全景漫游</a:t>
            </a:r>
            <a:endParaRPr lang="en-US" sz="1100"/>
          </a:p>
          <a:p>
            <a:pPr indent="0" algn="l">
              <a:lnSpc>
                <a:spcPct val="108000"/>
              </a:lnSpc>
              <a:spcBef>
                <a:spcPts val="600"/>
              </a:spcBef>
            </a:pPr>
            <a:r>
              <a:rPr lang="en-US" sz="11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360°沉浸式园区漫游，随时随地展示基地，提升品牌形象。</a:t>
            </a:r>
            <a:endParaRPr lang="en-US" sz="1100" b="0" i="0" u="none" strike="noStrike">
              <a:solidFill>
                <a:srgbClr val="66666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indent="0" algn="l">
              <a:lnSpc>
                <a:spcPct val="108000"/>
              </a:lnSpc>
              <a:spcBef>
                <a:spcPts val="600"/>
              </a:spcBef>
            </a:pPr>
            <a:r>
              <a:rPr lang="en-US" sz="1100" b="1" i="0" u="none" strike="noStrike">
                <a:solidFill>
                  <a:srgbClr val="00BCD4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品牌营销利器</a:t>
            </a:r>
            <a:endParaRPr lang="en-US" sz="1100" b="1" i="0" u="none" strike="noStrike">
              <a:solidFill>
                <a:srgbClr val="00BCD4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1" name="AutoShape 21"/>
          <p:cNvSpPr/>
          <p:nvPr/>
        </p:nvSpPr>
        <p:spPr>
          <a:xfrm>
            <a:off x="6299200" y="3683000"/>
            <a:ext cx="2565400" cy="1905000"/>
          </a:xfrm>
          <a:prstGeom prst="roundRect">
            <a:avLst>
              <a:gd name="adj" fmla="val 8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2" name="Picture 22"/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489700" y="3937000"/>
            <a:ext cx="508000" cy="508000"/>
          </a:xfrm>
          <a:prstGeom prst="rect">
            <a:avLst/>
          </a:prstGeom>
        </p:spPr>
      </p:pic>
      <p:sp>
        <p:nvSpPr>
          <p:cNvPr id="23" name="AutoShape 23"/>
          <p:cNvSpPr/>
          <p:nvPr/>
        </p:nvSpPr>
        <p:spPr>
          <a:xfrm>
            <a:off x="7188200" y="3873500"/>
            <a:ext cx="1549400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四层风险预警</a:t>
            </a:r>
            <a:endParaRPr lang="en-US" sz="1100"/>
          </a:p>
          <a:p>
            <a:pPr indent="0" algn="l">
              <a:lnSpc>
                <a:spcPct val="108000"/>
              </a:lnSpc>
              <a:spcBef>
                <a:spcPts val="600"/>
              </a:spcBef>
            </a:pPr>
            <a:r>
              <a:rPr lang="en-US" sz="11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病虫害、气象、设备、库存全方位监测，变被动为主动。</a:t>
            </a:r>
            <a:endParaRPr lang="en-US" sz="1100" b="0" i="0" u="none" strike="noStrike">
              <a:solidFill>
                <a:srgbClr val="66666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indent="0" algn="l">
              <a:lnSpc>
                <a:spcPct val="108000"/>
              </a:lnSpc>
              <a:spcBef>
                <a:spcPts val="600"/>
              </a:spcBef>
            </a:pPr>
            <a:r>
              <a:rPr lang="en-US" sz="11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生产风险全面可控</a:t>
            </a:r>
            <a:endParaRPr lang="en-US" sz="1100" b="1" i="0" u="none" strike="noStrike">
              <a:solidFill>
                <a:srgbClr val="4CAF5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4" name="AutoShape 24"/>
          <p:cNvSpPr/>
          <p:nvPr/>
        </p:nvSpPr>
        <p:spPr>
          <a:xfrm>
            <a:off x="9067800" y="3683000"/>
            <a:ext cx="2565400" cy="1905000"/>
          </a:xfrm>
          <a:prstGeom prst="roundRect">
            <a:avLst>
              <a:gd name="adj" fmla="val 8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5" name="Picture 25"/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9258300" y="3937000"/>
            <a:ext cx="508000" cy="508000"/>
          </a:xfrm>
          <a:prstGeom prst="rect">
            <a:avLst/>
          </a:prstGeom>
        </p:spPr>
      </p:pic>
      <p:sp>
        <p:nvSpPr>
          <p:cNvPr id="26" name="AutoShape 26"/>
          <p:cNvSpPr/>
          <p:nvPr/>
        </p:nvSpPr>
        <p:spPr>
          <a:xfrm>
            <a:off x="9956800" y="3873500"/>
            <a:ext cx="1549400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极简一线操作</a:t>
            </a:r>
            <a:endParaRPr lang="en-US" sz="1100"/>
          </a:p>
          <a:p>
            <a:pPr indent="0" algn="l">
              <a:lnSpc>
                <a:spcPct val="108000"/>
              </a:lnSpc>
              <a:spcBef>
                <a:spcPts val="600"/>
              </a:spcBef>
            </a:pPr>
            <a:r>
              <a:rPr lang="en-US" sz="11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专为一线果农设计，离线可用，上手即用。</a:t>
            </a:r>
            <a:endParaRPr lang="en-US" sz="1100" b="0" i="0" u="none" strike="noStrike">
              <a:solidFill>
                <a:srgbClr val="66666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indent="0" algn="l">
              <a:lnSpc>
                <a:spcPct val="108000"/>
              </a:lnSpc>
              <a:spcBef>
                <a:spcPts val="600"/>
              </a:spcBef>
            </a:pPr>
            <a:r>
              <a:rPr lang="en-US" sz="1100" b="1" i="0" u="none" strike="noStrike">
                <a:solidFill>
                  <a:srgbClr val="2196F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好用、爱用、常用</a:t>
            </a:r>
            <a:endParaRPr lang="en-US" sz="1100" b="1" i="0" u="none" strike="noStrike">
              <a:solidFill>
                <a:srgbClr val="2196F3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7" name="AutoShape 27"/>
          <p:cNvSpPr/>
          <p:nvPr/>
        </p:nvSpPr>
        <p:spPr>
          <a:xfrm>
            <a:off x="762000" y="5842000"/>
            <a:ext cx="10871200" cy="889000"/>
          </a:xfrm>
          <a:prstGeom prst="roundRect">
            <a:avLst>
              <a:gd name="adj" fmla="val 17142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8" name="AutoShape 28"/>
          <p:cNvSpPr/>
          <p:nvPr/>
        </p:nvSpPr>
        <p:spPr>
          <a:xfrm>
            <a:off x="889000" y="5969000"/>
            <a:ext cx="2540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0000"/>
              </a:lnSpc>
              <a:defRPr/>
            </a:pPr>
            <a:r>
              <a:rPr lang="en-US" sz="13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通用ERP系统</a:t>
            </a:r>
            <a:endParaRPr lang="en-US" sz="1100"/>
          </a:p>
          <a:p>
            <a:pPr indent="0" algn="ctr">
              <a:lnSpc>
                <a:spcPct val="100000"/>
              </a:lnSpc>
            </a:pPr>
            <a:r>
              <a:rPr lang="en-US" sz="11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不懂苹果，流程僵化，无农事闭环</a:t>
            </a:r>
            <a:endParaRPr lang="en-US" sz="1100" b="0" i="0" u="none" strike="noStrike">
              <a:solidFill>
                <a:srgbClr val="75757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9" name="AutoShape 29"/>
          <p:cNvSpPr/>
          <p:nvPr/>
        </p:nvSpPr>
        <p:spPr>
          <a:xfrm>
            <a:off x="3556000" y="5969000"/>
            <a:ext cx="2540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0000"/>
              </a:lnSpc>
              <a:defRPr/>
            </a:pPr>
            <a:r>
              <a:rPr lang="en-US" sz="13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设备厂商系统</a:t>
            </a:r>
            <a:endParaRPr lang="en-US" sz="1100"/>
          </a:p>
          <a:p>
            <a:pPr indent="0" algn="ctr">
              <a:lnSpc>
                <a:spcPct val="100000"/>
              </a:lnSpc>
            </a:pPr>
            <a:r>
              <a:rPr lang="en-US" sz="11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仅管设备数据，无农事指导与决策</a:t>
            </a:r>
            <a:endParaRPr lang="en-US" sz="1100" b="0" i="0" u="none" strike="noStrike">
              <a:solidFill>
                <a:srgbClr val="75757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30" name="AutoShape 30"/>
          <p:cNvSpPr/>
          <p:nvPr/>
        </p:nvSpPr>
        <p:spPr>
          <a:xfrm>
            <a:off x="6223000" y="5969000"/>
            <a:ext cx="2540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0000"/>
              </a:lnSpc>
              <a:defRPr/>
            </a:pPr>
            <a:r>
              <a:rPr lang="en-US" sz="13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传统人工管理</a:t>
            </a:r>
            <a:endParaRPr lang="en-US" sz="1100"/>
          </a:p>
          <a:p>
            <a:pPr indent="0" algn="ctr">
              <a:lnSpc>
                <a:spcPct val="100000"/>
              </a:lnSpc>
            </a:pPr>
            <a:r>
              <a:rPr lang="en-US" sz="11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经验依赖大，效率低，无数据沉淀</a:t>
            </a:r>
            <a:endParaRPr lang="en-US" sz="1100" b="0" i="0" u="none" strike="noStrike">
              <a:solidFill>
                <a:srgbClr val="75757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31" name="AutoShape 31"/>
          <p:cNvSpPr/>
          <p:nvPr/>
        </p:nvSpPr>
        <p:spPr>
          <a:xfrm>
            <a:off x="8890000" y="5969000"/>
            <a:ext cx="2540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0000"/>
              </a:lnSpc>
              <a:defRPr/>
            </a:pPr>
            <a:r>
              <a:rPr lang="en-US" sz="13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智慧果园平台</a:t>
            </a:r>
            <a:endParaRPr lang="en-US" sz="1100"/>
          </a:p>
          <a:p>
            <a:pPr indent="0" algn="ctr">
              <a:lnSpc>
                <a:spcPct val="100000"/>
              </a:lnSpc>
            </a:pPr>
            <a:r>
              <a:rPr lang="en-US" sz="11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懂苹果 · 全链路 · AI决策 · 一线爱用</a:t>
            </a:r>
            <a:endParaRPr lang="en-US" sz="1100" b="1" i="0" u="none" strike="noStrike">
              <a:solidFill>
                <a:srgbClr val="4CAF5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668000" cy="508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五端协同全景图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4635500" y="2286000"/>
            <a:ext cx="2921000" cy="1651000"/>
          </a:xfrm>
          <a:prstGeom prst="roundRect">
            <a:avLst>
              <a:gd name="adj" fmla="val 9230"/>
            </a:avLst>
          </a:prstGeom>
          <a:solidFill>
            <a:srgbClr val="4CAF50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4826000" y="2476500"/>
            <a:ext cx="609600" cy="6096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5" name="AutoShape 5"/>
          <p:cNvSpPr/>
          <p:nvPr/>
        </p:nvSpPr>
        <p:spPr>
          <a:xfrm>
            <a:off x="5588000" y="2476500"/>
            <a:ext cx="1778000" cy="1143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4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数据中心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400" b="0" i="0" u="none" strike="noStrike">
                <a:solidFill>
                  <a:srgbClr val="E8F5E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统一调度 · 数据汇聚</a:t>
            </a:r>
            <a:endParaRPr lang="en-US" sz="1400" b="0" i="0" u="none" strike="noStrike">
              <a:solidFill>
                <a:srgbClr val="E8F5E9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indent="0" algn="l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E8F5E9">
                    <a:alpha val="80000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DATA CENTER</a:t>
            </a:r>
            <a:endParaRPr lang="en-US" sz="1200" b="0" i="0" u="none" strike="noStrike">
              <a:solidFill>
                <a:srgbClr val="E8F5E9">
                  <a:alpha val="80000"/>
                </a:srgbClr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6" name="AutoShape 6"/>
          <p:cNvSpPr/>
          <p:nvPr/>
        </p:nvSpPr>
        <p:spPr>
          <a:xfrm>
            <a:off x="762000" y="1778000"/>
            <a:ext cx="2921000" cy="2032000"/>
          </a:xfrm>
          <a:prstGeom prst="roundRect">
            <a:avLst>
              <a:gd name="adj" fmla="val 5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7" name="Picture 7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952500" y="1968500"/>
            <a:ext cx="406400" cy="4064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8" name="AutoShape 8"/>
          <p:cNvSpPr/>
          <p:nvPr/>
        </p:nvSpPr>
        <p:spPr>
          <a:xfrm>
            <a:off x="1460500" y="1930400"/>
            <a:ext cx="2032000" cy="508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电脑端</a:t>
            </a:r>
            <a:r>
              <a:rPr lang="en-US" sz="1400" b="0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[ 指挥中心 ]</a:t>
            </a:r>
            <a:endParaRPr lang="en-US" sz="1100"/>
          </a:p>
        </p:txBody>
      </p:sp>
      <p:sp>
        <p:nvSpPr>
          <p:cNvPr id="9" name="AutoShape 9"/>
          <p:cNvSpPr/>
          <p:nvPr/>
        </p:nvSpPr>
        <p:spPr>
          <a:xfrm>
            <a:off x="952500" y="2667000"/>
            <a:ext cx="2540000" cy="1016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7000"/>
              </a:lnSpc>
              <a:defRPr/>
            </a:pPr>
            <a:r>
              <a:rPr lang="en-US" sz="1200" b="0" i="0" u="none" strike="noStrike">
                <a:solidFill>
                  <a:srgbClr val="61616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核心功能：计划编排、审批决策、报表分析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762000" y="4191000"/>
            <a:ext cx="2921000" cy="2032000"/>
          </a:xfrm>
          <a:prstGeom prst="roundRect">
            <a:avLst>
              <a:gd name="adj" fmla="val 5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1" name="Picture 11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952500" y="4381500"/>
            <a:ext cx="406400" cy="4064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2" name="AutoShape 12"/>
          <p:cNvSpPr/>
          <p:nvPr/>
        </p:nvSpPr>
        <p:spPr>
          <a:xfrm>
            <a:off x="1460500" y="4343400"/>
            <a:ext cx="2032000" cy="508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移动端</a:t>
            </a:r>
            <a:r>
              <a:rPr lang="en-US" sz="1400" b="0" i="0" u="none" strike="noStrike">
                <a:solidFill>
                  <a:srgbClr val="0277BD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[ 执行前线 ]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>
            <a:off x="952500" y="5080000"/>
            <a:ext cx="2540000" cy="1016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7000"/>
              </a:lnSpc>
              <a:defRPr/>
            </a:pPr>
            <a:r>
              <a:rPr lang="en-US" sz="1200" b="0" i="0" u="none" strike="noStrike">
                <a:solidFill>
                  <a:srgbClr val="61616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核心功能：任务执行、拍照记录、巡园打卡</a:t>
            </a:r>
            <a:endParaRPr lang="en-US" sz="1100"/>
          </a:p>
        </p:txBody>
      </p:sp>
      <p:sp>
        <p:nvSpPr>
          <p:cNvPr id="14" name="AutoShape 14"/>
          <p:cNvSpPr/>
          <p:nvPr/>
        </p:nvSpPr>
        <p:spPr>
          <a:xfrm>
            <a:off x="8509000" y="1778000"/>
            <a:ext cx="2921000" cy="2032000"/>
          </a:xfrm>
          <a:prstGeom prst="roundRect">
            <a:avLst>
              <a:gd name="adj" fmla="val 5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5" name="Picture 15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8699500" y="1968500"/>
            <a:ext cx="406400" cy="4064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6" name="AutoShape 16"/>
          <p:cNvSpPr/>
          <p:nvPr/>
        </p:nvSpPr>
        <p:spPr>
          <a:xfrm>
            <a:off x="9207500" y="1930400"/>
            <a:ext cx="2032000" cy="508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大屏端</a:t>
            </a:r>
            <a:r>
              <a:rPr lang="en-US" sz="1400" b="0" i="0" u="none" strike="noStrike">
                <a:solidFill>
                  <a:srgbClr val="FF6F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[ 决策舱 ]</a:t>
            </a:r>
            <a:endParaRPr lang="en-US" sz="1100"/>
          </a:p>
        </p:txBody>
      </p:sp>
      <p:sp>
        <p:nvSpPr>
          <p:cNvPr id="17" name="AutoShape 17"/>
          <p:cNvSpPr/>
          <p:nvPr/>
        </p:nvSpPr>
        <p:spPr>
          <a:xfrm>
            <a:off x="8699500" y="2667000"/>
            <a:ext cx="2540000" cy="1016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7000"/>
              </a:lnSpc>
              <a:defRPr/>
            </a:pPr>
            <a:r>
              <a:rPr lang="en-US" sz="1200" b="0" i="0" u="none" strike="noStrike">
                <a:solidFill>
                  <a:srgbClr val="61616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核心功能：实时监控、预警汇总、汇报展示</a:t>
            </a:r>
            <a:endParaRPr lang="en-US" sz="1100"/>
          </a:p>
        </p:txBody>
      </p:sp>
      <p:sp>
        <p:nvSpPr>
          <p:cNvPr id="18" name="AutoShape 18"/>
          <p:cNvSpPr/>
          <p:nvPr/>
        </p:nvSpPr>
        <p:spPr>
          <a:xfrm>
            <a:off x="8509000" y="4191000"/>
            <a:ext cx="2921000" cy="2032000"/>
          </a:xfrm>
          <a:prstGeom prst="roundRect">
            <a:avLst>
              <a:gd name="adj" fmla="val 5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9" name="Picture 19"/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8699500" y="4381500"/>
            <a:ext cx="406400" cy="4064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20" name="AutoShape 20"/>
          <p:cNvSpPr/>
          <p:nvPr/>
        </p:nvSpPr>
        <p:spPr>
          <a:xfrm>
            <a:off x="9207500" y="4343400"/>
            <a:ext cx="2032000" cy="508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H5端</a:t>
            </a:r>
            <a:r>
              <a:rPr lang="en-US" sz="1400" b="0" i="0" u="none" strike="noStrike">
                <a:solidFill>
                  <a:srgbClr val="9C27B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[ 消费者信任 ]</a:t>
            </a:r>
            <a:endParaRPr lang="en-US" sz="1100"/>
          </a:p>
        </p:txBody>
      </p:sp>
      <p:sp>
        <p:nvSpPr>
          <p:cNvPr id="21" name="AutoShape 21"/>
          <p:cNvSpPr/>
          <p:nvPr/>
        </p:nvSpPr>
        <p:spPr>
          <a:xfrm>
            <a:off x="8699500" y="5080000"/>
            <a:ext cx="2540000" cy="1016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7000"/>
              </a:lnSpc>
              <a:defRPr/>
            </a:pPr>
            <a:r>
              <a:rPr lang="en-US" sz="1200" b="0" i="0" u="none" strike="noStrike">
                <a:solidFill>
                  <a:srgbClr val="61616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核心功能：产品溯源、品牌展示、互动营销</a:t>
            </a:r>
            <a:endParaRPr lang="en-US" sz="1100"/>
          </a:p>
        </p:txBody>
      </p:sp>
      <p:sp>
        <p:nvSpPr>
          <p:cNvPr id="22" name="AutoShape 22"/>
          <p:cNvSpPr/>
          <p:nvPr/>
        </p:nvSpPr>
        <p:spPr>
          <a:xfrm>
            <a:off x="4318000" y="4953000"/>
            <a:ext cx="3556000" cy="1270000"/>
          </a:xfrm>
          <a:prstGeom prst="roundRect">
            <a:avLst>
              <a:gd name="adj" fmla="val 8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3" name="Picture 23"/>
          <p:cNvPicPr>
            <a:picLocks noChangeAspect="1"/>
          </p:cNvPicPr>
          <p:nvPr/>
        </p:nvPicPr>
        <p:blipFill>
          <a:blip r:embed="rId6"/>
          <a:srcRect/>
          <a:stretch>
            <a:fillRect/>
          </a:stretch>
        </p:blipFill>
        <p:spPr>
          <a:xfrm>
            <a:off x="4508500" y="5207000"/>
            <a:ext cx="457200" cy="4572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24" name="AutoShape 24"/>
          <p:cNvSpPr/>
          <p:nvPr/>
        </p:nvSpPr>
        <p:spPr>
          <a:xfrm>
            <a:off x="5207000" y="5143500"/>
            <a:ext cx="2413000" cy="889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AI助手 [ 智慧顾问 ]</a:t>
            </a:r>
            <a:endParaRPr lang="en-US" sz="1100"/>
          </a:p>
          <a:p>
            <a:pPr indent="0" algn="l">
              <a:lnSpc>
                <a:spcPct val="108000"/>
              </a:lnSpc>
            </a:pPr>
            <a:r>
              <a:rPr lang="en-US" sz="1200" b="0" i="0" u="none" strike="noStrike">
                <a:solidFill>
                  <a:srgbClr val="61616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提供智能问答、图像识别服务，双向赋能电脑端与移动端。</a:t>
            </a:r>
            <a:endParaRPr lang="en-US" sz="1200" b="0" i="0" u="none" strike="noStrike">
              <a:solidFill>
                <a:srgbClr val="616161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668000" cy="571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大屏端：管理者的决策舱 · 一屏掌控全局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651000"/>
            <a:ext cx="5207000" cy="4572000"/>
          </a:xfrm>
          <a:prstGeom prst="roundRect">
            <a:avLst>
              <a:gd name="adj" fmla="val 3333"/>
            </a:avLst>
          </a:prstGeom>
          <a:solidFill>
            <a:srgbClr val="F9FAFB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" name="AutoShape 4"/>
          <p:cNvSpPr/>
          <p:nvPr/>
        </p:nvSpPr>
        <p:spPr>
          <a:xfrm>
            <a:off x="1016000" y="1841500"/>
            <a:ext cx="46990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▍ 核心设计逻辑</a:t>
            </a:r>
            <a:endParaRPr lang="en-US" sz="1100"/>
          </a:p>
        </p:txBody>
      </p:sp>
      <p:pic>
        <p:nvPicPr>
          <p:cNvPr id="5" name="Picture 5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1016000" y="2540000"/>
            <a:ext cx="304800" cy="3048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6" name="AutoShape 6"/>
          <p:cNvSpPr/>
          <p:nvPr/>
        </p:nvSpPr>
        <p:spPr>
          <a:xfrm>
            <a:off x="1460500" y="2489200"/>
            <a:ext cx="2032000" cy="889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实景为中心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以高清果园航拍图为底图，叠加半透明速度罩、资金沉淀感。</a:t>
            </a:r>
            <a:endParaRPr lang="en-US" sz="1200" b="0" i="0" u="none" strike="noStrike">
              <a:solidFill>
                <a:srgbClr val="66666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pic>
        <p:nvPicPr>
          <p:cNvPr id="7" name="Picture 7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3556000" y="2540000"/>
            <a:ext cx="304800" cy="3048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8" name="AutoShape 8"/>
          <p:cNvSpPr/>
          <p:nvPr/>
        </p:nvSpPr>
        <p:spPr>
          <a:xfrm>
            <a:off x="4000500" y="2489200"/>
            <a:ext cx="1778000" cy="889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KPI 环绕布局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顶部整合8大核心指标，关键信息一目了然。</a:t>
            </a:r>
            <a:endParaRPr lang="en-US" sz="1200" b="0" i="0" u="none" strike="noStrike">
              <a:solidFill>
                <a:srgbClr val="66666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1016000" y="3683000"/>
            <a:ext cx="304800" cy="3048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0" name="AutoShape 10"/>
          <p:cNvSpPr/>
          <p:nvPr/>
        </p:nvSpPr>
        <p:spPr>
          <a:xfrm>
            <a:off x="1460500" y="3632200"/>
            <a:ext cx="2032000" cy="889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多维图表可视化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侧边栏集成趋势图、排行表，动态展示经营状况。</a:t>
            </a:r>
            <a:endParaRPr lang="en-US" sz="1200" b="0" i="0" u="none" strike="noStrike">
              <a:solidFill>
                <a:srgbClr val="66666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pic>
        <p:nvPicPr>
          <p:cNvPr id="11" name="Picture 11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3556000" y="3683000"/>
            <a:ext cx="304800" cy="3048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2" name="AutoShape 12"/>
          <p:cNvSpPr/>
          <p:nvPr/>
        </p:nvSpPr>
        <p:spPr>
          <a:xfrm>
            <a:off x="4000500" y="3632200"/>
            <a:ext cx="1778000" cy="889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智能预警提醒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异常情况实时闪烁提示，快速响应风险事件。</a:t>
            </a:r>
            <a:endParaRPr lang="en-US" sz="1200" b="0" i="0" u="none" strike="noStrike">
              <a:solidFill>
                <a:srgbClr val="66666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pic>
        <p:nvPicPr>
          <p:cNvPr id="13" name="Picture 13"/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1016000" y="4826000"/>
            <a:ext cx="304800" cy="3048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4" name="AutoShape 14"/>
          <p:cNvSpPr/>
          <p:nvPr/>
        </p:nvSpPr>
        <p:spPr>
          <a:xfrm>
            <a:off x="1460500" y="4775200"/>
            <a:ext cx="2032000" cy="889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数据向下钻取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点击卡片即可穿透查看详细明细，洞察数据根源。</a:t>
            </a:r>
            <a:endParaRPr lang="en-US" sz="1200" b="0" i="0" u="none" strike="noStrike">
              <a:solidFill>
                <a:srgbClr val="66666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pic>
        <p:nvPicPr>
          <p:cNvPr id="15" name="Picture 15"/>
          <p:cNvPicPr>
            <a:picLocks noChangeAspect="1"/>
          </p:cNvPicPr>
          <p:nvPr/>
        </p:nvPicPr>
        <p:blipFill>
          <a:blip r:embed="rId6"/>
          <a:srcRect/>
          <a:stretch>
            <a:fillRect/>
          </a:stretch>
        </p:blipFill>
        <p:spPr>
          <a:xfrm>
            <a:off x="3556000" y="4826000"/>
            <a:ext cx="304800" cy="3048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6" name="AutoShape 16"/>
          <p:cNvSpPr/>
          <p:nvPr/>
        </p:nvSpPr>
        <p:spPr>
          <a:xfrm>
            <a:off x="4000500" y="4775200"/>
            <a:ext cx="1778000" cy="889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模型风险叠加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可切换显示病虫害热力图与产量预估，让预测直观可见。</a:t>
            </a:r>
            <a:endParaRPr lang="en-US" sz="1200" b="0" i="0" u="none" strike="noStrike">
              <a:solidFill>
                <a:srgbClr val="66666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7" name="AutoShape 17"/>
          <p:cNvSpPr/>
          <p:nvPr/>
        </p:nvSpPr>
        <p:spPr>
          <a:xfrm>
            <a:off x="6223000" y="1651000"/>
            <a:ext cx="5207000" cy="4572000"/>
          </a:xfrm>
          <a:prstGeom prst="roundRect">
            <a:avLst>
              <a:gd name="adj" fmla="val 3333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D1D5DB">
                <a:alpha val="100000"/>
              </a:srgbClr>
            </a:solidFill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8" name="AutoShape 18"/>
          <p:cNvSpPr/>
          <p:nvPr/>
        </p:nvSpPr>
        <p:spPr>
          <a:xfrm>
            <a:off x="6223000" y="1651000"/>
            <a:ext cx="5207000" cy="825500"/>
          </a:xfrm>
          <a:prstGeom prst="roundRect">
            <a:avLst>
              <a:gd name="adj" fmla="val 18461"/>
            </a:avLst>
          </a:prstGeom>
          <a:solidFill>
            <a:srgbClr val="4CAF5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9" name="AutoShape 19"/>
          <p:cNvSpPr/>
          <p:nvPr/>
        </p:nvSpPr>
        <p:spPr>
          <a:xfrm>
            <a:off x="6413500" y="1803400"/>
            <a:ext cx="4826000" cy="508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0000"/>
              </a:lnSpc>
              <a:defRPr/>
            </a:pPr>
            <a:r>
              <a:rPr lang="en-US" sz="1200" b="0" i="0" u="none" strike="noStrike">
                <a:solidFill>
                  <a:srgbClr val="FFFFFF">
                    <a:alpha val="90196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👤 120人 | 🏡 8大基地 | 📏 12000亩 | 📦 1000万+ | 🛰️ 在线巡园</a:t>
            </a:r>
            <a:endParaRPr lang="en-US" sz="1100"/>
          </a:p>
        </p:txBody>
      </p:sp>
      <p:sp>
        <p:nvSpPr>
          <p:cNvPr id="20" name="AutoShape 20"/>
          <p:cNvSpPr/>
          <p:nvPr/>
        </p:nvSpPr>
        <p:spPr>
          <a:xfrm>
            <a:off x="6413500" y="2667000"/>
            <a:ext cx="2349500" cy="1905000"/>
          </a:xfrm>
          <a:prstGeom prst="roundRect">
            <a:avLst>
              <a:gd name="adj" fmla="val 5333"/>
            </a:avLst>
          </a:prstGeom>
          <a:solidFill>
            <a:srgbClr val="F3F4F6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1" name="Picture 21"/>
          <p:cNvPicPr>
            <a:picLocks noChangeAspect="1"/>
          </p:cNvPicPr>
          <p:nvPr/>
        </p:nvPicPr>
        <p:blipFill>
          <a:blip r:embed="rId7"/>
          <a:srcRect/>
          <a:stretch>
            <a:fillRect/>
          </a:stretch>
        </p:blipFill>
        <p:spPr>
          <a:xfrm>
            <a:off x="6540500" y="2794000"/>
            <a:ext cx="406400" cy="4064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22" name="AutoShape 22"/>
          <p:cNvSpPr/>
          <p:nvPr/>
        </p:nvSpPr>
        <p:spPr>
          <a:xfrm>
            <a:off x="7048500" y="2794000"/>
            <a:ext cx="1651000" cy="444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果园全景视图</a:t>
            </a:r>
            <a:endParaRPr lang="en-US" sz="1100"/>
          </a:p>
        </p:txBody>
      </p:sp>
      <p:sp>
        <p:nvSpPr>
          <p:cNvPr id="23" name="AutoShape 23"/>
          <p:cNvSpPr/>
          <p:nvPr/>
        </p:nvSpPr>
        <p:spPr>
          <a:xfrm>
            <a:off x="6540500" y="3429000"/>
            <a:ext cx="2095500" cy="1016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17000"/>
              </a:lnSpc>
              <a:defRPr/>
            </a:pPr>
            <a:r>
              <a:rPr lang="en-US" sz="11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🟢 综合健康指数：92.5分</a:t>
            </a:r>
            <a:br>
              <a:rPr lang="en-US" sz="11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1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🟡 病虫害风险：低 | 🔵 物候期：膨大期</a:t>
            </a:r>
            <a:endParaRPr lang="en-US" sz="1100"/>
          </a:p>
        </p:txBody>
      </p:sp>
      <p:sp>
        <p:nvSpPr>
          <p:cNvPr id="24" name="AutoShape 24"/>
          <p:cNvSpPr/>
          <p:nvPr/>
        </p:nvSpPr>
        <p:spPr>
          <a:xfrm>
            <a:off x="8890000" y="2667000"/>
            <a:ext cx="2349500" cy="1905000"/>
          </a:xfrm>
          <a:prstGeom prst="roundRect">
            <a:avLst>
              <a:gd name="adj" fmla="val 5333"/>
            </a:avLst>
          </a:prstGeom>
          <a:solidFill>
            <a:srgbClr val="F3F4F6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5" name="Picture 25"/>
          <p:cNvPicPr>
            <a:picLocks noChangeAspect="1"/>
          </p:cNvPicPr>
          <p:nvPr/>
        </p:nvPicPr>
        <p:blipFill>
          <a:blip r:embed="rId8"/>
          <a:srcRect/>
          <a:stretch>
            <a:fillRect/>
          </a:stretch>
        </p:blipFill>
        <p:spPr>
          <a:xfrm>
            <a:off x="9017000" y="2794000"/>
            <a:ext cx="406400" cy="4064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26" name="AutoShape 26"/>
          <p:cNvSpPr/>
          <p:nvPr/>
        </p:nvSpPr>
        <p:spPr>
          <a:xfrm>
            <a:off x="9525000" y="2794000"/>
            <a:ext cx="1651000" cy="444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关键趋势看板</a:t>
            </a:r>
            <a:endParaRPr lang="en-US" sz="1100"/>
          </a:p>
        </p:txBody>
      </p:sp>
      <p:sp>
        <p:nvSpPr>
          <p:cNvPr id="27" name="AutoShape 27"/>
          <p:cNvSpPr/>
          <p:nvPr/>
        </p:nvSpPr>
        <p:spPr>
          <a:xfrm>
            <a:off x="9017000" y="3429000"/>
            <a:ext cx="2095500" cy="1016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17000"/>
              </a:lnSpc>
              <a:defRPr/>
            </a:pPr>
            <a:r>
              <a:rPr lang="en-US" sz="11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📈 近7日工单：环比+12%</a:t>
            </a:r>
            <a:br>
              <a:rPr lang="en-US" sz="11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1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📉 产量预估：同比+5% | 📢 市场行情：看涨</a:t>
            </a:r>
            <a:endParaRPr lang="en-US" sz="1100"/>
          </a:p>
        </p:txBody>
      </p:sp>
      <p:sp>
        <p:nvSpPr>
          <p:cNvPr id="28" name="AutoShape 28"/>
          <p:cNvSpPr/>
          <p:nvPr/>
        </p:nvSpPr>
        <p:spPr>
          <a:xfrm>
            <a:off x="6413500" y="4762500"/>
            <a:ext cx="1587500" cy="1270000"/>
          </a:xfrm>
          <a:prstGeom prst="roundRect">
            <a:avLst>
              <a:gd name="adj" fmla="val 8000"/>
            </a:avLst>
          </a:prstGeom>
          <a:solidFill>
            <a:srgbClr val="FFF7ED">
              <a:alpha val="100000"/>
            </a:srgbClr>
          </a:solidFill>
          <a:ln w="12700" cap="flat" cmpd="sng">
            <a:solidFill>
              <a:srgbClr val="FDBA74">
                <a:alpha val="4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9" name="AutoShape 29"/>
          <p:cNvSpPr/>
          <p:nvPr/>
        </p:nvSpPr>
        <p:spPr>
          <a:xfrm>
            <a:off x="6477000" y="4889500"/>
            <a:ext cx="1460500" cy="1016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8000"/>
              </a:lnSpc>
              <a:defRPr/>
            </a:pPr>
            <a:r>
              <a:rPr lang="en-US" sz="1300" b="1" i="0" u="none" strike="noStrike">
                <a:solidFill>
                  <a:srgbClr val="EA580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⚠️ 实时预警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1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1条待处理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1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灌溉异常提醒</a:t>
            </a:r>
            <a:endParaRPr lang="en-US" sz="1100"/>
          </a:p>
        </p:txBody>
      </p:sp>
      <p:sp>
        <p:nvSpPr>
          <p:cNvPr id="30" name="AutoShape 30"/>
          <p:cNvSpPr/>
          <p:nvPr/>
        </p:nvSpPr>
        <p:spPr>
          <a:xfrm>
            <a:off x="8026400" y="4762500"/>
            <a:ext cx="1587500" cy="1270000"/>
          </a:xfrm>
          <a:prstGeom prst="roundRect">
            <a:avLst>
              <a:gd name="adj" fmla="val 8000"/>
            </a:avLst>
          </a:prstGeom>
          <a:solidFill>
            <a:srgbClr val="ECFDF5">
              <a:alpha val="100000"/>
            </a:srgbClr>
          </a:solidFill>
          <a:ln w="12700" cap="flat" cmpd="sng">
            <a:solidFill>
              <a:srgbClr val="6EE7B7">
                <a:alpha val="4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1" name="AutoShape 31"/>
          <p:cNvSpPr/>
          <p:nvPr/>
        </p:nvSpPr>
        <p:spPr>
          <a:xfrm>
            <a:off x="8089900" y="4889500"/>
            <a:ext cx="1460500" cy="1016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8000"/>
              </a:lnSpc>
              <a:defRPr/>
            </a:pPr>
            <a:r>
              <a:rPr lang="en-US" sz="1300" b="1" i="0" u="none" strike="noStrike">
                <a:solidFill>
                  <a:srgbClr val="05966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📅 最新农事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1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今日待办: 28项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1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施肥任务执行中</a:t>
            </a:r>
            <a:endParaRPr lang="en-US" sz="1100"/>
          </a:p>
        </p:txBody>
      </p:sp>
      <p:sp>
        <p:nvSpPr>
          <p:cNvPr id="32" name="AutoShape 32"/>
          <p:cNvSpPr/>
          <p:nvPr/>
        </p:nvSpPr>
        <p:spPr>
          <a:xfrm>
            <a:off x="9652000" y="4762500"/>
            <a:ext cx="1587500" cy="1270000"/>
          </a:xfrm>
          <a:prstGeom prst="roundRect">
            <a:avLst>
              <a:gd name="adj" fmla="val 8000"/>
            </a:avLst>
          </a:prstGeom>
          <a:solidFill>
            <a:srgbClr val="EFF6FF">
              <a:alpha val="100000"/>
            </a:srgbClr>
          </a:solidFill>
          <a:ln w="12700" cap="flat" cmpd="sng">
            <a:solidFill>
              <a:srgbClr val="93C5FD">
                <a:alpha val="4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3" name="AutoShape 33"/>
          <p:cNvSpPr/>
          <p:nvPr/>
        </p:nvSpPr>
        <p:spPr>
          <a:xfrm>
            <a:off x="9715500" y="4889500"/>
            <a:ext cx="1460500" cy="1016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8000"/>
              </a:lnSpc>
              <a:defRPr/>
            </a:pPr>
            <a:r>
              <a:rPr lang="en-US" sz="1300" b="1" i="0" u="none" strike="noStrike">
                <a:solidFill>
                  <a:srgbClr val="2563E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☁️ 气象环境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1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温度: 24℃ | 湿度: 45%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1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适宜户外活动</a:t>
            </a:r>
            <a:endParaRPr lang="en-US" sz="11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utoShape 3"/>
          <p:cNvSpPr/>
          <p:nvPr/>
        </p:nvSpPr>
        <p:spPr>
          <a:xfrm>
            <a:off x="855345" y="1114425"/>
            <a:ext cx="7429500" cy="5582285"/>
          </a:xfrm>
          <a:prstGeom prst="roundRect">
            <a:avLst>
              <a:gd name="adj" fmla="val 3333"/>
            </a:avLst>
          </a:prstGeom>
          <a:blipFill rotWithShape="1">
            <a:blip r:embed="rId1"/>
            <a:stretch>
              <a:fillRect/>
            </a:stretch>
          </a:blip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4" name="AutoShape 3"/>
          <p:cNvSpPr/>
          <p:nvPr/>
        </p:nvSpPr>
        <p:spPr>
          <a:xfrm>
            <a:off x="8917305" y="1114425"/>
            <a:ext cx="2274570" cy="1508760"/>
          </a:xfrm>
          <a:prstGeom prst="roundRect">
            <a:avLst>
              <a:gd name="adj" fmla="val 3333"/>
            </a:avLst>
          </a:prstGeom>
          <a:blipFill rotWithShape="1">
            <a:blip r:embed="rId2"/>
            <a:stretch>
              <a:fillRect/>
            </a:stretch>
          </a:blip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5" name="AutoShape 3"/>
          <p:cNvSpPr/>
          <p:nvPr/>
        </p:nvSpPr>
        <p:spPr>
          <a:xfrm>
            <a:off x="8926830" y="2741930"/>
            <a:ext cx="2265680" cy="1717040"/>
          </a:xfrm>
          <a:prstGeom prst="roundRect">
            <a:avLst>
              <a:gd name="adj" fmla="val 3333"/>
            </a:avLst>
          </a:prstGeom>
          <a:blipFill rotWithShape="1">
            <a:blip r:embed="rId3"/>
            <a:stretch>
              <a:fillRect/>
            </a:stretch>
          </a:blip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6" name="AutoShape 3"/>
          <p:cNvSpPr/>
          <p:nvPr/>
        </p:nvSpPr>
        <p:spPr>
          <a:xfrm>
            <a:off x="8967470" y="4685030"/>
            <a:ext cx="2225675" cy="1967865"/>
          </a:xfrm>
          <a:prstGeom prst="roundRect">
            <a:avLst>
              <a:gd name="adj" fmla="val 3333"/>
            </a:avLst>
          </a:prstGeom>
          <a:blipFill rotWithShape="1">
            <a:blip r:embed="rId4"/>
            <a:stretch>
              <a:fillRect/>
            </a:stretch>
          </a:blip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9" name="TextBox 38"/>
          <p:cNvSpPr txBox="1"/>
          <p:nvPr/>
        </p:nvSpPr>
        <p:spPr>
          <a:xfrm>
            <a:off x="3485578" y="276129"/>
            <a:ext cx="4799171" cy="482155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chemeClr val="tx1"/>
                </a:solidFill>
                <a:latin typeface="Noto Sans SC" panose="020B0200000000000000" charset="-122"/>
                <a:ea typeface="Noto Sans SC" panose="020B0200000000000000" charset="-122"/>
              </a:rPr>
              <a:t>智慧果园企业管理驾驶舱</a:t>
            </a:r>
            <a:endParaRPr sz="3200" b="1" i="0">
              <a:solidFill>
                <a:schemeClr val="tx1"/>
              </a:solidFill>
              <a:latin typeface="Noto Sans SC" panose="020B0200000000000000" charset="-122"/>
              <a:ea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668000" cy="635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移动端：一线人员的执行前线 · 田间好用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778000"/>
            <a:ext cx="5207000" cy="4572000"/>
          </a:xfrm>
          <a:prstGeom prst="roundRect">
            <a:avLst>
              <a:gd name="adj" fmla="val 333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" name="AutoShape 4"/>
          <p:cNvSpPr/>
          <p:nvPr/>
        </p:nvSpPr>
        <p:spPr>
          <a:xfrm>
            <a:off x="1016000" y="2032000"/>
            <a:ext cx="46990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移动端 · 七大核心特点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1016000" y="2667000"/>
            <a:ext cx="2349500" cy="1079500"/>
          </a:xfrm>
          <a:prstGeom prst="roundRect">
            <a:avLst>
              <a:gd name="adj" fmla="val 9411"/>
            </a:avLst>
          </a:prstGeom>
          <a:solidFill>
            <a:srgbClr val="F9FAF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1168400" y="2857500"/>
            <a:ext cx="355600" cy="3556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7" name="AutoShape 7"/>
          <p:cNvSpPr/>
          <p:nvPr/>
        </p:nvSpPr>
        <p:spPr>
          <a:xfrm>
            <a:off x="1651000" y="2794000"/>
            <a:ext cx="1651000" cy="825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首屏即任务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打开直接看到今日待办，无需查找。</a:t>
            </a:r>
            <a:endParaRPr lang="en-US" sz="1200" b="0" i="0" u="none" strike="noStrike">
              <a:solidFill>
                <a:srgbClr val="75757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8" name="AutoShape 8"/>
          <p:cNvSpPr/>
          <p:nvPr/>
        </p:nvSpPr>
        <p:spPr>
          <a:xfrm>
            <a:off x="3492500" y="2667000"/>
            <a:ext cx="2349500" cy="1079500"/>
          </a:xfrm>
          <a:prstGeom prst="roundRect">
            <a:avLst>
              <a:gd name="adj" fmla="val 9411"/>
            </a:avLst>
          </a:prstGeom>
          <a:solidFill>
            <a:srgbClr val="F9FAF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3644900" y="2857500"/>
            <a:ext cx="355600" cy="3556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0" name="AutoShape 10"/>
          <p:cNvSpPr/>
          <p:nvPr/>
        </p:nvSpPr>
        <p:spPr>
          <a:xfrm>
            <a:off x="4127500" y="2794000"/>
            <a:ext cx="1651000" cy="825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拍照即记录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3步完成农事记录，简单高效。</a:t>
            </a:r>
            <a:endParaRPr lang="en-US" sz="1200" b="0" i="0" u="none" strike="noStrike">
              <a:solidFill>
                <a:srgbClr val="75757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1" name="AutoShape 11"/>
          <p:cNvSpPr/>
          <p:nvPr/>
        </p:nvSpPr>
        <p:spPr>
          <a:xfrm>
            <a:off x="1016000" y="3937000"/>
            <a:ext cx="2349500" cy="1079500"/>
          </a:xfrm>
          <a:prstGeom prst="roundRect">
            <a:avLst>
              <a:gd name="adj" fmla="val 9411"/>
            </a:avLst>
          </a:prstGeom>
          <a:solidFill>
            <a:srgbClr val="F9FAF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1168400" y="4127500"/>
            <a:ext cx="355600" cy="3556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3" name="AutoShape 13"/>
          <p:cNvSpPr/>
          <p:nvPr/>
        </p:nvSpPr>
        <p:spPr>
          <a:xfrm>
            <a:off x="1651000" y="4064000"/>
            <a:ext cx="1651000" cy="825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离线优先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弱网环境也能操作，数据永不丢失。</a:t>
            </a:r>
            <a:endParaRPr lang="en-US" sz="1200" b="0" i="0" u="none" strike="noStrike">
              <a:solidFill>
                <a:srgbClr val="75757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4" name="AutoShape 14"/>
          <p:cNvSpPr/>
          <p:nvPr/>
        </p:nvSpPr>
        <p:spPr>
          <a:xfrm>
            <a:off x="3492500" y="3937000"/>
            <a:ext cx="2349500" cy="1079500"/>
          </a:xfrm>
          <a:prstGeom prst="roundRect">
            <a:avLst>
              <a:gd name="adj" fmla="val 9411"/>
            </a:avLst>
          </a:prstGeom>
          <a:solidFill>
            <a:srgbClr val="F9FAF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5" name="Picture 15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3644900" y="4127500"/>
            <a:ext cx="355600" cy="3556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6" name="AutoShape 16"/>
          <p:cNvSpPr/>
          <p:nvPr/>
        </p:nvSpPr>
        <p:spPr>
          <a:xfrm>
            <a:off x="4127500" y="4064000"/>
            <a:ext cx="1651000" cy="825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大字大按钮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适配田间场景，戴手套也能操作。</a:t>
            </a:r>
            <a:endParaRPr lang="en-US" sz="1200" b="0" i="0" u="none" strike="noStrike">
              <a:solidFill>
                <a:srgbClr val="75757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7" name="AutoShape 17"/>
          <p:cNvSpPr/>
          <p:nvPr/>
        </p:nvSpPr>
        <p:spPr>
          <a:xfrm>
            <a:off x="1016000" y="5207000"/>
            <a:ext cx="1524000" cy="1016000"/>
          </a:xfrm>
          <a:prstGeom prst="roundRect">
            <a:avLst>
              <a:gd name="adj" fmla="val 10000"/>
            </a:avLst>
          </a:prstGeom>
          <a:solidFill>
            <a:srgbClr val="F9FAF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8" name="Picture 18"/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1143000" y="5359400"/>
            <a:ext cx="304800" cy="3048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9" name="AutoShape 19"/>
          <p:cNvSpPr/>
          <p:nvPr/>
        </p:nvSpPr>
        <p:spPr>
          <a:xfrm>
            <a:off x="1498600" y="5334000"/>
            <a:ext cx="9525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AI助手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0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随时获得种植指导</a:t>
            </a:r>
            <a:endParaRPr lang="en-US" sz="1000" b="0" i="0" u="none" strike="noStrike">
              <a:solidFill>
                <a:srgbClr val="75757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0" name="AutoShape 20"/>
          <p:cNvSpPr/>
          <p:nvPr/>
        </p:nvSpPr>
        <p:spPr>
          <a:xfrm>
            <a:off x="2667000" y="5207000"/>
            <a:ext cx="1524000" cy="1016000"/>
          </a:xfrm>
          <a:prstGeom prst="roundRect">
            <a:avLst>
              <a:gd name="adj" fmla="val 10000"/>
            </a:avLst>
          </a:prstGeom>
          <a:solidFill>
            <a:srgbClr val="F9FAF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1" name="Picture 21"/>
          <p:cNvPicPr>
            <a:picLocks noChangeAspect="1"/>
          </p:cNvPicPr>
          <p:nvPr/>
        </p:nvPicPr>
        <p:blipFill>
          <a:blip r:embed="rId6"/>
          <a:srcRect/>
          <a:stretch>
            <a:fillRect/>
          </a:stretch>
        </p:blipFill>
        <p:spPr>
          <a:xfrm>
            <a:off x="2794000" y="5359400"/>
            <a:ext cx="304800" cy="3048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22" name="AutoShape 22"/>
          <p:cNvSpPr/>
          <p:nvPr/>
        </p:nvSpPr>
        <p:spPr>
          <a:xfrm>
            <a:off x="3149600" y="5334000"/>
            <a:ext cx="9525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模型快讯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0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滚动展示关键信息</a:t>
            </a:r>
            <a:endParaRPr lang="en-US" sz="1000" b="0" i="0" u="none" strike="noStrike">
              <a:solidFill>
                <a:srgbClr val="75757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3" name="AutoShape 23"/>
          <p:cNvSpPr/>
          <p:nvPr/>
        </p:nvSpPr>
        <p:spPr>
          <a:xfrm>
            <a:off x="4318000" y="5207000"/>
            <a:ext cx="1524000" cy="1016000"/>
          </a:xfrm>
          <a:prstGeom prst="roundRect">
            <a:avLst>
              <a:gd name="adj" fmla="val 10000"/>
            </a:avLst>
          </a:prstGeom>
          <a:solidFill>
            <a:srgbClr val="F9FAF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4" name="Picture 24"/>
          <p:cNvPicPr>
            <a:picLocks noChangeAspect="1"/>
          </p:cNvPicPr>
          <p:nvPr/>
        </p:nvPicPr>
        <p:blipFill>
          <a:blip r:embed="rId7"/>
          <a:srcRect/>
          <a:stretch>
            <a:fillRect/>
          </a:stretch>
        </p:blipFill>
        <p:spPr>
          <a:xfrm>
            <a:off x="4445000" y="5359400"/>
            <a:ext cx="304800" cy="3048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25" name="AutoShape 25"/>
          <p:cNvSpPr/>
          <p:nvPr/>
        </p:nvSpPr>
        <p:spPr>
          <a:xfrm>
            <a:off x="4800600" y="5334000"/>
            <a:ext cx="9525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风险摘要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0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红绿灯高亮显示</a:t>
            </a:r>
            <a:endParaRPr lang="en-US" sz="1000" b="0" i="0" u="none" strike="noStrike">
              <a:solidFill>
                <a:srgbClr val="75757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6" name="AutoShape 26"/>
          <p:cNvSpPr/>
          <p:nvPr/>
        </p:nvSpPr>
        <p:spPr>
          <a:xfrm>
            <a:off x="6223000" y="1778000"/>
            <a:ext cx="5207000" cy="4572000"/>
          </a:xfrm>
          <a:prstGeom prst="roundRect">
            <a:avLst>
              <a:gd name="adj" fmla="val 333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7" name="AutoShape 27"/>
          <p:cNvSpPr/>
          <p:nvPr/>
        </p:nvSpPr>
        <p:spPr>
          <a:xfrm>
            <a:off x="6477000" y="2032000"/>
            <a:ext cx="46990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核心操作 · 三步完成</a:t>
            </a:r>
            <a:endParaRPr lang="en-US" sz="1100"/>
          </a:p>
        </p:txBody>
      </p:sp>
      <p:sp>
        <p:nvSpPr>
          <p:cNvPr id="28" name="AutoShape 28"/>
          <p:cNvSpPr/>
          <p:nvPr/>
        </p:nvSpPr>
        <p:spPr>
          <a:xfrm>
            <a:off x="6477000" y="2921000"/>
            <a:ext cx="1524000" cy="2794000"/>
          </a:xfrm>
          <a:prstGeom prst="roundRect">
            <a:avLst>
              <a:gd name="adj" fmla="val 6666"/>
            </a:avLst>
          </a:prstGeom>
          <a:solidFill>
            <a:srgbClr val="E8F5E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9" name="Picture 29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6934200" y="3302000"/>
            <a:ext cx="609600" cy="6096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30" name="AutoShape 30"/>
          <p:cNvSpPr/>
          <p:nvPr/>
        </p:nvSpPr>
        <p:spPr>
          <a:xfrm>
            <a:off x="6540500" y="4318000"/>
            <a:ext cx="1397000" cy="1143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01 拍照</a:t>
            </a:r>
            <a:endParaRPr lang="en-US" sz="1100"/>
          </a:p>
          <a:p>
            <a:pPr indent="0" algn="ctr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打开相机，拍摄现场实景。</a:t>
            </a:r>
            <a:endParaRPr lang="en-US" sz="1200" b="0" i="0" u="none" strike="noStrike">
              <a:solidFill>
                <a:srgbClr val="75757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31" name="AutoShape 31"/>
          <p:cNvSpPr/>
          <p:nvPr/>
        </p:nvSpPr>
        <p:spPr>
          <a:xfrm>
            <a:off x="8064500" y="2921000"/>
            <a:ext cx="1524000" cy="2794000"/>
          </a:xfrm>
          <a:prstGeom prst="roundRect">
            <a:avLst>
              <a:gd name="adj" fmla="val 6666"/>
            </a:avLst>
          </a:prstGeom>
          <a:solidFill>
            <a:srgbClr val="E8F5E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2" name="Picture 32"/>
          <p:cNvPicPr>
            <a:picLocks noChangeAspect="1"/>
          </p:cNvPicPr>
          <p:nvPr/>
        </p:nvPicPr>
        <p:blipFill>
          <a:blip r:embed="rId8"/>
          <a:srcRect/>
          <a:stretch>
            <a:fillRect/>
          </a:stretch>
        </p:blipFill>
        <p:spPr>
          <a:xfrm>
            <a:off x="8521700" y="3302000"/>
            <a:ext cx="609600" cy="6096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33" name="AutoShape 33"/>
          <p:cNvSpPr/>
          <p:nvPr/>
        </p:nvSpPr>
        <p:spPr>
          <a:xfrm>
            <a:off x="8128000" y="4318000"/>
            <a:ext cx="1397000" cy="1143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02 选择</a:t>
            </a:r>
            <a:endParaRPr lang="en-US" sz="1100"/>
          </a:p>
          <a:p>
            <a:pPr indent="0" algn="ctr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快速关联地块与农事类型。</a:t>
            </a:r>
            <a:endParaRPr lang="en-US" sz="1200" b="0" i="0" u="none" strike="noStrike">
              <a:solidFill>
                <a:srgbClr val="75757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34" name="AutoShape 34"/>
          <p:cNvSpPr/>
          <p:nvPr/>
        </p:nvSpPr>
        <p:spPr>
          <a:xfrm>
            <a:off x="9652000" y="2921000"/>
            <a:ext cx="1524000" cy="2794000"/>
          </a:xfrm>
          <a:prstGeom prst="roundRect">
            <a:avLst>
              <a:gd name="adj" fmla="val 6666"/>
            </a:avLst>
          </a:prstGeom>
          <a:solidFill>
            <a:srgbClr val="E8F5E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5" name="Picture 35"/>
          <p:cNvPicPr>
            <a:picLocks noChangeAspect="1"/>
          </p:cNvPicPr>
          <p:nvPr/>
        </p:nvPicPr>
        <p:blipFill>
          <a:blip r:embed="rId9"/>
          <a:srcRect/>
          <a:stretch>
            <a:fillRect/>
          </a:stretch>
        </p:blipFill>
        <p:spPr>
          <a:xfrm>
            <a:off x="10109200" y="3302000"/>
            <a:ext cx="609600" cy="6096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36" name="AutoShape 36"/>
          <p:cNvSpPr/>
          <p:nvPr/>
        </p:nvSpPr>
        <p:spPr>
          <a:xfrm>
            <a:off x="9715500" y="4318000"/>
            <a:ext cx="1397000" cy="1143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03 提交</a:t>
            </a:r>
            <a:endParaRPr lang="en-US" sz="1100"/>
          </a:p>
          <a:p>
            <a:pPr indent="0" algn="ctr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确认信息，一键提交同步。</a:t>
            </a:r>
            <a:endParaRPr lang="en-US" sz="1200" b="0" i="0" u="none" strike="noStrike">
              <a:solidFill>
                <a:srgbClr val="75757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utoShape 3"/>
          <p:cNvSpPr/>
          <p:nvPr/>
        </p:nvSpPr>
        <p:spPr>
          <a:xfrm>
            <a:off x="468630" y="1791970"/>
            <a:ext cx="2337435" cy="4751705"/>
          </a:xfrm>
          <a:prstGeom prst="roundRect">
            <a:avLst>
              <a:gd name="adj" fmla="val 3333"/>
            </a:avLst>
          </a:prstGeom>
          <a:blipFill rotWithShape="1">
            <a:blip r:embed="rId1"/>
            <a:stretch>
              <a:fillRect/>
            </a:stretch>
          </a:blip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" name="AutoShape 3"/>
          <p:cNvSpPr/>
          <p:nvPr/>
        </p:nvSpPr>
        <p:spPr>
          <a:xfrm>
            <a:off x="3243580" y="1791970"/>
            <a:ext cx="2428240" cy="4751705"/>
          </a:xfrm>
          <a:prstGeom prst="roundRect">
            <a:avLst>
              <a:gd name="adj" fmla="val 3333"/>
            </a:avLst>
          </a:prstGeom>
          <a:blipFill rotWithShape="1">
            <a:blip r:embed="rId2"/>
            <a:stretch>
              <a:fillRect/>
            </a:stretch>
          </a:blip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5" name="AutoShape 3"/>
          <p:cNvSpPr/>
          <p:nvPr/>
        </p:nvSpPr>
        <p:spPr>
          <a:xfrm>
            <a:off x="6109335" y="1791970"/>
            <a:ext cx="2473960" cy="4751705"/>
          </a:xfrm>
          <a:prstGeom prst="roundRect">
            <a:avLst>
              <a:gd name="adj" fmla="val 3333"/>
            </a:avLst>
          </a:prstGeom>
          <a:blipFill rotWithShape="1">
            <a:blip r:embed="rId3"/>
            <a:stretch>
              <a:fillRect/>
            </a:stretch>
          </a:blip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6" name="AutoShape 3"/>
          <p:cNvSpPr/>
          <p:nvPr/>
        </p:nvSpPr>
        <p:spPr>
          <a:xfrm>
            <a:off x="9020810" y="1791970"/>
            <a:ext cx="2388235" cy="4751705"/>
          </a:xfrm>
          <a:prstGeom prst="roundRect">
            <a:avLst>
              <a:gd name="adj" fmla="val 3333"/>
            </a:avLst>
          </a:prstGeom>
          <a:blipFill rotWithShape="1">
            <a:blip r:embed="rId4"/>
            <a:stretch>
              <a:fillRect/>
            </a:stretch>
          </a:blip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3972687" y="598551"/>
            <a:ext cx="4217384" cy="578643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000000"/>
                </a:solidFill>
                <a:latin typeface="Noto Sans SC" panose="020B0200000000000000" charset="-122"/>
                <a:ea typeface="Noto Sans SC" panose="020B0200000000000000" charset="-122"/>
              </a:rPr>
              <a:t>移动端·界面展示</a:t>
            </a:r>
            <a:endParaRPr sz="3600" b="1" i="0">
              <a:solidFill>
                <a:srgbClr val="000000"/>
              </a:solidFill>
              <a:latin typeface="Noto Sans SC" panose="020B0200000000000000" charset="-122"/>
              <a:ea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668000" cy="571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AI助手与H5端：对内赋能，对外营销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778000"/>
            <a:ext cx="5207000" cy="4318000"/>
          </a:xfrm>
          <a:prstGeom prst="roundRect">
            <a:avLst>
              <a:gd name="adj" fmla="val 3529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" name="AutoShape 4"/>
          <p:cNvSpPr/>
          <p:nvPr/>
        </p:nvSpPr>
        <p:spPr>
          <a:xfrm>
            <a:off x="1066800" y="2032000"/>
            <a:ext cx="4597400" cy="444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2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AI助手 · 24小时在线智慧顾问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1066800" y="2794000"/>
            <a:ext cx="4597400" cy="1079500"/>
          </a:xfrm>
          <a:prstGeom prst="roundRect">
            <a:avLst>
              <a:gd name="adj" fmla="val 9411"/>
            </a:avLst>
          </a:prstGeom>
          <a:solidFill>
            <a:srgbClr val="F1F8E9">
              <a:alpha val="8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219200" y="3048000"/>
            <a:ext cx="558800" cy="558800"/>
          </a:xfrm>
          <a:prstGeom prst="rect">
            <a:avLst/>
          </a:prstGeom>
        </p:spPr>
      </p:pic>
      <p:sp>
        <p:nvSpPr>
          <p:cNvPr id="7" name="AutoShape 7"/>
          <p:cNvSpPr/>
          <p:nvPr/>
        </p:nvSpPr>
        <p:spPr>
          <a:xfrm>
            <a:off x="1981200" y="2921000"/>
            <a:ext cx="3429000" cy="825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21212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智能问答</a:t>
            </a:r>
            <a:r>
              <a:rPr lang="en-US" sz="1200" b="0" i="0" u="none" strike="noStrike">
                <a:solidFill>
                  <a:srgbClr val="61616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：覆盖苹果种植全周期知识（病虫害防治、施肥管理、果园管理、品种特性），随时随地答疑解惑。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1066800" y="4000500"/>
            <a:ext cx="4597400" cy="1079500"/>
          </a:xfrm>
          <a:prstGeom prst="roundRect">
            <a:avLst>
              <a:gd name="adj" fmla="val 9411"/>
            </a:avLst>
          </a:prstGeom>
          <a:solidFill>
            <a:srgbClr val="F1F8E9">
              <a:alpha val="8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219200" y="4254500"/>
            <a:ext cx="558800" cy="558800"/>
          </a:xfrm>
          <a:prstGeom prst="rect">
            <a:avLst/>
          </a:prstGeom>
        </p:spPr>
      </p:pic>
      <p:sp>
        <p:nvSpPr>
          <p:cNvPr id="10" name="AutoShape 10"/>
          <p:cNvSpPr/>
          <p:nvPr/>
        </p:nvSpPr>
        <p:spPr>
          <a:xfrm>
            <a:off x="1981200" y="4127500"/>
            <a:ext cx="3429000" cy="825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21212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图像识别</a:t>
            </a:r>
            <a:r>
              <a:rPr lang="en-US" sz="1200" b="0" i="0" u="none" strike="noStrike">
                <a:solidFill>
                  <a:srgbClr val="61616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：支持病害、作物、虫害的快速识别，只需随手一拍，即刻获取诊断与解决方案。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1066800" y="5143500"/>
            <a:ext cx="4597400" cy="889000"/>
          </a:xfrm>
          <a:prstGeom prst="roundRect">
            <a:avLst>
              <a:gd name="adj" fmla="val 11428"/>
            </a:avLst>
          </a:prstGeom>
          <a:solidFill>
            <a:srgbClr val="F1F8E9">
              <a:alpha val="8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219200" y="5308600"/>
            <a:ext cx="558800" cy="558800"/>
          </a:xfrm>
          <a:prstGeom prst="rect">
            <a:avLst/>
          </a:prstGeom>
        </p:spPr>
      </p:pic>
      <p:sp>
        <p:nvSpPr>
          <p:cNvPr id="13" name="AutoShape 13"/>
          <p:cNvSpPr/>
          <p:nvPr/>
        </p:nvSpPr>
        <p:spPr>
          <a:xfrm>
            <a:off x="1981200" y="5308600"/>
            <a:ext cx="3429000" cy="571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21212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语音输入</a:t>
            </a:r>
            <a:r>
              <a:rPr lang="en-US" sz="1200" b="0" i="0" u="none" strike="noStrike">
                <a:solidFill>
                  <a:srgbClr val="61616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：支持语音提问，解放双手，操作更便捷。</a:t>
            </a:r>
            <a:endParaRPr lang="en-US" sz="1100"/>
          </a:p>
        </p:txBody>
      </p:sp>
      <p:sp>
        <p:nvSpPr>
          <p:cNvPr id="14" name="AutoShape 14"/>
          <p:cNvSpPr/>
          <p:nvPr/>
        </p:nvSpPr>
        <p:spPr>
          <a:xfrm>
            <a:off x="6223000" y="1778000"/>
            <a:ext cx="5207000" cy="4318000"/>
          </a:xfrm>
          <a:prstGeom prst="roundRect">
            <a:avLst>
              <a:gd name="adj" fmla="val 3529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5" name="AutoShape 15"/>
          <p:cNvSpPr/>
          <p:nvPr/>
        </p:nvSpPr>
        <p:spPr>
          <a:xfrm>
            <a:off x="6527800" y="2032000"/>
            <a:ext cx="4597400" cy="444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2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专业知识覆盖</a:t>
            </a:r>
            <a:endParaRPr lang="en-US" sz="1100"/>
          </a:p>
        </p:txBody>
      </p:sp>
      <p:sp>
        <p:nvSpPr>
          <p:cNvPr id="16" name="AutoShape 16"/>
          <p:cNvSpPr/>
          <p:nvPr/>
        </p:nvSpPr>
        <p:spPr>
          <a:xfrm>
            <a:off x="6527800" y="2794000"/>
            <a:ext cx="76200" cy="698500"/>
          </a:xfrm>
          <a:prstGeom prst="roundRect">
            <a:avLst>
              <a:gd name="adj" fmla="val 0"/>
            </a:avLst>
          </a:prstGeom>
          <a:solidFill>
            <a:srgbClr val="4CAF5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7" name="AutoShape 17"/>
          <p:cNvSpPr/>
          <p:nvPr/>
        </p:nvSpPr>
        <p:spPr>
          <a:xfrm>
            <a:off x="6731000" y="2768600"/>
            <a:ext cx="4318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病虫害防治：</a:t>
            </a:r>
            <a:r>
              <a:rPr lang="en-US" sz="12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红蜘蛛、腐烂病、蚜虫、轮纹病、炭疽叶枯病等常见病虫害的识别与防治方案。</a:t>
            </a:r>
            <a:endParaRPr lang="en-US" sz="1100"/>
          </a:p>
        </p:txBody>
      </p:sp>
      <p:sp>
        <p:nvSpPr>
          <p:cNvPr id="18" name="AutoShape 18"/>
          <p:cNvSpPr/>
          <p:nvPr/>
        </p:nvSpPr>
        <p:spPr>
          <a:xfrm>
            <a:off x="6527800" y="3746500"/>
            <a:ext cx="76200" cy="698500"/>
          </a:xfrm>
          <a:prstGeom prst="roundRect">
            <a:avLst>
              <a:gd name="adj" fmla="val 0"/>
            </a:avLst>
          </a:prstGeom>
          <a:solidFill>
            <a:srgbClr val="4CAF5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9" name="AutoShape 19"/>
          <p:cNvSpPr/>
          <p:nvPr/>
        </p:nvSpPr>
        <p:spPr>
          <a:xfrm>
            <a:off x="6731000" y="3708400"/>
            <a:ext cx="4318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施肥管理：</a:t>
            </a:r>
            <a:r>
              <a:rPr lang="en-US" sz="12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根据物候期精准匹配基肥、追肥、叶面肥配方，科学指导营养供给。</a:t>
            </a:r>
            <a:endParaRPr lang="en-US" sz="1100"/>
          </a:p>
        </p:txBody>
      </p:sp>
      <p:sp>
        <p:nvSpPr>
          <p:cNvPr id="20" name="AutoShape 20"/>
          <p:cNvSpPr/>
          <p:nvPr/>
        </p:nvSpPr>
        <p:spPr>
          <a:xfrm>
            <a:off x="6527800" y="4699000"/>
            <a:ext cx="76200" cy="698500"/>
          </a:xfrm>
          <a:prstGeom prst="roundRect">
            <a:avLst>
              <a:gd name="adj" fmla="val 0"/>
            </a:avLst>
          </a:prstGeom>
          <a:solidFill>
            <a:srgbClr val="4CAF5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1" name="AutoShape 21"/>
          <p:cNvSpPr/>
          <p:nvPr/>
        </p:nvSpPr>
        <p:spPr>
          <a:xfrm>
            <a:off x="6731000" y="4660900"/>
            <a:ext cx="4318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果园管理：</a:t>
            </a:r>
            <a:r>
              <a:rPr lang="en-US" sz="12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提供套袋、疏果、修剪、授粉、灌溉等标准化管理建议。</a:t>
            </a:r>
            <a:endParaRPr lang="en-US" sz="1100"/>
          </a:p>
        </p:txBody>
      </p:sp>
      <p:sp>
        <p:nvSpPr>
          <p:cNvPr id="22" name="AutoShape 22"/>
          <p:cNvSpPr/>
          <p:nvPr/>
        </p:nvSpPr>
        <p:spPr>
          <a:xfrm>
            <a:off x="6527800" y="5588000"/>
            <a:ext cx="76200" cy="635000"/>
          </a:xfrm>
          <a:prstGeom prst="roundRect">
            <a:avLst>
              <a:gd name="adj" fmla="val 0"/>
            </a:avLst>
          </a:prstGeom>
          <a:solidFill>
            <a:srgbClr val="4CAF5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3" name="AutoShape 23"/>
          <p:cNvSpPr/>
          <p:nvPr/>
        </p:nvSpPr>
        <p:spPr>
          <a:xfrm>
            <a:off x="6731000" y="5549900"/>
            <a:ext cx="4318000" cy="698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品种特性：</a:t>
            </a:r>
            <a:r>
              <a:rPr lang="en-US" sz="12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覆盖红富士、嘎啦、乔纳金等主流品种的特性及种植要点。</a:t>
            </a:r>
            <a:endParaRPr lang="en-US" sz="110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utoShape 3"/>
          <p:cNvSpPr/>
          <p:nvPr/>
        </p:nvSpPr>
        <p:spPr>
          <a:xfrm>
            <a:off x="468630" y="1743075"/>
            <a:ext cx="2346325" cy="4751705"/>
          </a:xfrm>
          <a:prstGeom prst="roundRect">
            <a:avLst>
              <a:gd name="adj" fmla="val 3333"/>
            </a:avLst>
          </a:prstGeom>
          <a:blipFill rotWithShape="1">
            <a:blip r:embed="rId1"/>
            <a:stretch>
              <a:fillRect/>
            </a:stretch>
          </a:blip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" name="AutoShape 3"/>
          <p:cNvSpPr/>
          <p:nvPr/>
        </p:nvSpPr>
        <p:spPr>
          <a:xfrm>
            <a:off x="3329305" y="1743075"/>
            <a:ext cx="2392045" cy="4751705"/>
          </a:xfrm>
          <a:prstGeom prst="roundRect">
            <a:avLst>
              <a:gd name="adj" fmla="val 3333"/>
            </a:avLst>
          </a:prstGeom>
          <a:blipFill rotWithShape="1">
            <a:blip r:embed="rId2"/>
            <a:stretch>
              <a:fillRect/>
            </a:stretch>
          </a:blip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5" name="AutoShape 3"/>
          <p:cNvSpPr/>
          <p:nvPr/>
        </p:nvSpPr>
        <p:spPr>
          <a:xfrm>
            <a:off x="6235700" y="1743075"/>
            <a:ext cx="2269490" cy="4751705"/>
          </a:xfrm>
          <a:prstGeom prst="roundRect">
            <a:avLst>
              <a:gd name="adj" fmla="val 3333"/>
            </a:avLst>
          </a:prstGeom>
          <a:blipFill rotWithShape="1">
            <a:blip r:embed="rId3"/>
            <a:stretch>
              <a:fillRect/>
            </a:stretch>
          </a:blip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6" name="AutoShape 3"/>
          <p:cNvSpPr/>
          <p:nvPr/>
        </p:nvSpPr>
        <p:spPr>
          <a:xfrm>
            <a:off x="9019540" y="1743075"/>
            <a:ext cx="2392045" cy="4751705"/>
          </a:xfrm>
          <a:prstGeom prst="roundRect">
            <a:avLst>
              <a:gd name="adj" fmla="val 3333"/>
            </a:avLst>
          </a:prstGeom>
          <a:blipFill rotWithShape="1">
            <a:blip r:embed="rId4"/>
            <a:stretch>
              <a:fillRect/>
            </a:stretch>
          </a:blip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3972687" y="598551"/>
            <a:ext cx="4217384" cy="578643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3600" b="1" i="0">
                <a:solidFill>
                  <a:srgbClr val="000000"/>
                </a:solidFill>
                <a:latin typeface="Noto Sans SC" panose="020B0200000000000000" charset="-122"/>
                <a:ea typeface="Noto Sans SC" panose="020B0200000000000000" charset="-122"/>
              </a:rPr>
              <a:t>AI</a:t>
            </a:r>
            <a:r>
              <a:rPr lang="zh-CN" altLang="en-US" sz="3600" b="1" i="0">
                <a:solidFill>
                  <a:srgbClr val="000000"/>
                </a:solidFill>
                <a:latin typeface="Noto Sans SC" panose="020B0200000000000000" charset="-122"/>
                <a:ea typeface="Noto Sans SC" panose="020B0200000000000000" charset="-122"/>
              </a:rPr>
              <a:t>助手</a:t>
            </a:r>
            <a:r>
              <a:rPr sz="3600" b="1" i="0">
                <a:solidFill>
                  <a:srgbClr val="000000"/>
                </a:solidFill>
                <a:latin typeface="Noto Sans SC" panose="020B0200000000000000" charset="-122"/>
                <a:ea typeface="Noto Sans SC" panose="020B0200000000000000" charset="-122"/>
              </a:rPr>
              <a:t>端·界面展示</a:t>
            </a:r>
            <a:endParaRPr sz="3600" b="1" i="0">
              <a:solidFill>
                <a:srgbClr val="000000"/>
              </a:solidFill>
              <a:latin typeface="Noto Sans SC" panose="020B0200000000000000" charset="-122"/>
              <a:ea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668000" cy="635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后台指挥中心 · 运筹帷幄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778000"/>
            <a:ext cx="5207000" cy="4572000"/>
          </a:xfrm>
          <a:prstGeom prst="roundRect">
            <a:avLst>
              <a:gd name="adj" fmla="val 3333"/>
            </a:avLst>
          </a:prstGeom>
          <a:solidFill>
            <a:srgbClr val="F5F5F5">
              <a:alpha val="100000"/>
            </a:srgbClr>
          </a:solidFill>
          <a:ln w="12700" cap="flat" cmpd="sng">
            <a:solidFill>
              <a:srgbClr val="E6E6E6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" name="AutoShape 4"/>
          <p:cNvSpPr/>
          <p:nvPr/>
        </p:nvSpPr>
        <p:spPr>
          <a:xfrm>
            <a:off x="952500" y="2032000"/>
            <a:ext cx="2349500" cy="1079500"/>
          </a:xfrm>
          <a:prstGeom prst="roundRect">
            <a:avLst>
              <a:gd name="adj" fmla="val 9411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5" name="Picture 5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1143000" y="2336800"/>
            <a:ext cx="457200" cy="4572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6" name="AutoShape 6"/>
          <p:cNvSpPr/>
          <p:nvPr/>
        </p:nvSpPr>
        <p:spPr>
          <a:xfrm>
            <a:off x="1714500" y="2159000"/>
            <a:ext cx="1524000" cy="889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63500" rIns="0" bIns="6350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企业管理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组织架构、人员权限管理，构建规范管理体系</a:t>
            </a:r>
            <a:endParaRPr lang="en-US" sz="1100" b="0" i="0" u="none" strike="noStrike">
              <a:solidFill>
                <a:srgbClr val="6B728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7" name="AutoShape 7"/>
          <p:cNvSpPr/>
          <p:nvPr/>
        </p:nvSpPr>
        <p:spPr>
          <a:xfrm>
            <a:off x="952500" y="3238500"/>
            <a:ext cx="2349500" cy="1079500"/>
          </a:xfrm>
          <a:prstGeom prst="roundRect">
            <a:avLst>
              <a:gd name="adj" fmla="val 9411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8" name="Picture 8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1143000" y="3543300"/>
            <a:ext cx="457200" cy="4572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9" name="AutoShape 9"/>
          <p:cNvSpPr/>
          <p:nvPr/>
        </p:nvSpPr>
        <p:spPr>
          <a:xfrm>
            <a:off x="1714500" y="3365500"/>
            <a:ext cx="1524000" cy="889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63500" rIns="0" bIns="6350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农事管理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生产计划编排、任务下发与全流程执行跟踪</a:t>
            </a:r>
            <a:endParaRPr lang="en-US" sz="1100" b="0" i="0" u="none" strike="noStrike">
              <a:solidFill>
                <a:srgbClr val="6B728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0" name="AutoShape 10"/>
          <p:cNvSpPr/>
          <p:nvPr/>
        </p:nvSpPr>
        <p:spPr>
          <a:xfrm>
            <a:off x="952500" y="4445000"/>
            <a:ext cx="2349500" cy="1079500"/>
          </a:xfrm>
          <a:prstGeom prst="roundRect">
            <a:avLst>
              <a:gd name="adj" fmla="val 9411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1" name="Picture 11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1143000" y="4749800"/>
            <a:ext cx="457200" cy="4572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2" name="AutoShape 12"/>
          <p:cNvSpPr/>
          <p:nvPr/>
        </p:nvSpPr>
        <p:spPr>
          <a:xfrm>
            <a:off x="1714500" y="4572000"/>
            <a:ext cx="1524000" cy="889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63500" rIns="0" bIns="6350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农资管理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采购、入库、库存、领用全流程闭环管理</a:t>
            </a:r>
            <a:endParaRPr lang="en-US" sz="1100" b="0" i="0" u="none" strike="noStrike">
              <a:solidFill>
                <a:srgbClr val="6B728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3" name="AutoShape 13"/>
          <p:cNvSpPr/>
          <p:nvPr/>
        </p:nvSpPr>
        <p:spPr>
          <a:xfrm>
            <a:off x="3492500" y="2032000"/>
            <a:ext cx="2349500" cy="1079500"/>
          </a:xfrm>
          <a:prstGeom prst="roundRect">
            <a:avLst>
              <a:gd name="adj" fmla="val 9411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4" name="Picture 14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3683000" y="2336800"/>
            <a:ext cx="457200" cy="4572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5" name="AutoShape 15"/>
          <p:cNvSpPr/>
          <p:nvPr/>
        </p:nvSpPr>
        <p:spPr>
          <a:xfrm>
            <a:off x="4254500" y="2159000"/>
            <a:ext cx="1524000" cy="889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63500" rIns="0" bIns="6350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预警中心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集中汇聚风险预警，实现快速响应与处理</a:t>
            </a:r>
            <a:endParaRPr lang="en-US" sz="1100" b="0" i="0" u="none" strike="noStrike">
              <a:solidFill>
                <a:srgbClr val="6B728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6" name="AutoShape 16"/>
          <p:cNvSpPr/>
          <p:nvPr/>
        </p:nvSpPr>
        <p:spPr>
          <a:xfrm>
            <a:off x="3492500" y="3238500"/>
            <a:ext cx="2349500" cy="1079500"/>
          </a:xfrm>
          <a:prstGeom prst="roundRect">
            <a:avLst>
              <a:gd name="adj" fmla="val 9411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7" name="Picture 17"/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3683000" y="3543300"/>
            <a:ext cx="457200" cy="4572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8" name="AutoShape 18"/>
          <p:cNvSpPr/>
          <p:nvPr/>
        </p:nvSpPr>
        <p:spPr>
          <a:xfrm>
            <a:off x="4254500" y="3365500"/>
            <a:ext cx="1524000" cy="889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63500" rIns="0" bIns="6350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区块链溯源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一物一码，全链路追溯码生成、管理和查询</a:t>
            </a:r>
            <a:endParaRPr lang="en-US" sz="1100" b="0" i="0" u="none" strike="noStrike">
              <a:solidFill>
                <a:srgbClr val="6B728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9" name="AutoShape 19"/>
          <p:cNvSpPr/>
          <p:nvPr/>
        </p:nvSpPr>
        <p:spPr>
          <a:xfrm>
            <a:off x="3492500" y="4445000"/>
            <a:ext cx="2349500" cy="1079500"/>
          </a:xfrm>
          <a:prstGeom prst="roundRect">
            <a:avLst>
              <a:gd name="adj" fmla="val 9411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0" name="Picture 20"/>
          <p:cNvPicPr>
            <a:picLocks noChangeAspect="1"/>
          </p:cNvPicPr>
          <p:nvPr/>
        </p:nvPicPr>
        <p:blipFill>
          <a:blip r:embed="rId6"/>
          <a:srcRect/>
          <a:stretch>
            <a:fillRect/>
          </a:stretch>
        </p:blipFill>
        <p:spPr>
          <a:xfrm>
            <a:off x="3683000" y="4749800"/>
            <a:ext cx="457200" cy="4572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21" name="AutoShape 21"/>
          <p:cNvSpPr/>
          <p:nvPr/>
        </p:nvSpPr>
        <p:spPr>
          <a:xfrm>
            <a:off x="4254500" y="4572000"/>
            <a:ext cx="1524000" cy="889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63500" rIns="0" bIns="6350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智能与全景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无人机航线规划、VR全景管理及系统基础设置</a:t>
            </a:r>
            <a:endParaRPr lang="en-US" sz="1100" b="0" i="0" u="none" strike="noStrike">
              <a:solidFill>
                <a:srgbClr val="6B728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2" name="AutoShape 22"/>
          <p:cNvSpPr/>
          <p:nvPr/>
        </p:nvSpPr>
        <p:spPr>
          <a:xfrm>
            <a:off x="6223000" y="1778000"/>
            <a:ext cx="5207000" cy="4572000"/>
          </a:xfrm>
          <a:prstGeom prst="roundRect">
            <a:avLst>
              <a:gd name="adj" fmla="val 3333"/>
            </a:avLst>
          </a:prstGeom>
          <a:gradFill rotWithShape="1">
            <a:gsLst>
              <a:gs pos="0">
                <a:srgbClr val="4CAF50">
                  <a:alpha val="100000"/>
                </a:srgbClr>
              </a:gs>
              <a:gs pos="100000">
                <a:srgbClr val="388E3C">
                  <a:alpha val="100000"/>
                </a:srgbClr>
              </a:gs>
            </a:gsLst>
            <a:lin ang="2700000"/>
          </a:gra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3" name="AutoShape 23"/>
          <p:cNvSpPr/>
          <p:nvPr/>
        </p:nvSpPr>
        <p:spPr>
          <a:xfrm>
            <a:off x="6223000" y="2032000"/>
            <a:ext cx="5207000" cy="635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2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模型中心 · 六大智慧引擎</a:t>
            </a:r>
            <a:endParaRPr lang="en-US" sz="1100"/>
          </a:p>
        </p:txBody>
      </p:sp>
      <p:sp>
        <p:nvSpPr>
          <p:cNvPr id="24" name="AutoShape 24"/>
          <p:cNvSpPr/>
          <p:nvPr/>
        </p:nvSpPr>
        <p:spPr>
          <a:xfrm>
            <a:off x="6413500" y="2921000"/>
            <a:ext cx="1587500" cy="1206500"/>
          </a:xfrm>
          <a:prstGeom prst="roundRect">
            <a:avLst>
              <a:gd name="adj" fmla="val 8421"/>
            </a:avLst>
          </a:prstGeom>
          <a:solidFill>
            <a:srgbClr val="FFFFFF">
              <a:alpha val="9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5" name="AutoShape 25"/>
          <p:cNvSpPr/>
          <p:nvPr/>
        </p:nvSpPr>
        <p:spPr>
          <a:xfrm>
            <a:off x="6413500" y="2921000"/>
            <a:ext cx="1587500" cy="1206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127000" rIns="0" bIns="12700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22754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🌱 生长模型</a:t>
            </a:r>
            <a:endParaRPr lang="en-US" sz="1100"/>
          </a:p>
          <a:p>
            <a:pPr indent="0" algn="ctr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模拟作物生长周期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1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优化栽培方案</a:t>
            </a:r>
            <a:endParaRPr lang="en-US" sz="1100" b="0" i="0" u="none" strike="noStrike">
              <a:solidFill>
                <a:srgbClr val="4B5563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6" name="AutoShape 26"/>
          <p:cNvSpPr/>
          <p:nvPr/>
        </p:nvSpPr>
        <p:spPr>
          <a:xfrm>
            <a:off x="8026400" y="2921000"/>
            <a:ext cx="1587500" cy="1206500"/>
          </a:xfrm>
          <a:prstGeom prst="roundRect">
            <a:avLst>
              <a:gd name="adj" fmla="val 8421"/>
            </a:avLst>
          </a:prstGeom>
          <a:solidFill>
            <a:srgbClr val="FFFFFF">
              <a:alpha val="9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7" name="AutoShape 27"/>
          <p:cNvSpPr/>
          <p:nvPr/>
        </p:nvSpPr>
        <p:spPr>
          <a:xfrm>
            <a:off x="8026400" y="2921000"/>
            <a:ext cx="1587500" cy="1206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127000" rIns="0" bIns="12700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22754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🦠 病虫害模型</a:t>
            </a:r>
            <a:endParaRPr lang="en-US" sz="1100"/>
          </a:p>
          <a:p>
            <a:pPr indent="0" algn="ctr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结合环境数据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1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提前预警病虫害风险</a:t>
            </a:r>
            <a:endParaRPr lang="en-US" sz="1100" b="0" i="0" u="none" strike="noStrike">
              <a:solidFill>
                <a:srgbClr val="4B5563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8" name="AutoShape 28"/>
          <p:cNvSpPr/>
          <p:nvPr/>
        </p:nvSpPr>
        <p:spPr>
          <a:xfrm>
            <a:off x="9652000" y="2921000"/>
            <a:ext cx="1587500" cy="1206500"/>
          </a:xfrm>
          <a:prstGeom prst="roundRect">
            <a:avLst>
              <a:gd name="adj" fmla="val 8421"/>
            </a:avLst>
          </a:prstGeom>
          <a:solidFill>
            <a:srgbClr val="FFFFFF">
              <a:alpha val="9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9" name="AutoShape 29"/>
          <p:cNvSpPr/>
          <p:nvPr/>
        </p:nvSpPr>
        <p:spPr>
          <a:xfrm>
            <a:off x="9652000" y="2921000"/>
            <a:ext cx="1587500" cy="1206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127000" rIns="0" bIns="12700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22754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📊 产量预估</a:t>
            </a:r>
            <a:endParaRPr lang="en-US" sz="1100"/>
          </a:p>
          <a:p>
            <a:pPr indent="0" algn="ctr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综合多维因子分析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1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科学预测果园产量</a:t>
            </a:r>
            <a:endParaRPr lang="en-US" sz="1100" b="0" i="0" u="none" strike="noStrike">
              <a:solidFill>
                <a:srgbClr val="4B5563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30" name="AutoShape 30"/>
          <p:cNvSpPr/>
          <p:nvPr/>
        </p:nvSpPr>
        <p:spPr>
          <a:xfrm>
            <a:off x="6413500" y="4318000"/>
            <a:ext cx="1587500" cy="1206500"/>
          </a:xfrm>
          <a:prstGeom prst="roundRect">
            <a:avLst>
              <a:gd name="adj" fmla="val 8421"/>
            </a:avLst>
          </a:prstGeom>
          <a:solidFill>
            <a:srgbClr val="FFFFFF">
              <a:alpha val="9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1" name="AutoShape 31"/>
          <p:cNvSpPr/>
          <p:nvPr/>
        </p:nvSpPr>
        <p:spPr>
          <a:xfrm>
            <a:off x="6413500" y="4318000"/>
            <a:ext cx="1587500" cy="1206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127000" rIns="0" bIns="12700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22754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⛅ 气象分析</a:t>
            </a:r>
            <a:endParaRPr lang="en-US" sz="1100"/>
          </a:p>
          <a:p>
            <a:pPr indent="0" algn="ctr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实时对接气象数据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1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指导农事抗灾避灾</a:t>
            </a:r>
            <a:endParaRPr lang="en-US" sz="1100" b="0" i="0" u="none" strike="noStrike">
              <a:solidFill>
                <a:srgbClr val="4B5563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32" name="AutoShape 32"/>
          <p:cNvSpPr/>
          <p:nvPr/>
        </p:nvSpPr>
        <p:spPr>
          <a:xfrm>
            <a:off x="8026400" y="4318000"/>
            <a:ext cx="1587500" cy="1206500"/>
          </a:xfrm>
          <a:prstGeom prst="roundRect">
            <a:avLst>
              <a:gd name="adj" fmla="val 8421"/>
            </a:avLst>
          </a:prstGeom>
          <a:solidFill>
            <a:srgbClr val="FFFFFF">
              <a:alpha val="9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3" name="AutoShape 33"/>
          <p:cNvSpPr/>
          <p:nvPr/>
        </p:nvSpPr>
        <p:spPr>
          <a:xfrm>
            <a:off x="8026400" y="4318000"/>
            <a:ext cx="1587500" cy="1206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127000" rIns="0" bIns="12700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22754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🌾 物候期模型</a:t>
            </a:r>
            <a:endParaRPr lang="en-US" sz="1100"/>
          </a:p>
          <a:p>
            <a:pPr indent="0" algn="ctr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精准识别关键物候期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1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匹配最佳农事动作</a:t>
            </a:r>
            <a:endParaRPr lang="en-US" sz="1100" b="0" i="0" u="none" strike="noStrike">
              <a:solidFill>
                <a:srgbClr val="4B5563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34" name="AutoShape 34"/>
          <p:cNvSpPr/>
          <p:nvPr/>
        </p:nvSpPr>
        <p:spPr>
          <a:xfrm>
            <a:off x="9652000" y="4318000"/>
            <a:ext cx="1587500" cy="1206500"/>
          </a:xfrm>
          <a:prstGeom prst="roundRect">
            <a:avLst>
              <a:gd name="adj" fmla="val 8421"/>
            </a:avLst>
          </a:prstGeom>
          <a:solidFill>
            <a:srgbClr val="FFFFFF">
              <a:alpha val="9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5" name="AutoShape 35"/>
          <p:cNvSpPr/>
          <p:nvPr/>
        </p:nvSpPr>
        <p:spPr>
          <a:xfrm>
            <a:off x="9652000" y="4318000"/>
            <a:ext cx="1587500" cy="1206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127000" rIns="0" bIns="12700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22754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📈 市场预测</a:t>
            </a:r>
            <a:endParaRPr lang="en-US" sz="1100"/>
          </a:p>
          <a:p>
            <a:pPr indent="0" algn="ctr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分析历史交易数据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1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预判市场价格趋势</a:t>
            </a:r>
            <a:endParaRPr lang="en-US" sz="1100" b="0" i="0" u="none" strike="noStrike">
              <a:solidFill>
                <a:srgbClr val="4B5563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83631" y="3671176"/>
            <a:ext cx="3668744" cy="2792057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0168" y="3664743"/>
            <a:ext cx="3416802" cy="2802064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46253" y="900303"/>
            <a:ext cx="3578741" cy="2565082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92691" y="894064"/>
            <a:ext cx="3402901" cy="2550985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25431" y="3667743"/>
            <a:ext cx="2266569" cy="2818926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5" y="3671982"/>
            <a:ext cx="2180108" cy="2789396"/>
          </a:xfrm>
          <a:prstGeom prst="rect">
            <a:avLst/>
          </a:prstGeom>
        </p:spPr>
      </p:pic>
      <p:pic>
        <p:nvPicPr>
          <p:cNvPr id="9" name="Picture 8" descr="C:/Users/Administrator/Desktop/图片1.png图片1"/>
          <p:cNvPicPr>
            <a:picLocks noChangeAspect="1"/>
          </p:cNvPicPr>
          <p:nvPr/>
        </p:nvPicPr>
        <p:blipFill>
          <a:blip r:embed="rId8"/>
          <a:srcRect l="9607" r="9607"/>
          <a:stretch>
            <a:fillRect/>
          </a:stretch>
        </p:blipFill>
        <p:spPr>
          <a:xfrm>
            <a:off x="9936480" y="901431"/>
            <a:ext cx="2255520" cy="2560062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0" y="902316"/>
            <a:ext cx="2166270" cy="256143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094321" y="143922"/>
            <a:ext cx="3974115" cy="385762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ctr">
              <a:lnSpc>
                <a:spcPct val="109000"/>
              </a:lnSpc>
              <a:spcBef>
                <a:spcPts val="0"/>
              </a:spcBef>
              <a:spcAft>
                <a:spcPts val="0"/>
              </a:spcAft>
            </a:pPr>
            <a:r>
              <a:rPr sz="2775" b="1" i="0">
                <a:solidFill>
                  <a:srgbClr val="070707"/>
                </a:solidFill>
                <a:latin typeface="Noto Sans SC" panose="020B0200000000000000" charset="-122"/>
                <a:ea typeface="Noto Sans SC" panose="020B0200000000000000" charset="-122"/>
              </a:rPr>
              <a:t>后台指挥中心·界面展示</a:t>
            </a:r>
            <a:endParaRPr sz="2775" b="1" i="0">
              <a:solidFill>
                <a:srgbClr val="070707"/>
              </a:solidFill>
              <a:latin typeface="Noto Sans SC" panose="020B0200000000000000" charset="-122"/>
              <a:ea typeface="Noto Sans SC" panose="020B0200000000000000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0196131" y="946022"/>
            <a:ext cx="474821" cy="128587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just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CBD7E4"/>
                </a:solidFill>
                <a:latin typeface="Noto Sans SC" panose="020B0200000000000000" charset="-122"/>
                <a:ea typeface="Noto Sans SC" panose="020B0200000000000000" charset="-122"/>
              </a:rPr>
              <a:t>预警列表</a:t>
            </a:r>
            <a:endParaRPr sz="750" b="0" i="0">
              <a:solidFill>
                <a:srgbClr val="CBD7E4"/>
              </a:solidFill>
              <a:latin typeface="Noto Sans SC" panose="020B0200000000000000" charset="-122"/>
              <a:ea typeface="Noto Sans SC" panose="020B0200000000000000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1837384" y="946022"/>
            <a:ext cx="298894" cy="128587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just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9AB3C9"/>
                </a:solidFill>
                <a:latin typeface="Noto Sans SC" panose="020B0200000000000000" charset="-122"/>
                <a:ea typeface="Noto Sans SC" panose="020B0200000000000000" charset="-122"/>
              </a:rPr>
              <a:t/>
            </a:r>
            <a:endParaRPr sz="750" b="0" i="0">
              <a:solidFill>
                <a:srgbClr val="9AB3C9"/>
              </a:solidFill>
              <a:latin typeface="Noto Sans SC" panose="020B0200000000000000" charset="-122"/>
              <a:ea typeface="Noto Sans SC" panose="020B0200000000000000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518552" y="1527714"/>
            <a:ext cx="386905" cy="128587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9DAAB5"/>
                </a:solidFill>
                <a:latin typeface="Noto Sans SC" panose="020B0200000000000000" charset="-122"/>
                <a:ea typeface="Noto Sans SC" panose="020B0200000000000000" charset="-122"/>
              </a:rPr>
              <a:t/>
            </a:r>
            <a:endParaRPr sz="750" b="0" i="0">
              <a:solidFill>
                <a:srgbClr val="9DAAB5"/>
              </a:solidFill>
              <a:latin typeface="Noto Sans SC" panose="020B0200000000000000" charset="-122"/>
              <a:ea typeface="Noto Sans SC" panose="020B0200000000000000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9989534" y="3730561"/>
            <a:ext cx="653605" cy="192881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just">
              <a:lnSpc>
                <a:spcPct val="127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EBFBF0"/>
                </a:solidFill>
                <a:latin typeface="Noto Sans SC" panose="020B0200000000000000" charset="-122"/>
                <a:ea typeface="Noto Sans SC" panose="020B0200000000000000" charset="-122"/>
              </a:rPr>
              <a:t>风险中心</a:t>
            </a:r>
            <a:endParaRPr sz="1200" b="0" i="0">
              <a:solidFill>
                <a:srgbClr val="EBFBF0"/>
              </a:solidFill>
              <a:latin typeface="Noto Sans SC" panose="020B0200000000000000" charset="-122"/>
              <a:ea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668000" cy="571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六大农业模型 · 智能决策引擎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524000"/>
            <a:ext cx="10668000" cy="2667000"/>
          </a:xfrm>
          <a:prstGeom prst="roundRect">
            <a:avLst>
              <a:gd name="adj" fmla="val 3809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889000" y="1651000"/>
          <a:ext cx="10414000" cy="2832100"/>
        </p:xfrm>
        <a:graphic>
          <a:graphicData uri="http://schemas.openxmlformats.org/drawingml/2006/table">
            <a:tbl>
              <a:tblPr>
                <a:effectLst/>
              </a:tblPr>
              <a:tblGrid>
                <a:gridCol w="1778000"/>
                <a:gridCol w="2921000"/>
                <a:gridCol w="2921000"/>
                <a:gridCol w="2794000"/>
              </a:tblGrid>
              <a:tr h="457200">
                <a:tc>
                  <a:txBody>
                    <a:bodyPr rtlCol="0"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400" b="1" i="0" u="none" strike="noStrike">
                          <a:solidFill>
                            <a:srgbClr val="FFFFFF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模型名称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CAF50">
                        <a:alpha val="100000"/>
                      </a:srgbClr>
                    </a:solidFill>
                  </a:tcPr>
                </a:tc>
                <a:tc>
                  <a:txBody>
                    <a:bodyPr rtlCol="0"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400" b="1" i="0" u="none" strike="noStrike">
                          <a:solidFill>
                            <a:srgbClr val="FFFFFF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核心输入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CAF50">
                        <a:alpha val="100000"/>
                      </a:srgbClr>
                    </a:solidFill>
                  </a:tcPr>
                </a:tc>
                <a:tc>
                  <a:txBody>
                    <a:bodyPr rtlCol="0"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400" b="1" i="0" u="none" strike="noStrike">
                          <a:solidFill>
                            <a:srgbClr val="FFFFFF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核心输出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CAF50">
                        <a:alpha val="100000"/>
                      </a:srgbClr>
                    </a:solidFill>
                  </a:tcPr>
                </a:tc>
                <a:tc>
                  <a:txBody>
                    <a:bodyPr rtlCol="0"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400" b="1" i="0" u="none" strike="noStrike">
                          <a:solidFill>
                            <a:srgbClr val="FFFFFF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主要用户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CAF50">
                        <a:alpha val="100000"/>
                      </a:srgbClr>
                    </a:solidFill>
                  </a:tcPr>
                </a:tc>
              </a:tr>
              <a:tr h="368300">
                <a:tc>
                  <a:txBody>
                    <a:bodyPr rtlCol="0"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1" i="0" u="none" strike="noStrike">
                          <a:solidFill>
                            <a:srgbClr val="333333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生长模型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rtlCol="0"/>
                    <a:lstStyle/>
                    <a:p>
                      <a:pPr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55555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品种、积温、物候期、土壤水肥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rtlCol="0"/>
                    <a:lstStyle/>
                    <a:p>
                      <a:pPr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55555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当前物候期、精准农事建议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rtlCol="0"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55555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基地管理者、技术员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8300">
                <a:tc>
                  <a:txBody>
                    <a:bodyPr rtlCol="0"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1" i="0" u="none" strike="noStrike">
                          <a:solidFill>
                            <a:srgbClr val="333333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气象模型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BF9">
                        <a:alpha val="100000"/>
                      </a:srgbClr>
                    </a:solidFill>
                  </a:tcPr>
                </a:tc>
                <a:tc>
                  <a:txBody>
                    <a:bodyPr rtlCol="0"/>
                    <a:lstStyle/>
                    <a:p>
                      <a:pPr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55555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本地气象站数据、区域气象预报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BF9">
                        <a:alpha val="100000"/>
                      </a:srgbClr>
                    </a:solidFill>
                  </a:tcPr>
                </a:tc>
                <a:tc>
                  <a:txBody>
                    <a:bodyPr rtlCol="0"/>
                    <a:lstStyle/>
                    <a:p>
                      <a:pPr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55555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未来72小时精准预报、极端天气概率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BF9">
                        <a:alpha val="100000"/>
                      </a:srgbClr>
                    </a:solidFill>
                  </a:tcPr>
                </a:tc>
                <a:tc>
                  <a:txBody>
                    <a:bodyPr rtlCol="0"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55555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企业管理者、基地管理者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BF9">
                        <a:alpha val="100000"/>
                      </a:srgbClr>
                    </a:solidFill>
                  </a:tcPr>
                </a:tc>
              </a:tr>
              <a:tr h="368300">
                <a:tc>
                  <a:txBody>
                    <a:bodyPr rtlCol="0"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1" i="0" u="none" strike="noStrike">
                          <a:solidFill>
                            <a:srgbClr val="333333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病虫害模型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rtlCol="0"/>
                    <a:lstStyle/>
                    <a:p>
                      <a:pPr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55555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气象因子、虫情灯数据、历史发病数据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rtlCol="0"/>
                    <a:lstStyle/>
                    <a:p>
                      <a:pPr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55555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病虫害爆发风险等级、防治建议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rtlCol="0"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55555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基地管理者、植保员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8300">
                <a:tc>
                  <a:txBody>
                    <a:bodyPr rtlCol="0"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1" i="0" u="none" strike="noStrike">
                          <a:solidFill>
                            <a:srgbClr val="333333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物候期模型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BF9">
                        <a:alpha val="100000"/>
                      </a:srgbClr>
                    </a:solidFill>
                  </a:tcPr>
                </a:tc>
                <a:tc>
                  <a:txBody>
                    <a:bodyPr rtlCol="0"/>
                    <a:lstStyle/>
                    <a:p>
                      <a:pPr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55555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历年观测记录、积温、品种特性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BF9">
                        <a:alpha val="100000"/>
                      </a:srgbClr>
                    </a:solidFill>
                  </a:tcPr>
                </a:tc>
                <a:tc>
                  <a:txBody>
                    <a:bodyPr rtlCol="0"/>
                    <a:lstStyle/>
                    <a:p>
                      <a:pPr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55555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关键农时窗口预测、农时偏差提醒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BF9">
                        <a:alpha val="100000"/>
                      </a:srgbClr>
                    </a:solidFill>
                  </a:tcPr>
                </a:tc>
                <a:tc>
                  <a:txBody>
                    <a:bodyPr rtlCol="0"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55555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企业管理者、基地管理者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BF9">
                        <a:alpha val="100000"/>
                      </a:srgbClr>
                    </a:solidFill>
                  </a:tcPr>
                </a:tc>
              </a:tr>
              <a:tr h="368300">
                <a:tc>
                  <a:txBody>
                    <a:bodyPr rtlCol="0"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1" i="0" u="none" strike="noStrike">
                          <a:solidFill>
                            <a:srgbClr val="333333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产量预估模型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rtlCol="0"/>
                    <a:lstStyle/>
                    <a:p>
                      <a:pPr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55555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坐果率、疏果抽样、历史单产、气象胁迫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rtlCol="0"/>
                    <a:lstStyle/>
                    <a:p>
                      <a:pPr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55555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分地块预估产量、置信区间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rtlCol="0"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55555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企业管理者、销售部门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533400">
                <a:tc>
                  <a:txBody>
                    <a:bodyPr rtlCol="0"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1" i="0" u="none" strike="noStrike">
                          <a:solidFill>
                            <a:srgbClr val="333333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市场价格预测模型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BF9">
                        <a:alpha val="100000"/>
                      </a:srgbClr>
                    </a:solidFill>
                  </a:tcPr>
                </a:tc>
                <a:tc>
                  <a:txBody>
                    <a:bodyPr rtlCol="0"/>
                    <a:lstStyle/>
                    <a:p>
                      <a:pPr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55555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历史市场价格、供需政策、季节性因子、期货指数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BF9">
                        <a:alpha val="100000"/>
                      </a:srgbClr>
                    </a:solidFill>
                  </a:tcPr>
                </a:tc>
                <a:tc>
                  <a:txBody>
                    <a:bodyPr rtlCol="0"/>
                    <a:lstStyle/>
                    <a:p>
                      <a:pPr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55555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未来1-6个月价格趋势、最佳销售窗口期建议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BF9">
                        <a:alpha val="100000"/>
                      </a:srgbClr>
                    </a:solidFill>
                  </a:tcPr>
                </a:tc>
                <a:tc>
                  <a:txBody>
                    <a:bodyPr rtlCol="0"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100" b="0" i="0" u="none" strike="noStrike">
                          <a:solidFill>
                            <a:srgbClr val="55555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  <a:sym typeface="Noto Sans SC" panose="020B0200000000000000" charset="-122"/>
                        </a:rPr>
                        <a:t>企业管理者、销售部门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BF9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" name="AutoShape 5"/>
          <p:cNvSpPr/>
          <p:nvPr/>
        </p:nvSpPr>
        <p:spPr>
          <a:xfrm>
            <a:off x="762000" y="4572000"/>
            <a:ext cx="3302000" cy="1778000"/>
          </a:xfrm>
          <a:prstGeom prst="roundRect">
            <a:avLst>
              <a:gd name="adj" fmla="val 8571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52500" y="4826000"/>
            <a:ext cx="406400" cy="406400"/>
          </a:xfrm>
          <a:prstGeom prst="rect">
            <a:avLst/>
          </a:prstGeom>
        </p:spPr>
      </p:pic>
      <p:sp>
        <p:nvSpPr>
          <p:cNvPr id="7" name="AutoShape 7"/>
          <p:cNvSpPr/>
          <p:nvPr/>
        </p:nvSpPr>
        <p:spPr>
          <a:xfrm>
            <a:off x="1524000" y="4762500"/>
            <a:ext cx="2286000" cy="635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6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70%+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952500" y="5588000"/>
            <a:ext cx="2921000" cy="508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500" b="0" i="0" u="none" strike="noStrike">
                <a:solidFill>
                  <a:srgbClr val="5050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农事建议准确率提升</a:t>
            </a:r>
            <a:endParaRPr lang="en-US" sz="1100"/>
          </a:p>
        </p:txBody>
      </p:sp>
      <p:sp>
        <p:nvSpPr>
          <p:cNvPr id="9" name="AutoShape 9"/>
          <p:cNvSpPr/>
          <p:nvPr/>
        </p:nvSpPr>
        <p:spPr>
          <a:xfrm>
            <a:off x="4445000" y="4572000"/>
            <a:ext cx="3302000" cy="1778000"/>
          </a:xfrm>
          <a:prstGeom prst="roundRect">
            <a:avLst>
              <a:gd name="adj" fmla="val 8571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0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635500" y="4826000"/>
            <a:ext cx="406400" cy="406400"/>
          </a:xfrm>
          <a:prstGeom prst="rect">
            <a:avLst/>
          </a:prstGeom>
        </p:spPr>
      </p:pic>
      <p:sp>
        <p:nvSpPr>
          <p:cNvPr id="11" name="AutoShape 11"/>
          <p:cNvSpPr/>
          <p:nvPr/>
        </p:nvSpPr>
        <p:spPr>
          <a:xfrm>
            <a:off x="5207000" y="4762500"/>
            <a:ext cx="2286000" cy="635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600" b="1" i="0" u="none" strike="noStrike">
                <a:solidFill>
                  <a:srgbClr val="F59E0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24小时</a:t>
            </a:r>
            <a:endParaRPr lang="en-US" sz="1100"/>
          </a:p>
        </p:txBody>
      </p:sp>
      <p:sp>
        <p:nvSpPr>
          <p:cNvPr id="12" name="AutoShape 12"/>
          <p:cNvSpPr/>
          <p:nvPr/>
        </p:nvSpPr>
        <p:spPr>
          <a:xfrm>
            <a:off x="4635500" y="5588000"/>
            <a:ext cx="2921000" cy="508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500" b="0" i="0" u="none" strike="noStrike">
                <a:solidFill>
                  <a:srgbClr val="5050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病虫害预警提前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>
            <a:off x="8128000" y="4572000"/>
            <a:ext cx="3302000" cy="1778000"/>
          </a:xfrm>
          <a:prstGeom prst="roundRect">
            <a:avLst>
              <a:gd name="adj" fmla="val 8571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4" name="Picture 14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318500" y="4826000"/>
            <a:ext cx="406400" cy="406400"/>
          </a:xfrm>
          <a:prstGeom prst="rect">
            <a:avLst/>
          </a:prstGeom>
        </p:spPr>
      </p:pic>
      <p:sp>
        <p:nvSpPr>
          <p:cNvPr id="15" name="AutoShape 15"/>
          <p:cNvSpPr/>
          <p:nvPr/>
        </p:nvSpPr>
        <p:spPr>
          <a:xfrm>
            <a:off x="8890000" y="4762500"/>
            <a:ext cx="2286000" cy="635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600" b="1" i="0" u="none" strike="noStrike">
                <a:solidFill>
                  <a:srgbClr val="3B82F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±8%</a:t>
            </a:r>
            <a:endParaRPr lang="en-US" sz="1100"/>
          </a:p>
        </p:txBody>
      </p:sp>
      <p:sp>
        <p:nvSpPr>
          <p:cNvPr id="16" name="AutoShape 16"/>
          <p:cNvSpPr/>
          <p:nvPr/>
        </p:nvSpPr>
        <p:spPr>
          <a:xfrm>
            <a:off x="8318500" y="5588000"/>
            <a:ext cx="2921000" cy="508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500" b="0" i="0" u="none" strike="noStrike">
                <a:solidFill>
                  <a:srgbClr val="5050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产量预估误差控制在以内</a:t>
            </a:r>
            <a:endParaRPr lang="en-US" sz="11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C:/Users/Administrator/Desktop/图片5.png图片5"/>
          <p:cNvPicPr>
            <a:picLocks noChangeAspect="1"/>
          </p:cNvPicPr>
          <p:nvPr/>
        </p:nvPicPr>
        <p:blipFill>
          <a:blip r:embed="rId2"/>
          <a:srcRect t="3646" b="3646"/>
          <a:stretch>
            <a:fillRect/>
          </a:stretch>
        </p:blipFill>
        <p:spPr>
          <a:xfrm>
            <a:off x="4191666" y="3854653"/>
            <a:ext cx="3789140" cy="2713328"/>
          </a:xfrm>
          <a:prstGeom prst="rect">
            <a:avLst/>
          </a:prstGeom>
        </p:spPr>
      </p:pic>
      <p:pic>
        <p:nvPicPr>
          <p:cNvPr id="4" name="Picture 3" descr="C:/Users/Administrator/Desktop/图片6.png图片6"/>
          <p:cNvPicPr>
            <a:picLocks noChangeAspect="1"/>
          </p:cNvPicPr>
          <p:nvPr/>
        </p:nvPicPr>
        <p:blipFill>
          <a:blip r:embed="rId3"/>
          <a:srcRect t="2217" b="2217"/>
          <a:stretch>
            <a:fillRect/>
          </a:stretch>
        </p:blipFill>
        <p:spPr>
          <a:xfrm>
            <a:off x="8266366" y="3857264"/>
            <a:ext cx="3482435" cy="2715441"/>
          </a:xfrm>
          <a:prstGeom prst="rect">
            <a:avLst/>
          </a:prstGeom>
        </p:spPr>
      </p:pic>
      <p:pic>
        <p:nvPicPr>
          <p:cNvPr id="5" name="Picture 4" descr="C:/Users/Administrator/Desktop/图片2.png图片2"/>
          <p:cNvPicPr>
            <a:picLocks noChangeAspect="1"/>
          </p:cNvPicPr>
          <p:nvPr/>
        </p:nvPicPr>
        <p:blipFill>
          <a:blip r:embed="rId4"/>
          <a:srcRect t="10680" b="10777"/>
          <a:stretch>
            <a:fillRect/>
          </a:stretch>
        </p:blipFill>
        <p:spPr>
          <a:xfrm>
            <a:off x="4172536" y="1158049"/>
            <a:ext cx="3815208" cy="2438685"/>
          </a:xfrm>
          <a:prstGeom prst="rect">
            <a:avLst/>
          </a:prstGeom>
        </p:spPr>
      </p:pic>
      <p:pic>
        <p:nvPicPr>
          <p:cNvPr id="6" name="Picture 5" descr="C:/Users/Administrator/Desktop/图片4.png图片4"/>
          <p:cNvPicPr>
            <a:picLocks noChangeAspect="1"/>
          </p:cNvPicPr>
          <p:nvPr/>
        </p:nvPicPr>
        <p:blipFill>
          <a:blip r:embed="rId5"/>
          <a:srcRect t="680" b="999"/>
          <a:stretch>
            <a:fillRect/>
          </a:stretch>
        </p:blipFill>
        <p:spPr>
          <a:xfrm>
            <a:off x="466773" y="3861530"/>
            <a:ext cx="3437189" cy="2699289"/>
          </a:xfrm>
          <a:prstGeom prst="rect">
            <a:avLst/>
          </a:prstGeom>
        </p:spPr>
      </p:pic>
      <p:pic>
        <p:nvPicPr>
          <p:cNvPr id="7" name="Picture 6" descr="C:/Users/Administrator/Desktop/图片3.png图片3"/>
          <p:cNvPicPr>
            <a:picLocks noChangeAspect="1"/>
          </p:cNvPicPr>
          <p:nvPr/>
        </p:nvPicPr>
        <p:blipFill>
          <a:blip r:embed="rId6"/>
          <a:srcRect t="8174" b="8174"/>
          <a:stretch>
            <a:fillRect/>
          </a:stretch>
        </p:blipFill>
        <p:spPr>
          <a:xfrm>
            <a:off x="8259984" y="1157579"/>
            <a:ext cx="3466814" cy="2471533"/>
          </a:xfrm>
          <a:prstGeom prst="rect">
            <a:avLst/>
          </a:prstGeom>
        </p:spPr>
      </p:pic>
      <p:pic>
        <p:nvPicPr>
          <p:cNvPr id="8" name="Picture 7" descr="C:/Users/Administrator/Desktop/图片1.png图片1"/>
          <p:cNvPicPr>
            <a:picLocks noChangeAspect="1"/>
          </p:cNvPicPr>
          <p:nvPr/>
        </p:nvPicPr>
        <p:blipFill>
          <a:blip r:embed="rId7"/>
          <a:srcRect t="10222" b="10317"/>
          <a:stretch>
            <a:fillRect/>
          </a:stretch>
        </p:blipFill>
        <p:spPr>
          <a:xfrm>
            <a:off x="467487" y="1161937"/>
            <a:ext cx="3418713" cy="2414049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220580" y="5414010"/>
            <a:ext cx="3735218" cy="117052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593115" y="355187"/>
            <a:ext cx="5093684" cy="51435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000000"/>
                </a:solidFill>
                <a:latin typeface="Noto Sans SC" panose="020B0200000000000000" charset="-122"/>
                <a:ea typeface="Noto Sans SC" panose="020B0200000000000000" charset="-122"/>
              </a:rPr>
              <a:t>六大农业模型·界面展示</a:t>
            </a:r>
            <a:endParaRPr sz="3600" b="1" i="0">
              <a:solidFill>
                <a:srgbClr val="000000"/>
              </a:solidFill>
              <a:latin typeface="Noto Sans SC" panose="020B0200000000000000" charset="-122"/>
              <a:ea typeface="Noto Sans SC" panose="020B0200000000000000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723388" y="2355151"/>
            <a:ext cx="150971" cy="96392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just">
              <a:lnSpc>
                <a:spcPct val="169000"/>
              </a:lnSpc>
              <a:spcBef>
                <a:spcPts val="0"/>
              </a:spcBef>
              <a:spcAft>
                <a:spcPts val="0"/>
              </a:spcAft>
            </a:pPr>
            <a:r>
              <a:rPr sz="450" b="0" i="0">
                <a:solidFill>
                  <a:srgbClr val="727379"/>
                </a:solidFill>
                <a:latin typeface="Noto Sans SC" panose="020B0200000000000000" charset="-122"/>
                <a:ea typeface="Noto Sans SC" panose="020B0200000000000000" charset="-122"/>
              </a:rPr>
              <a:t/>
            </a:r>
            <a:endParaRPr sz="450" b="0" i="0">
              <a:solidFill>
                <a:srgbClr val="727379"/>
              </a:solidFill>
              <a:latin typeface="Noto Sans SC" panose="020B0200000000000000" charset="-122"/>
              <a:ea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668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生长 &amp; 物候期模型：精准判断生长阶段，不错过每个农时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651000"/>
            <a:ext cx="5207000" cy="4572000"/>
          </a:xfrm>
          <a:prstGeom prst="roundRect">
            <a:avLst>
              <a:gd name="adj" fmla="val 333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" name="AutoShape 4"/>
          <p:cNvSpPr/>
          <p:nvPr/>
        </p:nvSpPr>
        <p:spPr>
          <a:xfrm>
            <a:off x="1016000" y="1905000"/>
            <a:ext cx="4699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▍生长模型：精准判断，科学指导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1016000" y="2667000"/>
            <a:ext cx="4699000" cy="1651000"/>
          </a:xfrm>
          <a:prstGeom prst="roundRect">
            <a:avLst>
              <a:gd name="adj" fmla="val 6153"/>
            </a:avLst>
          </a:prstGeom>
          <a:solidFill>
            <a:srgbClr val="F9FAF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206500" y="2921000"/>
            <a:ext cx="508000" cy="508000"/>
          </a:xfrm>
          <a:prstGeom prst="rect">
            <a:avLst/>
          </a:prstGeom>
        </p:spPr>
      </p:pic>
      <p:sp>
        <p:nvSpPr>
          <p:cNvPr id="7" name="AutoShape 7"/>
          <p:cNvSpPr/>
          <p:nvPr/>
        </p:nvSpPr>
        <p:spPr>
          <a:xfrm>
            <a:off x="1905000" y="2857500"/>
            <a:ext cx="3619500" cy="1270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15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▌核心原理</a:t>
            </a:r>
            <a:endParaRPr lang="en-US" sz="1100"/>
          </a:p>
          <a:p>
            <a:pPr indent="0" algn="l">
              <a:lnSpc>
                <a:spcPct val="117000"/>
              </a:lnSpc>
            </a:pPr>
            <a:r>
              <a:rPr lang="en-US" sz="12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通过实时监测积温、水肥等关键环境数据，结合不同苹果品种的生物学特性，利用算法精准判断果树所处的具体生长阶段（如萌芽期、花期、膨大期等）。</a:t>
            </a:r>
            <a:endParaRPr lang="en-US" sz="1200" b="0" i="0" u="none" strike="noStrike">
              <a:solidFill>
                <a:srgbClr val="55555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8" name="AutoShape 8"/>
          <p:cNvSpPr/>
          <p:nvPr/>
        </p:nvSpPr>
        <p:spPr>
          <a:xfrm>
            <a:off x="1016000" y="4445000"/>
            <a:ext cx="4699000" cy="1651000"/>
          </a:xfrm>
          <a:prstGeom prst="roundRect">
            <a:avLst>
              <a:gd name="adj" fmla="val 6153"/>
            </a:avLst>
          </a:prstGeom>
          <a:solidFill>
            <a:srgbClr val="F9FAF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206500" y="4699000"/>
            <a:ext cx="508000" cy="508000"/>
          </a:xfrm>
          <a:prstGeom prst="rect">
            <a:avLst/>
          </a:prstGeom>
        </p:spPr>
      </p:pic>
      <p:sp>
        <p:nvSpPr>
          <p:cNvPr id="10" name="AutoShape 10"/>
          <p:cNvSpPr/>
          <p:nvPr/>
        </p:nvSpPr>
        <p:spPr>
          <a:xfrm>
            <a:off x="1905000" y="4635500"/>
            <a:ext cx="3619500" cy="1270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15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▌农事应用</a:t>
            </a:r>
            <a:endParaRPr lang="en-US" sz="1100"/>
          </a:p>
          <a:p>
            <a:pPr indent="0" algn="l">
              <a:lnSpc>
                <a:spcPct val="117000"/>
              </a:lnSpc>
            </a:pPr>
            <a:r>
              <a:rPr lang="en-US" sz="12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自动生成农事建议看板，例如“当前95%地块进入膨大期，建议本周完成追肥”。通过对比实际与理论积温曲线，智能识别并预警生长是否超前或滞后。</a:t>
            </a:r>
            <a:endParaRPr lang="en-US" sz="1200" b="0" i="0" u="none" strike="noStrike">
              <a:solidFill>
                <a:srgbClr val="55555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1" name="AutoShape 11"/>
          <p:cNvSpPr/>
          <p:nvPr/>
        </p:nvSpPr>
        <p:spPr>
          <a:xfrm>
            <a:off x="6223000" y="1651000"/>
            <a:ext cx="5207000" cy="4572000"/>
          </a:xfrm>
          <a:prstGeom prst="roundRect">
            <a:avLst>
              <a:gd name="adj" fmla="val 333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2" name="AutoShape 12"/>
          <p:cNvSpPr/>
          <p:nvPr/>
        </p:nvSpPr>
        <p:spPr>
          <a:xfrm>
            <a:off x="6477000" y="1905000"/>
            <a:ext cx="4699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FF98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▍物候期模型：预测窗口，把握农时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>
            <a:off x="6477000" y="2667000"/>
            <a:ext cx="4699000" cy="1651000"/>
          </a:xfrm>
          <a:prstGeom prst="roundRect">
            <a:avLst>
              <a:gd name="adj" fmla="val 6153"/>
            </a:avLst>
          </a:prstGeom>
          <a:solidFill>
            <a:srgbClr val="FFF8F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4" name="Picture 14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667500" y="2921000"/>
            <a:ext cx="508000" cy="508000"/>
          </a:xfrm>
          <a:prstGeom prst="rect">
            <a:avLst/>
          </a:prstGeom>
        </p:spPr>
      </p:pic>
      <p:sp>
        <p:nvSpPr>
          <p:cNvPr id="15" name="AutoShape 15"/>
          <p:cNvSpPr/>
          <p:nvPr/>
        </p:nvSpPr>
        <p:spPr>
          <a:xfrm>
            <a:off x="7366000" y="2857500"/>
            <a:ext cx="3619500" cy="1270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15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▌预测逻辑</a:t>
            </a:r>
            <a:endParaRPr lang="en-US" sz="1100"/>
          </a:p>
          <a:p>
            <a:pPr indent="0" algn="l">
              <a:lnSpc>
                <a:spcPct val="117000"/>
              </a:lnSpc>
            </a:pPr>
            <a:r>
              <a:rPr lang="en-US" sz="12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基于果园多年的历史物候观测数据与实时积温数据，建立预测模型，精准推算未来关键物候期（如开花、套袋、采收）的精确时间窗口。</a:t>
            </a:r>
            <a:endParaRPr lang="en-US" sz="1200" b="0" i="0" u="none" strike="noStrike">
              <a:solidFill>
                <a:srgbClr val="55555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6" name="AutoShape 16"/>
          <p:cNvSpPr/>
          <p:nvPr/>
        </p:nvSpPr>
        <p:spPr>
          <a:xfrm>
            <a:off x="6477000" y="4445000"/>
            <a:ext cx="4699000" cy="1651000"/>
          </a:xfrm>
          <a:prstGeom prst="roundRect">
            <a:avLst>
              <a:gd name="adj" fmla="val 6153"/>
            </a:avLst>
          </a:prstGeom>
          <a:solidFill>
            <a:srgbClr val="FFF8F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7" name="Picture 17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667500" y="4699000"/>
            <a:ext cx="508000" cy="508000"/>
          </a:xfrm>
          <a:prstGeom prst="rect">
            <a:avLst/>
          </a:prstGeom>
        </p:spPr>
      </p:pic>
      <p:sp>
        <p:nvSpPr>
          <p:cNvPr id="18" name="AutoShape 18"/>
          <p:cNvSpPr/>
          <p:nvPr/>
        </p:nvSpPr>
        <p:spPr>
          <a:xfrm>
            <a:off x="7366000" y="4635500"/>
            <a:ext cx="3619500" cy="1270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15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▌决策支持</a:t>
            </a:r>
            <a:endParaRPr lang="en-US" sz="1100"/>
          </a:p>
          <a:p>
            <a:pPr indent="0" algn="l">
              <a:lnSpc>
                <a:spcPct val="117000"/>
              </a:lnSpc>
            </a:pPr>
            <a:r>
              <a:rPr lang="en-US" sz="12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在时间轴上直观展示各物候期起止时间，并提前预警潜在的农时偏差风险，确保各项农事活动（如施肥、灌溉、采摘）都能锁定并在最佳窗口期内完成。</a:t>
            </a:r>
            <a:endParaRPr lang="en-US" sz="1200" b="0" i="0" u="none" strike="noStrike">
              <a:solidFill>
                <a:srgbClr val="55555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668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气象 &amp; 病虫害模型：72小时精准预警，将风险化解于未然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651000"/>
            <a:ext cx="5207000" cy="4572000"/>
          </a:xfrm>
          <a:prstGeom prst="roundRect">
            <a:avLst>
              <a:gd name="adj" fmla="val 333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" name="AutoShape 4"/>
          <p:cNvSpPr/>
          <p:nvPr/>
        </p:nvSpPr>
        <p:spPr>
          <a:xfrm>
            <a:off x="1016000" y="1905000"/>
            <a:ext cx="4699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2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🌤️ 气象模型：精准预报，专属指数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1016000" y="2667000"/>
            <a:ext cx="4699000" cy="1397000"/>
          </a:xfrm>
          <a:prstGeom prst="roundRect">
            <a:avLst>
              <a:gd name="adj" fmla="val 7272"/>
            </a:avLst>
          </a:prstGeom>
          <a:solidFill>
            <a:srgbClr val="F0F9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6" name="AutoShape 6"/>
          <p:cNvSpPr/>
          <p:nvPr/>
        </p:nvSpPr>
        <p:spPr>
          <a:xfrm>
            <a:off x="1143000" y="2794000"/>
            <a:ext cx="4445000" cy="1143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500" b="1" i="0" u="none" strike="noStrike">
                <a:solidFill>
                  <a:srgbClr val="1E3A8A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📊 模型原理</a:t>
            </a:r>
            <a:endParaRPr lang="en-US" sz="1100"/>
          </a:p>
          <a:p>
            <a:pPr indent="0" algn="l">
              <a:lnSpc>
                <a:spcPct val="108000"/>
              </a:lnSpc>
            </a:pP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融合本地气象站、雷达与国家级气象数据，打破传统预报局限，提供更贴合果园的本地化、分钟级精准天气预报。</a:t>
            </a:r>
            <a:endParaRPr lang="en-US" sz="1200" b="0" i="0" u="none" strike="noStrike">
              <a:solidFill>
                <a:srgbClr val="374151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7" name="AutoShape 7"/>
          <p:cNvSpPr/>
          <p:nvPr/>
        </p:nvSpPr>
        <p:spPr>
          <a:xfrm>
            <a:off x="1016000" y="4254500"/>
            <a:ext cx="4699000" cy="1778000"/>
          </a:xfrm>
          <a:prstGeom prst="roundRect">
            <a:avLst>
              <a:gd name="adj" fmla="val 5714"/>
            </a:avLst>
          </a:prstGeom>
          <a:solidFill>
            <a:srgbClr val="FFFBE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8" name="AutoShape 8"/>
          <p:cNvSpPr/>
          <p:nvPr/>
        </p:nvSpPr>
        <p:spPr>
          <a:xfrm>
            <a:off x="1143000" y="4381500"/>
            <a:ext cx="4445000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500" b="1" i="0" u="none" strike="noStrike">
                <a:solidFill>
                  <a:srgbClr val="B4530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⚡ 核心应用价值</a:t>
            </a:r>
            <a:endParaRPr lang="en-US" sz="1100"/>
          </a:p>
          <a:p>
            <a:pPr indent="0" algn="l">
              <a:lnSpc>
                <a:spcPct val="108000"/>
              </a:lnSpc>
            </a:pP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实时展示逐小时温度/降水变化曲线，对霜冻、冰雹等极端天气提供倒计时预警。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智能生成“苹果专属气象指数”，量化锈病发生概率、裂果风险等关键指标。</a:t>
            </a:r>
            <a:endParaRPr lang="en-US" sz="1200" b="0" i="0" u="none" strike="noStrike">
              <a:solidFill>
                <a:srgbClr val="374151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9" name="AutoShape 9"/>
          <p:cNvSpPr/>
          <p:nvPr/>
        </p:nvSpPr>
        <p:spPr>
          <a:xfrm>
            <a:off x="6223000" y="1651000"/>
            <a:ext cx="5207000" cy="4572000"/>
          </a:xfrm>
          <a:prstGeom prst="roundRect">
            <a:avLst>
              <a:gd name="adj" fmla="val 333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0" name="AutoShape 10"/>
          <p:cNvSpPr/>
          <p:nvPr/>
        </p:nvSpPr>
        <p:spPr>
          <a:xfrm>
            <a:off x="6477000" y="1905000"/>
            <a:ext cx="4699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200" b="1" i="0" u="none" strike="noStrike">
                <a:solidFill>
                  <a:srgbClr val="F59E0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🐛 病虫害模型：风险预测，精准防治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6477000" y="2667000"/>
            <a:ext cx="4699000" cy="1397000"/>
          </a:xfrm>
          <a:prstGeom prst="roundRect">
            <a:avLst>
              <a:gd name="adj" fmla="val 7272"/>
            </a:avLst>
          </a:prstGeom>
          <a:solidFill>
            <a:srgbClr val="ECFDF5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2" name="AutoShape 12"/>
          <p:cNvSpPr/>
          <p:nvPr/>
        </p:nvSpPr>
        <p:spPr>
          <a:xfrm>
            <a:off x="6604000" y="2794000"/>
            <a:ext cx="4445000" cy="1143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500" b="1" i="0" u="none" strike="noStrike">
                <a:solidFill>
                  <a:srgbClr val="04785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🧠 综合预测逻辑</a:t>
            </a:r>
            <a:endParaRPr lang="en-US" sz="1100"/>
          </a:p>
          <a:p>
            <a:pPr indent="0" algn="l">
              <a:lnSpc>
                <a:spcPct val="108000"/>
              </a:lnSpc>
            </a:pP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结合实时气象条件、田间虫情监测站数据与历史发病记录，利用AI算法预测未来病虫害的发生与扩散风险。</a:t>
            </a:r>
            <a:endParaRPr lang="en-US" sz="1200" b="0" i="0" u="none" strike="noStrike">
              <a:solidFill>
                <a:srgbClr val="374151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3" name="AutoShape 13"/>
          <p:cNvSpPr/>
          <p:nvPr/>
        </p:nvSpPr>
        <p:spPr>
          <a:xfrm>
            <a:off x="6477000" y="4254500"/>
            <a:ext cx="4699000" cy="1778000"/>
          </a:xfrm>
          <a:prstGeom prst="roundRect">
            <a:avLst>
              <a:gd name="adj" fmla="val 5714"/>
            </a:avLst>
          </a:prstGeom>
          <a:solidFill>
            <a:srgbClr val="FEF2F2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4" name="AutoShape 14"/>
          <p:cNvSpPr/>
          <p:nvPr/>
        </p:nvSpPr>
        <p:spPr>
          <a:xfrm>
            <a:off x="6604000" y="4381500"/>
            <a:ext cx="4445000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500" b="1" i="0" u="none" strike="noStrike">
                <a:solidFill>
                  <a:srgbClr val="B91C1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🎯 落地应用场景</a:t>
            </a:r>
            <a:endParaRPr lang="en-US" sz="1100"/>
          </a:p>
          <a:p>
            <a:pPr indent="0" algn="l">
              <a:lnSpc>
                <a:spcPct val="108000"/>
              </a:lnSpc>
            </a:pP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在GIS地图生成“红黄绿”三色地块级风险热力图，让风险分布一目了然。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自动生成针对性防治建议卡片，包含最佳施药窗口期与推荐药剂组合。</a:t>
            </a:r>
            <a:endParaRPr lang="en-US" sz="1200" b="0" i="0" u="none" strike="noStrike">
              <a:solidFill>
                <a:srgbClr val="374151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668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产量 &amp; 市场价格模型：以销定产，把握最佳销售窗口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651000"/>
            <a:ext cx="5207000" cy="4572000"/>
          </a:xfrm>
          <a:prstGeom prst="roundRect">
            <a:avLst>
              <a:gd name="adj" fmla="val 333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" name="AutoShape 4"/>
          <p:cNvSpPr/>
          <p:nvPr/>
        </p:nvSpPr>
        <p:spPr>
          <a:xfrm>
            <a:off x="1016000" y="1905000"/>
            <a:ext cx="4699000" cy="508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产量预估模型：精准预测，指导销售</a:t>
            </a:r>
            <a:endParaRPr lang="en-US" sz="1100"/>
          </a:p>
        </p:txBody>
      </p:sp>
      <p:pic>
        <p:nvPicPr>
          <p:cNvPr id="5" name="Picture 5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16000" y="2794000"/>
            <a:ext cx="508000" cy="508000"/>
          </a:xfrm>
          <a:prstGeom prst="rect">
            <a:avLst/>
          </a:prstGeom>
        </p:spPr>
      </p:pic>
      <p:sp>
        <p:nvSpPr>
          <p:cNvPr id="6" name="AutoShape 6"/>
          <p:cNvSpPr/>
          <p:nvPr/>
        </p:nvSpPr>
        <p:spPr>
          <a:xfrm>
            <a:off x="1778000" y="2730500"/>
            <a:ext cx="3937000" cy="1397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6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模型原理：多源数据融合预测</a:t>
            </a:r>
            <a:endParaRPr lang="en-US" sz="1100"/>
          </a:p>
          <a:p>
            <a:pPr indent="0" algn="l">
              <a:lnSpc>
                <a:spcPct val="117000"/>
              </a:lnSpc>
            </a:pPr>
            <a:r>
              <a:rPr lang="en-US" sz="12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整合前期坐果率调查、中期果径测量及历年产量数据，结合历史模型算法，实现对分地块、分等级苹果产量的精准量化预测。</a:t>
            </a:r>
            <a:endParaRPr lang="en-US" sz="1200" b="0" i="0" u="none" strike="noStrike">
              <a:solidFill>
                <a:srgbClr val="55555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pic>
        <p:nvPicPr>
          <p:cNvPr id="7" name="Picture 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16000" y="4445000"/>
            <a:ext cx="508000" cy="508000"/>
          </a:xfrm>
          <a:prstGeom prst="rect">
            <a:avLst/>
          </a:prstGeom>
        </p:spPr>
      </p:pic>
      <p:sp>
        <p:nvSpPr>
          <p:cNvPr id="8" name="AutoShape 8"/>
          <p:cNvSpPr/>
          <p:nvPr/>
        </p:nvSpPr>
        <p:spPr>
          <a:xfrm>
            <a:off x="1778000" y="4381500"/>
            <a:ext cx="3937000" cy="1397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6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应用价值：赋能销售计划制定</a:t>
            </a:r>
            <a:endParaRPr lang="en-US" sz="1100"/>
          </a:p>
          <a:p>
            <a:pPr indent="0" algn="l">
              <a:lnSpc>
                <a:spcPct val="117000"/>
              </a:lnSpc>
            </a:pPr>
            <a:r>
              <a:rPr lang="en-US" sz="12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以可视化的仪表盘与对比图表展示预估结果，误差率严格控制在</a:t>
            </a:r>
            <a:r>
              <a:rPr lang="en-US" sz="1200" b="1" i="0" u="none" strike="noStrike">
                <a:solidFill>
                  <a:srgbClr val="D32F2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±8%</a:t>
            </a:r>
            <a:r>
              <a:rPr lang="en-US" sz="12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的置信区间内，帮助销售团队提前锁定客户，科学制定分级销售与定价策略。</a:t>
            </a:r>
            <a:endParaRPr lang="en-US" sz="1200" b="0" i="0" u="none" strike="noStrike">
              <a:solidFill>
                <a:srgbClr val="55555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9" name="AutoShape 9"/>
          <p:cNvSpPr/>
          <p:nvPr/>
        </p:nvSpPr>
        <p:spPr>
          <a:xfrm>
            <a:off x="6223000" y="1651000"/>
            <a:ext cx="5207000" cy="4572000"/>
          </a:xfrm>
          <a:prstGeom prst="roundRect">
            <a:avLst>
              <a:gd name="adj" fmla="val 333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0" name="AutoShape 10"/>
          <p:cNvSpPr/>
          <p:nvPr/>
        </p:nvSpPr>
        <p:spPr>
          <a:xfrm>
            <a:off x="6477000" y="1905000"/>
            <a:ext cx="4699000" cy="508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2196F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市场价格模型：预测走势，实现增值</a:t>
            </a:r>
            <a:endParaRPr lang="en-US" sz="1100"/>
          </a:p>
        </p:txBody>
      </p:sp>
      <p:pic>
        <p:nvPicPr>
          <p:cNvPr id="11" name="Picture 11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477000" y="2794000"/>
            <a:ext cx="508000" cy="508000"/>
          </a:xfrm>
          <a:prstGeom prst="rect">
            <a:avLst/>
          </a:prstGeom>
        </p:spPr>
      </p:pic>
      <p:sp>
        <p:nvSpPr>
          <p:cNvPr id="12" name="AutoShape 12"/>
          <p:cNvSpPr/>
          <p:nvPr/>
        </p:nvSpPr>
        <p:spPr>
          <a:xfrm>
            <a:off x="7239000" y="2730500"/>
            <a:ext cx="3937000" cy="1397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6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模型原理：机器学习动态推演</a:t>
            </a:r>
            <a:endParaRPr lang="en-US" sz="1100"/>
          </a:p>
          <a:p>
            <a:pPr indent="0" algn="l">
              <a:lnSpc>
                <a:spcPct val="117000"/>
              </a:lnSpc>
            </a:pPr>
            <a:r>
              <a:rPr lang="en-US" sz="12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基于海量历史价格数据，融合实时市场供需、库存水平及宏观经济等多维因子，利用机器学习算法构建模型，动态推演未来市场价格变化趋势。</a:t>
            </a:r>
            <a:endParaRPr lang="en-US" sz="1200" b="0" i="0" u="none" strike="noStrike">
              <a:solidFill>
                <a:srgbClr val="55555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pic>
        <p:nvPicPr>
          <p:cNvPr id="13" name="Picture 13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477000" y="4445000"/>
            <a:ext cx="508000" cy="508000"/>
          </a:xfrm>
          <a:prstGeom prst="rect">
            <a:avLst/>
          </a:prstGeom>
        </p:spPr>
      </p:pic>
      <p:sp>
        <p:nvSpPr>
          <p:cNvPr id="14" name="AutoShape 14"/>
          <p:cNvSpPr/>
          <p:nvPr/>
        </p:nvSpPr>
        <p:spPr>
          <a:xfrm>
            <a:off x="7239000" y="4381500"/>
            <a:ext cx="3937000" cy="1397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6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应用价值：精准锁定最佳卖点</a:t>
            </a:r>
            <a:endParaRPr lang="en-US" sz="1100"/>
          </a:p>
          <a:p>
            <a:pPr indent="0" algn="l">
              <a:lnSpc>
                <a:spcPct val="117000"/>
              </a:lnSpc>
            </a:pPr>
            <a:r>
              <a:rPr lang="en-US" sz="12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输出未来6个月的价格预测曲线并与历史同期对比，系统自动计算并推荐</a:t>
            </a:r>
            <a:r>
              <a:rPr lang="en-US" sz="1200" b="1" i="0" u="none" strike="noStrike">
                <a:solidFill>
                  <a:srgbClr val="FF980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最佳销售时机</a:t>
            </a:r>
            <a:r>
              <a:rPr lang="en-US" sz="12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，避免盲目跟风，最大化每一批次苹果的销售利润。</a:t>
            </a:r>
            <a:endParaRPr lang="en-US" sz="1200" b="0" i="0" u="none" strike="noStrike">
              <a:solidFill>
                <a:srgbClr val="55555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668000" cy="571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数据验证：模型驱动的显著改善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651000"/>
            <a:ext cx="3302000" cy="1587500"/>
          </a:xfrm>
          <a:prstGeom prst="roundRect">
            <a:avLst>
              <a:gd name="adj" fmla="val 64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52500" y="1841500"/>
            <a:ext cx="254000" cy="254000"/>
          </a:xfrm>
          <a:prstGeom prst="rect">
            <a:avLst/>
          </a:prstGeom>
        </p:spPr>
      </p:pic>
      <p:sp>
        <p:nvSpPr>
          <p:cNvPr id="5" name="AutoShape 5"/>
          <p:cNvSpPr/>
          <p:nvPr/>
        </p:nvSpPr>
        <p:spPr>
          <a:xfrm>
            <a:off x="1333500" y="1803400"/>
            <a:ext cx="2540000" cy="3302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农事建议准确率</a:t>
            </a:r>
            <a:endParaRPr lang="en-US" sz="1100"/>
          </a:p>
        </p:txBody>
      </p:sp>
      <p:sp>
        <p:nvSpPr>
          <p:cNvPr id="6" name="AutoShape 6"/>
          <p:cNvSpPr/>
          <p:nvPr/>
        </p:nvSpPr>
        <p:spPr>
          <a:xfrm>
            <a:off x="952500" y="2286000"/>
            <a:ext cx="29210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模型提供建议被一线验证为有效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952500" y="2794000"/>
            <a:ext cx="2921000" cy="317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高达 70%+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4445000" y="1651000"/>
            <a:ext cx="3302000" cy="1587500"/>
          </a:xfrm>
          <a:prstGeom prst="roundRect">
            <a:avLst>
              <a:gd name="adj" fmla="val 64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635500" y="1841500"/>
            <a:ext cx="254000" cy="254000"/>
          </a:xfrm>
          <a:prstGeom prst="rect">
            <a:avLst/>
          </a:prstGeom>
        </p:spPr>
      </p:pic>
      <p:sp>
        <p:nvSpPr>
          <p:cNvPr id="10" name="AutoShape 10"/>
          <p:cNvSpPr/>
          <p:nvPr/>
        </p:nvSpPr>
        <p:spPr>
          <a:xfrm>
            <a:off x="5016500" y="1803400"/>
            <a:ext cx="2540000" cy="3302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风险预警提前时间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4635500" y="2286000"/>
            <a:ext cx="29210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为灾害应对争取宝贵缓冲时间</a:t>
            </a:r>
            <a:endParaRPr lang="en-US" sz="1100"/>
          </a:p>
        </p:txBody>
      </p:sp>
      <p:sp>
        <p:nvSpPr>
          <p:cNvPr id="12" name="AutoShape 12"/>
          <p:cNvSpPr/>
          <p:nvPr/>
        </p:nvSpPr>
        <p:spPr>
          <a:xfrm>
            <a:off x="4635500" y="2794000"/>
            <a:ext cx="2921000" cy="317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平均提前 24小时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>
            <a:off x="8128000" y="1651000"/>
            <a:ext cx="3302000" cy="1587500"/>
          </a:xfrm>
          <a:prstGeom prst="roundRect">
            <a:avLst>
              <a:gd name="adj" fmla="val 64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4" name="Picture 14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318500" y="1841500"/>
            <a:ext cx="254000" cy="254000"/>
          </a:xfrm>
          <a:prstGeom prst="rect">
            <a:avLst/>
          </a:prstGeom>
        </p:spPr>
      </p:pic>
      <p:sp>
        <p:nvSpPr>
          <p:cNvPr id="15" name="AutoShape 15"/>
          <p:cNvSpPr/>
          <p:nvPr/>
        </p:nvSpPr>
        <p:spPr>
          <a:xfrm>
            <a:off x="8699500" y="1803400"/>
            <a:ext cx="2540000" cy="3302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产量预估误差</a:t>
            </a:r>
            <a:endParaRPr lang="en-US" sz="1100"/>
          </a:p>
        </p:txBody>
      </p:sp>
      <p:sp>
        <p:nvSpPr>
          <p:cNvPr id="16" name="AutoShape 16"/>
          <p:cNvSpPr/>
          <p:nvPr/>
        </p:nvSpPr>
        <p:spPr>
          <a:xfrm>
            <a:off x="8318500" y="2286000"/>
            <a:ext cx="29210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预测精度达到行业领先水平</a:t>
            </a:r>
            <a:endParaRPr lang="en-US" sz="1100"/>
          </a:p>
        </p:txBody>
      </p:sp>
      <p:sp>
        <p:nvSpPr>
          <p:cNvPr id="17" name="AutoShape 17"/>
          <p:cNvSpPr/>
          <p:nvPr/>
        </p:nvSpPr>
        <p:spPr>
          <a:xfrm>
            <a:off x="8318500" y="2794000"/>
            <a:ext cx="2921000" cy="317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控制在 ±8%</a:t>
            </a:r>
            <a:endParaRPr lang="en-US" sz="1100"/>
          </a:p>
        </p:txBody>
      </p:sp>
      <p:sp>
        <p:nvSpPr>
          <p:cNvPr id="18" name="AutoShape 18"/>
          <p:cNvSpPr/>
          <p:nvPr/>
        </p:nvSpPr>
        <p:spPr>
          <a:xfrm>
            <a:off x="762000" y="3556000"/>
            <a:ext cx="3302000" cy="1587500"/>
          </a:xfrm>
          <a:prstGeom prst="roundRect">
            <a:avLst>
              <a:gd name="adj" fmla="val 64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9" name="Picture 19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52500" y="3746500"/>
            <a:ext cx="254000" cy="254000"/>
          </a:xfrm>
          <a:prstGeom prst="rect">
            <a:avLst/>
          </a:prstGeom>
        </p:spPr>
      </p:pic>
      <p:sp>
        <p:nvSpPr>
          <p:cNvPr id="20" name="AutoShape 20"/>
          <p:cNvSpPr/>
          <p:nvPr/>
        </p:nvSpPr>
        <p:spPr>
          <a:xfrm>
            <a:off x="1333500" y="3708400"/>
            <a:ext cx="2540000" cy="3302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化肥农药使用减量</a:t>
            </a:r>
            <a:endParaRPr lang="en-US" sz="1100"/>
          </a:p>
        </p:txBody>
      </p:sp>
      <p:sp>
        <p:nvSpPr>
          <p:cNvPr id="21" name="AutoShape 21"/>
          <p:cNvSpPr/>
          <p:nvPr/>
        </p:nvSpPr>
        <p:spPr>
          <a:xfrm>
            <a:off x="952500" y="4191000"/>
            <a:ext cx="29210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精准施肥用药，减少农资浪费</a:t>
            </a:r>
            <a:endParaRPr lang="en-US" sz="1100"/>
          </a:p>
        </p:txBody>
      </p:sp>
      <p:sp>
        <p:nvSpPr>
          <p:cNvPr id="22" name="AutoShape 22"/>
          <p:cNvSpPr/>
          <p:nvPr/>
        </p:nvSpPr>
        <p:spPr>
          <a:xfrm>
            <a:off x="952500" y="4699000"/>
            <a:ext cx="2921000" cy="317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减少 15%+</a:t>
            </a:r>
            <a:endParaRPr lang="en-US" sz="1100"/>
          </a:p>
        </p:txBody>
      </p:sp>
      <p:sp>
        <p:nvSpPr>
          <p:cNvPr id="23" name="AutoShape 23"/>
          <p:cNvSpPr/>
          <p:nvPr/>
        </p:nvSpPr>
        <p:spPr>
          <a:xfrm>
            <a:off x="4445000" y="3556000"/>
            <a:ext cx="3302000" cy="1587500"/>
          </a:xfrm>
          <a:prstGeom prst="roundRect">
            <a:avLst>
              <a:gd name="adj" fmla="val 64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4" name="Picture 24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635500" y="3746500"/>
            <a:ext cx="254000" cy="254000"/>
          </a:xfrm>
          <a:prstGeom prst="rect">
            <a:avLst/>
          </a:prstGeom>
        </p:spPr>
      </p:pic>
      <p:sp>
        <p:nvSpPr>
          <p:cNvPr id="25" name="AutoShape 25"/>
          <p:cNvSpPr/>
          <p:nvPr/>
        </p:nvSpPr>
        <p:spPr>
          <a:xfrm>
            <a:off x="5016500" y="3708400"/>
            <a:ext cx="2540000" cy="3302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特级果率提升</a:t>
            </a:r>
            <a:endParaRPr lang="en-US" sz="1100"/>
          </a:p>
        </p:txBody>
      </p:sp>
      <p:sp>
        <p:nvSpPr>
          <p:cNvPr id="26" name="AutoShape 26"/>
          <p:cNvSpPr/>
          <p:nvPr/>
        </p:nvSpPr>
        <p:spPr>
          <a:xfrm>
            <a:off x="4635500" y="4191000"/>
            <a:ext cx="29210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全流程精细化管理，品质跃升</a:t>
            </a:r>
            <a:endParaRPr lang="en-US" sz="1100"/>
          </a:p>
        </p:txBody>
      </p:sp>
      <p:sp>
        <p:nvSpPr>
          <p:cNvPr id="27" name="AutoShape 27"/>
          <p:cNvSpPr/>
          <p:nvPr/>
        </p:nvSpPr>
        <p:spPr>
          <a:xfrm>
            <a:off x="4635500" y="4699000"/>
            <a:ext cx="2921000" cy="317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提升 8%+</a:t>
            </a:r>
            <a:endParaRPr lang="en-US" sz="1100"/>
          </a:p>
        </p:txBody>
      </p:sp>
      <p:sp>
        <p:nvSpPr>
          <p:cNvPr id="28" name="AutoShape 28"/>
          <p:cNvSpPr/>
          <p:nvPr/>
        </p:nvSpPr>
        <p:spPr>
          <a:xfrm>
            <a:off x="8128000" y="3556000"/>
            <a:ext cx="3302000" cy="1587500"/>
          </a:xfrm>
          <a:prstGeom prst="roundRect">
            <a:avLst>
              <a:gd name="adj" fmla="val 64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9" name="Picture 29"/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8318500" y="3746500"/>
            <a:ext cx="254000" cy="254000"/>
          </a:xfrm>
          <a:prstGeom prst="rect">
            <a:avLst/>
          </a:prstGeom>
        </p:spPr>
      </p:pic>
      <p:sp>
        <p:nvSpPr>
          <p:cNvPr id="30" name="AutoShape 30"/>
          <p:cNvSpPr/>
          <p:nvPr/>
        </p:nvSpPr>
        <p:spPr>
          <a:xfrm>
            <a:off x="8699500" y="3708400"/>
            <a:ext cx="2540000" cy="3302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案例：陕西洛川某大型基地</a:t>
            </a:r>
            <a:endParaRPr lang="en-US" sz="1100"/>
          </a:p>
        </p:txBody>
      </p:sp>
      <p:sp>
        <p:nvSpPr>
          <p:cNvPr id="31" name="AutoShape 31"/>
          <p:cNvSpPr/>
          <p:nvPr/>
        </p:nvSpPr>
        <p:spPr>
          <a:xfrm>
            <a:off x="8318500" y="4191000"/>
            <a:ext cx="29210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精准预警与防治病虫害</a:t>
            </a:r>
            <a:endParaRPr lang="en-US" sz="1100"/>
          </a:p>
        </p:txBody>
      </p:sp>
      <p:sp>
        <p:nvSpPr>
          <p:cNvPr id="32" name="AutoShape 32"/>
          <p:cNvSpPr/>
          <p:nvPr/>
        </p:nvSpPr>
        <p:spPr>
          <a:xfrm>
            <a:off x="8318500" y="4699000"/>
            <a:ext cx="2921000" cy="317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病虫害损失降低 20%</a:t>
            </a:r>
            <a:endParaRPr lang="en-US" sz="1100"/>
          </a:p>
        </p:txBody>
      </p:sp>
      <p:sp>
        <p:nvSpPr>
          <p:cNvPr id="33" name="AutoShape 33"/>
          <p:cNvSpPr/>
          <p:nvPr/>
        </p:nvSpPr>
        <p:spPr>
          <a:xfrm>
            <a:off x="762000" y="5207000"/>
            <a:ext cx="3302000" cy="1397000"/>
          </a:xfrm>
          <a:prstGeom prst="roundRect">
            <a:avLst>
              <a:gd name="adj" fmla="val 7272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4" name="Picture 34"/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952500" y="5359400"/>
            <a:ext cx="228600" cy="228600"/>
          </a:xfrm>
          <a:prstGeom prst="rect">
            <a:avLst/>
          </a:prstGeom>
        </p:spPr>
      </p:pic>
      <p:sp>
        <p:nvSpPr>
          <p:cNvPr id="35" name="AutoShape 35"/>
          <p:cNvSpPr/>
          <p:nvPr/>
        </p:nvSpPr>
        <p:spPr>
          <a:xfrm>
            <a:off x="1270000" y="5334000"/>
            <a:ext cx="2667000" cy="2794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案例：山东烟台某合作社</a:t>
            </a:r>
            <a:endParaRPr lang="en-US" sz="1100"/>
          </a:p>
        </p:txBody>
      </p:sp>
      <p:sp>
        <p:nvSpPr>
          <p:cNvPr id="36" name="AutoShape 36"/>
          <p:cNvSpPr/>
          <p:nvPr/>
        </p:nvSpPr>
        <p:spPr>
          <a:xfrm>
            <a:off x="952500" y="5715000"/>
            <a:ext cx="2921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气象模型预警霜冻风险并采取措施</a:t>
            </a:r>
            <a:endParaRPr lang="en-US" sz="1100"/>
          </a:p>
          <a:p>
            <a:pPr indent="0" algn="ctr">
              <a:lnSpc>
                <a:spcPct val="125000"/>
              </a:lnSpc>
            </a:pPr>
            <a:r>
              <a:rPr lang="en-US" sz="14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霜冻损失降低 30%</a:t>
            </a:r>
            <a:endParaRPr lang="en-US" sz="1400" b="1" i="0" u="none" strike="noStrike">
              <a:solidFill>
                <a:srgbClr val="4CAF5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37" name="AutoShape 37"/>
          <p:cNvSpPr/>
          <p:nvPr/>
        </p:nvSpPr>
        <p:spPr>
          <a:xfrm>
            <a:off x="4445000" y="5207000"/>
            <a:ext cx="3302000" cy="1397000"/>
          </a:xfrm>
          <a:prstGeom prst="roundRect">
            <a:avLst>
              <a:gd name="adj" fmla="val 7272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8" name="Picture 38"/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4635500" y="5359400"/>
            <a:ext cx="228600" cy="228600"/>
          </a:xfrm>
          <a:prstGeom prst="rect">
            <a:avLst/>
          </a:prstGeom>
        </p:spPr>
      </p:pic>
      <p:sp>
        <p:nvSpPr>
          <p:cNvPr id="39" name="AutoShape 39"/>
          <p:cNvSpPr/>
          <p:nvPr/>
        </p:nvSpPr>
        <p:spPr>
          <a:xfrm>
            <a:off x="4953000" y="5334000"/>
            <a:ext cx="2667000" cy="2794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综合成效</a:t>
            </a:r>
            <a:endParaRPr lang="en-US" sz="1100"/>
          </a:p>
        </p:txBody>
      </p:sp>
      <p:sp>
        <p:nvSpPr>
          <p:cNvPr id="40" name="AutoShape 40"/>
          <p:cNvSpPr/>
          <p:nvPr/>
        </p:nvSpPr>
        <p:spPr>
          <a:xfrm>
            <a:off x="4635500" y="5715000"/>
            <a:ext cx="2921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降本增效与品质提升并行</a:t>
            </a:r>
            <a:endParaRPr lang="en-US" sz="1100"/>
          </a:p>
          <a:p>
            <a:pPr indent="0" algn="ctr">
              <a:lnSpc>
                <a:spcPct val="125000"/>
              </a:lnSpc>
            </a:pPr>
            <a:r>
              <a:rPr lang="en-US" sz="14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全面提升果园综合收益</a:t>
            </a:r>
            <a:endParaRPr lang="en-US" sz="1400" b="1" i="0" u="none" strike="noStrike">
              <a:solidFill>
                <a:srgbClr val="4CAF5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41" name="AutoShape 41"/>
          <p:cNvSpPr/>
          <p:nvPr/>
        </p:nvSpPr>
        <p:spPr>
          <a:xfrm>
            <a:off x="8128000" y="5207000"/>
            <a:ext cx="3302000" cy="1397000"/>
          </a:xfrm>
          <a:prstGeom prst="roundRect">
            <a:avLst>
              <a:gd name="adj" fmla="val 7272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42" name="Picture 42"/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8318500" y="5359400"/>
            <a:ext cx="228600" cy="228600"/>
          </a:xfrm>
          <a:prstGeom prst="rect">
            <a:avLst/>
          </a:prstGeom>
        </p:spPr>
      </p:pic>
      <p:sp>
        <p:nvSpPr>
          <p:cNvPr id="43" name="AutoShape 43"/>
          <p:cNvSpPr/>
          <p:nvPr/>
        </p:nvSpPr>
        <p:spPr>
          <a:xfrm>
            <a:off x="8636000" y="5334000"/>
            <a:ext cx="2667000" cy="2794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客户价值</a:t>
            </a:r>
            <a:endParaRPr lang="en-US" sz="1100"/>
          </a:p>
        </p:txBody>
      </p:sp>
      <p:sp>
        <p:nvSpPr>
          <p:cNvPr id="44" name="AutoShape 44"/>
          <p:cNvSpPr/>
          <p:nvPr/>
        </p:nvSpPr>
        <p:spPr>
          <a:xfrm>
            <a:off x="8318500" y="5715000"/>
            <a:ext cx="2921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从经验管理向数据化精准管理转型</a:t>
            </a:r>
            <a:endParaRPr lang="en-US" sz="1100"/>
          </a:p>
          <a:p>
            <a:pPr indent="0" algn="ctr">
              <a:lnSpc>
                <a:spcPct val="125000"/>
              </a:lnSpc>
            </a:pPr>
            <a:r>
              <a:rPr lang="en-US" sz="14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实现可持续发展目标</a:t>
            </a:r>
            <a:endParaRPr lang="en-US" sz="1400" b="1" i="0" u="none" strike="noStrike">
              <a:solidFill>
                <a:srgbClr val="4CAF5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508000"/>
            <a:ext cx="10668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8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区块链溯源 &amp; VR全景：科技赋能品牌，让每颗苹果都有“数字身份证”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778000"/>
            <a:ext cx="5207000" cy="4318000"/>
          </a:xfrm>
          <a:prstGeom prst="roundRect">
            <a:avLst>
              <a:gd name="adj" fmla="val 3529"/>
            </a:avLst>
          </a:prstGeom>
          <a:solidFill>
            <a:srgbClr val="F5F5F5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" name="AutoShape 4"/>
          <p:cNvSpPr/>
          <p:nvPr/>
        </p:nvSpPr>
        <p:spPr>
          <a:xfrm>
            <a:off x="1016000" y="2032000"/>
            <a:ext cx="46990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三大核心价值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1016000" y="2794000"/>
            <a:ext cx="4699000" cy="1016000"/>
          </a:xfrm>
          <a:prstGeom prst="roundRect">
            <a:avLst>
              <a:gd name="adj" fmla="val 10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1270000" y="3048000"/>
            <a:ext cx="508000" cy="508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7" name="AutoShape 7"/>
          <p:cNvSpPr/>
          <p:nvPr/>
        </p:nvSpPr>
        <p:spPr>
          <a:xfrm>
            <a:off x="2032000" y="2921000"/>
            <a:ext cx="3429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🛒 品牌溢价 · 提升购买意愿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300" b="0" i="0" u="none" strike="noStrike">
                <a:solidFill>
                  <a:srgbClr val="61616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建立透明信任关系，让消费者愿意为可追溯、高品质的农产品支付更高的价格。</a:t>
            </a:r>
            <a:endParaRPr lang="en-US" sz="1300" b="0" i="0" u="none" strike="noStrike">
              <a:solidFill>
                <a:srgbClr val="616161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8" name="AutoShape 8"/>
          <p:cNvSpPr/>
          <p:nvPr/>
        </p:nvSpPr>
        <p:spPr>
          <a:xfrm>
            <a:off x="1016000" y="3937000"/>
            <a:ext cx="4699000" cy="1016000"/>
          </a:xfrm>
          <a:prstGeom prst="roundRect">
            <a:avLst>
              <a:gd name="adj" fmla="val 10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1270000" y="4191000"/>
            <a:ext cx="508000" cy="508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0" name="AutoShape 10"/>
          <p:cNvSpPr/>
          <p:nvPr/>
        </p:nvSpPr>
        <p:spPr>
          <a:xfrm>
            <a:off x="2032000" y="4064000"/>
            <a:ext cx="3429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✅ 政策合规 · 紧跟监管步伐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300" b="0" i="0" u="none" strike="noStrike">
                <a:solidFill>
                  <a:srgbClr val="61616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完善的溯源体系，轻松满足国家对农产品质量安全与全程追溯的要求。</a:t>
            </a:r>
            <a:endParaRPr lang="en-US" sz="1300" b="0" i="0" u="none" strike="noStrike">
              <a:solidFill>
                <a:srgbClr val="616161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1" name="AutoShape 11"/>
          <p:cNvSpPr/>
          <p:nvPr/>
        </p:nvSpPr>
        <p:spPr>
          <a:xfrm>
            <a:off x="1016000" y="5080000"/>
            <a:ext cx="4699000" cy="1016000"/>
          </a:xfrm>
          <a:prstGeom prst="roundRect">
            <a:avLst>
              <a:gd name="adj" fmla="val 10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1270000" y="5334000"/>
            <a:ext cx="508000" cy="508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3" name="AutoShape 13"/>
          <p:cNvSpPr/>
          <p:nvPr/>
        </p:nvSpPr>
        <p:spPr>
          <a:xfrm>
            <a:off x="2032000" y="5207000"/>
            <a:ext cx="3429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📣 营销素材 · 丰富品牌内涵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300" b="0" i="0" u="none" strike="noStrike">
                <a:solidFill>
                  <a:srgbClr val="61616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将真实的种植过程转化为可视化的营销素材，打造透明化、有温度的品牌形象。</a:t>
            </a:r>
            <a:endParaRPr lang="en-US" sz="1300" b="0" i="0" u="none" strike="noStrike">
              <a:solidFill>
                <a:srgbClr val="616161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4" name="AutoShape 14"/>
          <p:cNvSpPr/>
          <p:nvPr/>
        </p:nvSpPr>
        <p:spPr>
          <a:xfrm>
            <a:off x="6223000" y="1778000"/>
            <a:ext cx="5207000" cy="4318000"/>
          </a:xfrm>
          <a:prstGeom prst="roundRect">
            <a:avLst>
              <a:gd name="adj" fmla="val 3529"/>
            </a:avLst>
          </a:prstGeom>
          <a:solidFill>
            <a:srgbClr val="E8F5E9">
              <a:alpha val="100000"/>
            </a:srgbClr>
          </a:solidFill>
          <a:ln w="12700" cap="flat" cmpd="sng">
            <a:solidFill>
              <a:srgbClr val="4CAF50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5" name="AutoShape 15"/>
          <p:cNvSpPr/>
          <p:nvPr/>
        </p:nvSpPr>
        <p:spPr>
          <a:xfrm>
            <a:off x="6223000" y="1778000"/>
            <a:ext cx="5207000" cy="762000"/>
          </a:xfrm>
          <a:prstGeom prst="roundRect">
            <a:avLst>
              <a:gd name="adj" fmla="val 20000"/>
            </a:avLst>
          </a:prstGeom>
          <a:solidFill>
            <a:srgbClr val="4CAF5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6" name="AutoShape 16"/>
          <p:cNvSpPr/>
          <p:nvPr/>
        </p:nvSpPr>
        <p:spPr>
          <a:xfrm>
            <a:off x="6223000" y="1905000"/>
            <a:ext cx="5207000" cy="508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📱 消费者扫码 · 产品数字履历</a:t>
            </a:r>
            <a:endParaRPr lang="en-US" sz="1100"/>
          </a:p>
        </p:txBody>
      </p:sp>
      <p:sp>
        <p:nvSpPr>
          <p:cNvPr id="17" name="AutoShape 17"/>
          <p:cNvSpPr/>
          <p:nvPr/>
        </p:nvSpPr>
        <p:spPr>
          <a:xfrm>
            <a:off x="6477000" y="2794000"/>
            <a:ext cx="2349500" cy="1651000"/>
          </a:xfrm>
          <a:prstGeom prst="roundRect">
            <a:avLst>
              <a:gd name="adj" fmla="val 615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8" name="Picture 18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6667500" y="2984500"/>
            <a:ext cx="304800" cy="3048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9" name="AutoShape 19"/>
          <p:cNvSpPr/>
          <p:nvPr/>
        </p:nvSpPr>
        <p:spPr>
          <a:xfrm>
            <a:off x="7112000" y="2984500"/>
            <a:ext cx="1524000" cy="317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产品档案</a:t>
            </a:r>
            <a:endParaRPr lang="en-US" sz="1100"/>
          </a:p>
        </p:txBody>
      </p:sp>
      <p:sp>
        <p:nvSpPr>
          <p:cNvPr id="20" name="AutoShape 20"/>
          <p:cNvSpPr/>
          <p:nvPr/>
        </p:nvSpPr>
        <p:spPr>
          <a:xfrm>
            <a:off x="6667500" y="3556000"/>
            <a:ext cx="2032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1200" b="0" i="0" u="none" strike="noStrike">
                <a:solidFill>
                  <a:srgbClr val="61616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品种：优选红富士</a:t>
            </a:r>
            <a:endParaRPr lang="en-US" sz="1100"/>
          </a:p>
          <a:p>
            <a:pPr indent="0" algn="l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61616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产地：生态果园核心产区</a:t>
            </a:r>
            <a:endParaRPr lang="en-US" sz="1200" b="0" i="0" u="none" strike="noStrike">
              <a:solidFill>
                <a:srgbClr val="616161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indent="0" algn="l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61616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采收：当日鲜采，产地直发</a:t>
            </a:r>
            <a:endParaRPr lang="en-US" sz="1200" b="0" i="0" u="none" strike="noStrike">
              <a:solidFill>
                <a:srgbClr val="616161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1" name="AutoShape 21"/>
          <p:cNvSpPr/>
          <p:nvPr/>
        </p:nvSpPr>
        <p:spPr>
          <a:xfrm>
            <a:off x="8953500" y="2794000"/>
            <a:ext cx="2349500" cy="1651000"/>
          </a:xfrm>
          <a:prstGeom prst="roundRect">
            <a:avLst>
              <a:gd name="adj" fmla="val 615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2" name="Picture 22"/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9144000" y="2984500"/>
            <a:ext cx="304800" cy="3048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23" name="AutoShape 23"/>
          <p:cNvSpPr/>
          <p:nvPr/>
        </p:nvSpPr>
        <p:spPr>
          <a:xfrm>
            <a:off x="9588500" y="2984500"/>
            <a:ext cx="1524000" cy="317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区块链存证</a:t>
            </a:r>
            <a:endParaRPr lang="en-US" sz="1100"/>
          </a:p>
        </p:txBody>
      </p:sp>
      <p:sp>
        <p:nvSpPr>
          <p:cNvPr id="24" name="AutoShape 24"/>
          <p:cNvSpPr/>
          <p:nvPr/>
        </p:nvSpPr>
        <p:spPr>
          <a:xfrm>
            <a:off x="9144000" y="3556000"/>
            <a:ext cx="2032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61616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所有关键节点与质检数据均已上链，确保数据真实、不可篡改。</a:t>
            </a:r>
            <a:endParaRPr lang="en-US" sz="1100"/>
          </a:p>
        </p:txBody>
      </p:sp>
      <p:sp>
        <p:nvSpPr>
          <p:cNvPr id="25" name="AutoShape 25"/>
          <p:cNvSpPr/>
          <p:nvPr/>
        </p:nvSpPr>
        <p:spPr>
          <a:xfrm>
            <a:off x="6477000" y="4572000"/>
            <a:ext cx="2349500" cy="1397000"/>
          </a:xfrm>
          <a:prstGeom prst="roundRect">
            <a:avLst>
              <a:gd name="adj" fmla="val 7272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6" name="Picture 26"/>
          <p:cNvPicPr>
            <a:picLocks noChangeAspect="1"/>
          </p:cNvPicPr>
          <p:nvPr/>
        </p:nvPicPr>
        <p:blipFill>
          <a:blip r:embed="rId6"/>
          <a:srcRect/>
          <a:stretch>
            <a:fillRect/>
          </a:stretch>
        </p:blipFill>
        <p:spPr>
          <a:xfrm>
            <a:off x="6667500" y="4762500"/>
            <a:ext cx="304800" cy="3048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27" name="AutoShape 27"/>
          <p:cNvSpPr/>
          <p:nvPr/>
        </p:nvSpPr>
        <p:spPr>
          <a:xfrm>
            <a:off x="7112000" y="4762500"/>
            <a:ext cx="1524000" cy="317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全流程种植日志</a:t>
            </a:r>
            <a:endParaRPr lang="en-US" sz="1100"/>
          </a:p>
        </p:txBody>
      </p:sp>
      <p:sp>
        <p:nvSpPr>
          <p:cNvPr id="28" name="AutoShape 28"/>
          <p:cNvSpPr/>
          <p:nvPr/>
        </p:nvSpPr>
        <p:spPr>
          <a:xfrm>
            <a:off x="6667500" y="5334000"/>
            <a:ext cx="2032000" cy="571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1200" b="0" i="0" u="none" strike="noStrike">
                <a:solidFill>
                  <a:srgbClr val="61616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春季修剪 → 疏花疏果 → 套袋保护 → 成熟期采摘</a:t>
            </a:r>
            <a:endParaRPr lang="en-US" sz="1100"/>
          </a:p>
        </p:txBody>
      </p:sp>
      <p:sp>
        <p:nvSpPr>
          <p:cNvPr id="29" name="AutoShape 29"/>
          <p:cNvSpPr/>
          <p:nvPr/>
        </p:nvSpPr>
        <p:spPr>
          <a:xfrm>
            <a:off x="8953500" y="4572000"/>
            <a:ext cx="2349500" cy="1397000"/>
          </a:xfrm>
          <a:prstGeom prst="roundRect">
            <a:avLst>
              <a:gd name="adj" fmla="val 7272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0" name="Picture 30"/>
          <p:cNvPicPr>
            <a:picLocks noChangeAspect="1"/>
          </p:cNvPicPr>
          <p:nvPr/>
        </p:nvPicPr>
        <p:blipFill>
          <a:blip r:embed="rId7"/>
          <a:srcRect/>
          <a:stretch>
            <a:fillRect/>
          </a:stretch>
        </p:blipFill>
        <p:spPr>
          <a:xfrm>
            <a:off x="9144000" y="4762500"/>
            <a:ext cx="304800" cy="3048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31" name="AutoShape 31"/>
          <p:cNvSpPr/>
          <p:nvPr/>
        </p:nvSpPr>
        <p:spPr>
          <a:xfrm>
            <a:off x="9588500" y="4762500"/>
            <a:ext cx="1524000" cy="317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权威质检报告</a:t>
            </a:r>
            <a:endParaRPr lang="en-US" sz="1100"/>
          </a:p>
        </p:txBody>
      </p:sp>
      <p:sp>
        <p:nvSpPr>
          <p:cNvPr id="32" name="AutoShape 32"/>
          <p:cNvSpPr/>
          <p:nvPr/>
        </p:nvSpPr>
        <p:spPr>
          <a:xfrm>
            <a:off x="9144000" y="5334000"/>
            <a:ext cx="2032000" cy="571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1200" b="0" i="0" u="none" strike="noStrike">
                <a:solidFill>
                  <a:srgbClr val="61616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农残检测：通过300+项严苛检测</a:t>
            </a:r>
            <a:endParaRPr lang="en-US" sz="1100"/>
          </a:p>
          <a:p>
            <a:pPr indent="0" algn="l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61616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糖度等级：糖度16°+，脆甜多汁</a:t>
            </a:r>
            <a:endParaRPr lang="en-US" sz="1200" b="0" i="0" u="none" strike="noStrike">
              <a:solidFill>
                <a:srgbClr val="616161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8185" y="4124651"/>
            <a:ext cx="4539043" cy="2438604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802" y="1426426"/>
            <a:ext cx="4249864" cy="255087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88060" y="4138707"/>
            <a:ext cx="4173751" cy="2417635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26019" y="1424155"/>
            <a:ext cx="2818923" cy="2547506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7276" y="4126611"/>
            <a:ext cx="2893120" cy="2445829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93533" y="1428672"/>
            <a:ext cx="2371248" cy="2542663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82320" y="1425206"/>
            <a:ext cx="1693830" cy="2550260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20421" y="4127215"/>
            <a:ext cx="1730025" cy="1435350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95253" y="4134421"/>
            <a:ext cx="1037627" cy="1489805"/>
          </a:xfrm>
          <a:prstGeom prst="rect">
            <a:avLst/>
          </a:prstGeom>
        </p:spPr>
      </p:pic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153502" y="5102066"/>
            <a:ext cx="1207970" cy="1012983"/>
          </a:xfrm>
          <a:prstGeom prst="rect">
            <a:avLst/>
          </a:prstGeom>
        </p:spPr>
      </p:pic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497097" y="5574705"/>
            <a:ext cx="1041272" cy="99372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54247" y="443960"/>
            <a:ext cx="8411337" cy="642937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ctr">
              <a:lnSpc>
                <a:spcPct val="109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000000"/>
                </a:solidFill>
                <a:latin typeface="Noto Sans SC" panose="020B0200000000000000" charset="-122"/>
                <a:ea typeface="Noto Sans SC" panose="020B0200000000000000" charset="-122"/>
              </a:rPr>
              <a:t>区块链溯源&amp;VR全景·界面展示</a:t>
            </a:r>
            <a:endParaRPr sz="3600" b="1" i="0">
              <a:solidFill>
                <a:srgbClr val="000000"/>
              </a:solidFill>
              <a:latin typeface="Noto Sans SC" panose="020B0200000000000000" charset="-122"/>
              <a:ea typeface="Noto Sans SC" panose="020B0200000000000000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435197" y="1495615"/>
            <a:ext cx="829437" cy="192881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just">
              <a:lnSpc>
                <a:spcPct val="127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CFDFE"/>
                </a:solidFill>
                <a:latin typeface="Noto Sans SC" panose="020B0200000000000000" charset="-122"/>
                <a:ea typeface="Noto Sans SC" panose="020B0200000000000000" charset="-122"/>
              </a:rPr>
              <a:t>VR全景漫游</a:t>
            </a:r>
            <a:endParaRPr sz="1200" b="0" i="0">
              <a:solidFill>
                <a:srgbClr val="FCFDFE"/>
              </a:solidFill>
              <a:latin typeface="Noto Sans SC" panose="020B0200000000000000" charset="-122"/>
              <a:ea typeface="Noto Sans SC" panose="020B0200000000000000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10281856" y="1525428"/>
            <a:ext cx="1475612" cy="224980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just">
              <a:lnSpc>
                <a:spcPct val="131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000000"/>
                </a:solidFill>
                <a:latin typeface="Noto Sans SC" panose="020B0200000000000000" charset="-122"/>
                <a:ea typeface="Noto Sans SC" panose="020B0200000000000000" charset="-122"/>
              </a:rPr>
              <a:t>消</a:t>
            </a:r>
            <a:r>
              <a:rPr lang="zh-CN" sz="1350" b="0" i="0">
                <a:solidFill>
                  <a:srgbClr val="000000"/>
                </a:solidFill>
                <a:latin typeface="Noto Sans SC" panose="020B0200000000000000" charset="-122"/>
                <a:ea typeface="Noto Sans SC" panose="020B0200000000000000" charset="-122"/>
              </a:rPr>
              <a:t>费</a:t>
            </a:r>
            <a:r>
              <a:rPr sz="1350" b="0" i="0">
                <a:solidFill>
                  <a:srgbClr val="000000"/>
                </a:solidFill>
                <a:latin typeface="Noto Sans SC" panose="020B0200000000000000" charset="-122"/>
                <a:ea typeface="Noto Sans SC" panose="020B0200000000000000" charset="-122"/>
              </a:rPr>
              <a:t>者扫码源页面</a:t>
            </a:r>
            <a:endParaRPr sz="1350" b="0" i="0">
              <a:solidFill>
                <a:srgbClr val="000000"/>
              </a:solidFill>
              <a:latin typeface="Noto Sans SC" panose="020B0200000000000000" charset="-122"/>
              <a:ea typeface="Noto Sans SC" panose="020B0200000000000000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3159347" y="4218908"/>
            <a:ext cx="1858137" cy="257175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just">
              <a:lnSpc>
                <a:spcPct val="129000"/>
              </a:lnSpc>
              <a:spcBef>
                <a:spcPts val="0"/>
              </a:spcBef>
              <a:spcAft>
                <a:spcPts val="0"/>
              </a:spcAft>
            </a:pPr>
            <a:r>
              <a:rPr sz="1575" b="0" i="0">
                <a:solidFill>
                  <a:srgbClr val="000000"/>
                </a:solidFill>
                <a:latin typeface="Noto Sans SC" panose="020B0200000000000000" charset="-122"/>
                <a:ea typeface="Noto Sans SC" panose="020B0200000000000000" charset="-122"/>
              </a:rPr>
              <a:t>消费者扫码溯源页面</a:t>
            </a:r>
            <a:endParaRPr sz="1575" b="0" i="0">
              <a:solidFill>
                <a:srgbClr val="000000"/>
              </a:solidFill>
              <a:latin typeface="Noto Sans SC" panose="020B0200000000000000" charset="-122"/>
              <a:ea typeface="Noto Sans SC" panose="020B0200000000000000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7790021" y="4218908"/>
            <a:ext cx="1975294" cy="257175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just">
              <a:lnSpc>
                <a:spcPct val="117000"/>
              </a:lnSpc>
              <a:spcBef>
                <a:spcPts val="0"/>
              </a:spcBef>
              <a:spcAft>
                <a:spcPts val="0"/>
              </a:spcAft>
            </a:pPr>
            <a:r>
              <a:rPr sz="1725" b="0" i="0">
                <a:solidFill>
                  <a:srgbClr val="000000"/>
                </a:solidFill>
                <a:latin typeface="Noto Sans SC" panose="020B0200000000000000" charset="-122"/>
                <a:ea typeface="Noto Sans SC" panose="020B0200000000000000" charset="-122"/>
              </a:rPr>
              <a:t>产品数字履历展示面</a:t>
            </a:r>
            <a:endParaRPr sz="1725" b="0" i="0">
              <a:solidFill>
                <a:srgbClr val="000000"/>
              </a:solidFill>
              <a:latin typeface="Noto Sans SC" panose="020B0200000000000000" charset="-122"/>
              <a:ea typeface="Noto Sans SC" panose="020B0200000000000000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433768" y="4249483"/>
            <a:ext cx="1447800" cy="257175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just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75" b="0" i="0">
                <a:solidFill>
                  <a:srgbClr val="000000"/>
                </a:solidFill>
                <a:latin typeface="Noto Sans SC" panose="020B0200000000000000" charset="-122"/>
                <a:ea typeface="Noto Sans SC" panose="020B0200000000000000" charset="-122"/>
              </a:rPr>
              <a:t>溯源管理后台</a:t>
            </a:r>
            <a:endParaRPr sz="1875" b="0" i="0">
              <a:solidFill>
                <a:srgbClr val="000000"/>
              </a:solidFill>
              <a:latin typeface="Noto Sans SC" panose="020B0200000000000000" charset="-122"/>
              <a:ea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668000" cy="635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无人机巡园：高空AI巡检，效率提升80%+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635000" y="1651000"/>
            <a:ext cx="2540000" cy="1778000"/>
          </a:xfrm>
          <a:prstGeom prst="roundRect">
            <a:avLst>
              <a:gd name="adj" fmla="val 5714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5500" y="1841500"/>
            <a:ext cx="355600" cy="355600"/>
          </a:xfrm>
          <a:prstGeom prst="rect">
            <a:avLst/>
          </a:prstGeom>
        </p:spPr>
      </p:pic>
      <p:sp>
        <p:nvSpPr>
          <p:cNvPr id="5" name="AutoShape 5"/>
          <p:cNvSpPr/>
          <p:nvPr/>
        </p:nvSpPr>
        <p:spPr>
          <a:xfrm>
            <a:off x="1270000" y="1803400"/>
            <a:ext cx="17780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PC规划路径</a:t>
            </a:r>
            <a:endParaRPr lang="en-US" sz="1100"/>
          </a:p>
        </p:txBody>
      </p:sp>
      <p:sp>
        <p:nvSpPr>
          <p:cNvPr id="6" name="AutoShape 6"/>
          <p:cNvSpPr/>
          <p:nvPr/>
        </p:nvSpPr>
        <p:spPr>
          <a:xfrm>
            <a:off x="825500" y="2413000"/>
            <a:ext cx="2159000" cy="889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61616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在电脑端后台，灵活规划无人机的自动巡检航线，支持自定义覆盖区域。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3429000" y="1651000"/>
            <a:ext cx="2540000" cy="1778000"/>
          </a:xfrm>
          <a:prstGeom prst="roundRect">
            <a:avLst>
              <a:gd name="adj" fmla="val 5714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8" name="Picture 8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619500" y="1841500"/>
            <a:ext cx="355600" cy="355600"/>
          </a:xfrm>
          <a:prstGeom prst="rect">
            <a:avLst/>
          </a:prstGeom>
        </p:spPr>
      </p:pic>
      <p:sp>
        <p:nvSpPr>
          <p:cNvPr id="9" name="AutoShape 9"/>
          <p:cNvSpPr/>
          <p:nvPr/>
        </p:nvSpPr>
        <p:spPr>
          <a:xfrm>
            <a:off x="4064000" y="1803400"/>
            <a:ext cx="17780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无人机自动执行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3619500" y="2413000"/>
            <a:ext cx="2159000" cy="889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61616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无人机按照预设航线精准起飞、自主完成全园巡检任务，最后自动返航降落。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6223000" y="1651000"/>
            <a:ext cx="2540000" cy="1778000"/>
          </a:xfrm>
          <a:prstGeom prst="roundRect">
            <a:avLst>
              <a:gd name="adj" fmla="val 5714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413500" y="1841500"/>
            <a:ext cx="355600" cy="355600"/>
          </a:xfrm>
          <a:prstGeom prst="rect">
            <a:avLst/>
          </a:prstGeom>
        </p:spPr>
      </p:pic>
      <p:sp>
        <p:nvSpPr>
          <p:cNvPr id="13" name="AutoShape 13"/>
          <p:cNvSpPr/>
          <p:nvPr/>
        </p:nvSpPr>
        <p:spPr>
          <a:xfrm>
            <a:off x="6858000" y="1803400"/>
            <a:ext cx="17780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AI识别异常</a:t>
            </a:r>
            <a:endParaRPr lang="en-US" sz="1100"/>
          </a:p>
        </p:txBody>
      </p:sp>
      <p:sp>
        <p:nvSpPr>
          <p:cNvPr id="14" name="AutoShape 14"/>
          <p:cNvSpPr/>
          <p:nvPr/>
        </p:nvSpPr>
        <p:spPr>
          <a:xfrm>
            <a:off x="6413500" y="2413000"/>
            <a:ext cx="2159000" cy="889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61616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云端AI视觉模型自动分析图像，快速识别缺苗、作物倒伏、病害斑块等异常。</a:t>
            </a:r>
            <a:endParaRPr lang="en-US" sz="1100"/>
          </a:p>
        </p:txBody>
      </p:sp>
      <p:sp>
        <p:nvSpPr>
          <p:cNvPr id="15" name="AutoShape 15"/>
          <p:cNvSpPr/>
          <p:nvPr/>
        </p:nvSpPr>
        <p:spPr>
          <a:xfrm>
            <a:off x="9017000" y="1651000"/>
            <a:ext cx="2540000" cy="1778000"/>
          </a:xfrm>
          <a:prstGeom prst="roundRect">
            <a:avLst>
              <a:gd name="adj" fmla="val 5714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6" name="Picture 16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207500" y="1841500"/>
            <a:ext cx="355600" cy="355600"/>
          </a:xfrm>
          <a:prstGeom prst="rect">
            <a:avLst/>
          </a:prstGeom>
        </p:spPr>
      </p:pic>
      <p:sp>
        <p:nvSpPr>
          <p:cNvPr id="17" name="AutoShape 17"/>
          <p:cNvSpPr/>
          <p:nvPr/>
        </p:nvSpPr>
        <p:spPr>
          <a:xfrm>
            <a:off x="9652000" y="1803400"/>
            <a:ext cx="17780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推送至移动端</a:t>
            </a:r>
            <a:endParaRPr lang="en-US" sz="1100"/>
          </a:p>
        </p:txBody>
      </p:sp>
      <p:sp>
        <p:nvSpPr>
          <p:cNvPr id="18" name="AutoShape 18"/>
          <p:cNvSpPr/>
          <p:nvPr/>
        </p:nvSpPr>
        <p:spPr>
          <a:xfrm>
            <a:off x="9207500" y="2413000"/>
            <a:ext cx="2159000" cy="889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61616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识别到的异常信息实时以告警形式，精准推送到管理者的手机端，及时响应。</a:t>
            </a:r>
            <a:endParaRPr lang="en-US" sz="1100"/>
          </a:p>
        </p:txBody>
      </p:sp>
      <p:sp>
        <p:nvSpPr>
          <p:cNvPr id="19" name="AutoShape 19"/>
          <p:cNvSpPr/>
          <p:nvPr/>
        </p:nvSpPr>
        <p:spPr>
          <a:xfrm>
            <a:off x="635000" y="3810000"/>
            <a:ext cx="3556000" cy="1397000"/>
          </a:xfrm>
          <a:prstGeom prst="roundRect">
            <a:avLst>
              <a:gd name="adj" fmla="val 10909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0" name="Picture 20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25500" y="4127500"/>
            <a:ext cx="457200" cy="457200"/>
          </a:xfrm>
          <a:prstGeom prst="rect">
            <a:avLst/>
          </a:prstGeom>
        </p:spPr>
      </p:pic>
      <p:sp>
        <p:nvSpPr>
          <p:cNvPr id="21" name="AutoShape 21"/>
          <p:cNvSpPr/>
          <p:nvPr/>
        </p:nvSpPr>
        <p:spPr>
          <a:xfrm>
            <a:off x="1397000" y="4000500"/>
            <a:ext cx="2667000" cy="1016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巡园覆盖率 100%</a:t>
            </a:r>
            <a:endParaRPr lang="en-US" sz="1100"/>
          </a:p>
          <a:p>
            <a:pPr indent="0" algn="ctr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打破地形限制，实现全园无死角、无遗漏的完整覆盖，消除盲区。</a:t>
            </a:r>
            <a:endParaRPr lang="en-US" sz="1200" b="0" i="0" u="none" strike="noStrike">
              <a:solidFill>
                <a:srgbClr val="6B728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2" name="AutoShape 22"/>
          <p:cNvSpPr/>
          <p:nvPr/>
        </p:nvSpPr>
        <p:spPr>
          <a:xfrm>
            <a:off x="4318000" y="3810000"/>
            <a:ext cx="3556000" cy="1397000"/>
          </a:xfrm>
          <a:prstGeom prst="roundRect">
            <a:avLst>
              <a:gd name="adj" fmla="val 10909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3" name="Picture 23"/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508500" y="4127500"/>
            <a:ext cx="457200" cy="457200"/>
          </a:xfrm>
          <a:prstGeom prst="rect">
            <a:avLst/>
          </a:prstGeom>
        </p:spPr>
      </p:pic>
      <p:sp>
        <p:nvSpPr>
          <p:cNvPr id="24" name="AutoShape 24"/>
          <p:cNvSpPr/>
          <p:nvPr/>
        </p:nvSpPr>
        <p:spPr>
          <a:xfrm>
            <a:off x="5080000" y="4000500"/>
            <a:ext cx="2667000" cy="1016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异常发现效率 ↑80%</a:t>
            </a:r>
            <a:endParaRPr lang="en-US" sz="1100"/>
          </a:p>
          <a:p>
            <a:pPr indent="0" algn="ctr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AI算法相比人工肉眼巡查，识别速度更快、准确率更高，大幅降低漏判率。</a:t>
            </a:r>
            <a:endParaRPr lang="en-US" sz="1200" b="0" i="0" u="none" strike="noStrike">
              <a:solidFill>
                <a:srgbClr val="6B728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5" name="AutoShape 25"/>
          <p:cNvSpPr/>
          <p:nvPr/>
        </p:nvSpPr>
        <p:spPr>
          <a:xfrm>
            <a:off x="8001000" y="3810000"/>
            <a:ext cx="3556000" cy="1397000"/>
          </a:xfrm>
          <a:prstGeom prst="roundRect">
            <a:avLst>
              <a:gd name="adj" fmla="val 10909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6" name="Picture 26"/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8191500" y="4127500"/>
            <a:ext cx="457200" cy="457200"/>
          </a:xfrm>
          <a:prstGeom prst="rect">
            <a:avLst/>
          </a:prstGeom>
        </p:spPr>
      </p:pic>
      <p:sp>
        <p:nvSpPr>
          <p:cNvPr id="27" name="AutoShape 27"/>
          <p:cNvSpPr/>
          <p:nvPr/>
        </p:nvSpPr>
        <p:spPr>
          <a:xfrm>
            <a:off x="8763000" y="4000500"/>
            <a:ext cx="2667000" cy="1016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时间成本 ↓60%</a:t>
            </a:r>
            <a:endParaRPr lang="en-US" sz="1100"/>
          </a:p>
          <a:p>
            <a:pPr indent="0" algn="ctr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替代传统人工徒步巡园方式，极大地释放人力资源，节省时间成本。</a:t>
            </a:r>
            <a:endParaRPr lang="en-US" sz="1200" b="0" i="0" u="none" strike="noStrike">
              <a:solidFill>
                <a:srgbClr val="6B728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8" name="AutoShape 28"/>
          <p:cNvSpPr/>
          <p:nvPr/>
        </p:nvSpPr>
        <p:spPr>
          <a:xfrm>
            <a:off x="762000" y="5397500"/>
            <a:ext cx="10668000" cy="1143000"/>
          </a:xfrm>
          <a:prstGeom prst="roundRect">
            <a:avLst>
              <a:gd name="adj" fmla="val 17777"/>
            </a:avLst>
          </a:prstGeom>
          <a:solidFill>
            <a:srgbClr val="3B82F6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9" name="AutoShape 29"/>
          <p:cNvSpPr/>
          <p:nvPr/>
        </p:nvSpPr>
        <p:spPr>
          <a:xfrm>
            <a:off x="952500" y="5524500"/>
            <a:ext cx="10287000" cy="889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17000"/>
              </a:lnSpc>
              <a:defRPr/>
            </a:pPr>
            <a:r>
              <a:rPr lang="en-US" sz="1400" b="0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预期成效：陕西洛川一个3000亩的大型基地，采用无人机巡园后，每周的巡园时间从原来的</a:t>
            </a:r>
            <a:r>
              <a:rPr lang="en-US" sz="1800" b="1" i="0" u="none" strike="noStrike">
                <a:solidFill>
                  <a:srgbClr val="FDE04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3天</a:t>
            </a:r>
            <a:r>
              <a:rPr lang="en-US" sz="1400" b="0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大幅缩短至</a:t>
            </a:r>
            <a:r>
              <a:rPr lang="en-US" sz="2200" b="1" i="0" u="none" strike="noStrike">
                <a:solidFill>
                  <a:srgbClr val="FDE04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4小时</a:t>
            </a:r>
            <a:endParaRPr lang="en-US" sz="110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888" y="1488762"/>
            <a:ext cx="3619214" cy="2542974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83962" y="1492862"/>
            <a:ext cx="3530441" cy="2540775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16933" y="1492968"/>
            <a:ext cx="3519963" cy="2535324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9573" y="4190904"/>
            <a:ext cx="3618224" cy="243278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10051" y="4195191"/>
            <a:ext cx="3522867" cy="2427922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78724" y="4224111"/>
            <a:ext cx="3517106" cy="2427231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187889" y="4840509"/>
            <a:ext cx="1020764" cy="1011269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181763" y="4848415"/>
            <a:ext cx="1012955" cy="993933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20057" y="4848423"/>
            <a:ext cx="975455" cy="99448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975544" y="693420"/>
            <a:ext cx="4182237" cy="450056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000000"/>
                </a:solidFill>
                <a:latin typeface="Noto Sans SC" panose="020B0200000000000000" charset="-122"/>
                <a:ea typeface="Noto Sans SC" panose="020B0200000000000000" charset="-122"/>
              </a:rPr>
              <a:t>无人机巡园·界面展示</a:t>
            </a:r>
            <a:endParaRPr sz="3200" b="1" i="0">
              <a:solidFill>
                <a:srgbClr val="000000"/>
              </a:solidFill>
              <a:latin typeface="Noto Sans SC" panose="020B0200000000000000" charset="-122"/>
              <a:ea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668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核心业务闭环：农事管理，拒绝数据孤岛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778000"/>
            <a:ext cx="5207000" cy="4572000"/>
          </a:xfrm>
          <a:prstGeom prst="roundRect">
            <a:avLst>
              <a:gd name="adj" fmla="val 333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" name="AutoShape 4"/>
          <p:cNvSpPr/>
          <p:nvPr/>
        </p:nvSpPr>
        <p:spPr>
          <a:xfrm>
            <a:off x="1016000" y="2032000"/>
            <a:ext cx="4699000" cy="508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从计划到执行的闭环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1016000" y="2794000"/>
            <a:ext cx="2349500" cy="1524000"/>
          </a:xfrm>
          <a:prstGeom prst="roundRect">
            <a:avLst>
              <a:gd name="adj" fmla="val 6666"/>
            </a:avLst>
          </a:prstGeom>
          <a:solidFill>
            <a:srgbClr val="F9FAF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3000" y="2984500"/>
            <a:ext cx="355600" cy="355600"/>
          </a:xfrm>
          <a:prstGeom prst="rect">
            <a:avLst/>
          </a:prstGeom>
        </p:spPr>
      </p:pic>
      <p:sp>
        <p:nvSpPr>
          <p:cNvPr id="7" name="AutoShape 7"/>
          <p:cNvSpPr/>
          <p:nvPr/>
        </p:nvSpPr>
        <p:spPr>
          <a:xfrm>
            <a:off x="1587500" y="2921000"/>
            <a:ext cx="1778000" cy="1206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1. 电脑端编排计划</a:t>
            </a:r>
            <a:endParaRPr lang="en-US" sz="1100"/>
          </a:p>
          <a:p>
            <a:pPr indent="0" algn="ctr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管理者基于物候期模型和模板，轻松编排农事生产计划。</a:t>
            </a:r>
            <a:endParaRPr lang="en-US" sz="1100" b="0" i="0" u="none" strike="noStrike">
              <a:solidFill>
                <a:srgbClr val="66666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8" name="AutoShape 8"/>
          <p:cNvSpPr/>
          <p:nvPr/>
        </p:nvSpPr>
        <p:spPr>
          <a:xfrm>
            <a:off x="3492500" y="2794000"/>
            <a:ext cx="2349500" cy="1524000"/>
          </a:xfrm>
          <a:prstGeom prst="roundRect">
            <a:avLst>
              <a:gd name="adj" fmla="val 6666"/>
            </a:avLst>
          </a:prstGeom>
          <a:solidFill>
            <a:srgbClr val="F9FAF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619500" y="2984500"/>
            <a:ext cx="355600" cy="355600"/>
          </a:xfrm>
          <a:prstGeom prst="rect">
            <a:avLst/>
          </a:prstGeom>
        </p:spPr>
      </p:pic>
      <p:sp>
        <p:nvSpPr>
          <p:cNvPr id="10" name="AutoShape 10"/>
          <p:cNvSpPr/>
          <p:nvPr/>
        </p:nvSpPr>
        <p:spPr>
          <a:xfrm>
            <a:off x="4064000" y="2921000"/>
            <a:ext cx="1778000" cy="1206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2. 移动端执行</a:t>
            </a:r>
            <a:endParaRPr lang="en-US" sz="1100"/>
          </a:p>
          <a:p>
            <a:pPr indent="0" algn="ctr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计划自动下发到一线APP，员工通过“拍照即记录”轻松完成执行。</a:t>
            </a:r>
            <a:endParaRPr lang="en-US" sz="1100" b="0" i="0" u="none" strike="noStrike">
              <a:solidFill>
                <a:srgbClr val="66666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1" name="AutoShape 11"/>
          <p:cNvSpPr/>
          <p:nvPr/>
        </p:nvSpPr>
        <p:spPr>
          <a:xfrm>
            <a:off x="1016000" y="4572000"/>
            <a:ext cx="2349500" cy="1524000"/>
          </a:xfrm>
          <a:prstGeom prst="roundRect">
            <a:avLst>
              <a:gd name="adj" fmla="val 6666"/>
            </a:avLst>
          </a:prstGeom>
          <a:solidFill>
            <a:srgbClr val="F9FAF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43000" y="4762500"/>
            <a:ext cx="355600" cy="355600"/>
          </a:xfrm>
          <a:prstGeom prst="rect">
            <a:avLst/>
          </a:prstGeom>
        </p:spPr>
      </p:pic>
      <p:sp>
        <p:nvSpPr>
          <p:cNvPr id="13" name="AutoShape 13"/>
          <p:cNvSpPr/>
          <p:nvPr/>
        </p:nvSpPr>
        <p:spPr>
          <a:xfrm>
            <a:off x="1587500" y="4699000"/>
            <a:ext cx="1778000" cy="1206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3. 报表自动生成</a:t>
            </a:r>
            <a:endParaRPr lang="en-US" sz="1100"/>
          </a:p>
          <a:p>
            <a:pPr indent="0" algn="ctr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所有执行数据自动汇总，系统自动生成各类统计报表和分析图表。</a:t>
            </a:r>
            <a:endParaRPr lang="en-US" sz="1100" b="0" i="0" u="none" strike="noStrike">
              <a:solidFill>
                <a:srgbClr val="66666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4" name="AutoShape 14"/>
          <p:cNvSpPr/>
          <p:nvPr/>
        </p:nvSpPr>
        <p:spPr>
          <a:xfrm>
            <a:off x="3492500" y="4572000"/>
            <a:ext cx="2349500" cy="1524000"/>
          </a:xfrm>
          <a:prstGeom prst="roundRect">
            <a:avLst>
              <a:gd name="adj" fmla="val 6666"/>
            </a:avLst>
          </a:prstGeom>
          <a:solidFill>
            <a:srgbClr val="F9FAF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5" name="Picture 15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619500" y="4762500"/>
            <a:ext cx="355600" cy="355600"/>
          </a:xfrm>
          <a:prstGeom prst="rect">
            <a:avLst/>
          </a:prstGeom>
        </p:spPr>
      </p:pic>
      <p:sp>
        <p:nvSpPr>
          <p:cNvPr id="16" name="AutoShape 16"/>
          <p:cNvSpPr/>
          <p:nvPr/>
        </p:nvSpPr>
        <p:spPr>
          <a:xfrm>
            <a:off x="4064000" y="4699000"/>
            <a:ext cx="1778000" cy="1206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4. 优化计划</a:t>
            </a:r>
            <a:endParaRPr lang="en-US" sz="1100"/>
          </a:p>
          <a:p>
            <a:pPr indent="0" algn="ctr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管理者基于报表分析结果，优化下一轮的生产计划，形成持续改进的闭环。</a:t>
            </a:r>
            <a:endParaRPr lang="en-US" sz="1100" b="0" i="0" u="none" strike="noStrike">
              <a:solidFill>
                <a:srgbClr val="66666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7" name="AutoShape 17"/>
          <p:cNvSpPr/>
          <p:nvPr/>
        </p:nvSpPr>
        <p:spPr>
          <a:xfrm>
            <a:off x="6223000" y="1778000"/>
            <a:ext cx="5207000" cy="4572000"/>
          </a:xfrm>
          <a:prstGeom prst="roundRect">
            <a:avLst>
              <a:gd name="adj" fmla="val 333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8" name="AutoShape 18"/>
          <p:cNvSpPr/>
          <p:nvPr/>
        </p:nvSpPr>
        <p:spPr>
          <a:xfrm>
            <a:off x="6477000" y="2032000"/>
            <a:ext cx="4699000" cy="508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关键功能</a:t>
            </a:r>
            <a:endParaRPr lang="en-US" sz="1100"/>
          </a:p>
        </p:txBody>
      </p:sp>
      <p:sp>
        <p:nvSpPr>
          <p:cNvPr id="19" name="AutoShape 19"/>
          <p:cNvSpPr/>
          <p:nvPr/>
        </p:nvSpPr>
        <p:spPr>
          <a:xfrm>
            <a:off x="6477000" y="2794000"/>
            <a:ext cx="2349500" cy="1524000"/>
          </a:xfrm>
          <a:prstGeom prst="roundRect">
            <a:avLst>
              <a:gd name="adj" fmla="val 6666"/>
            </a:avLst>
          </a:prstGeom>
          <a:solidFill>
            <a:srgbClr val="E8F5E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0" name="Picture 20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604000" y="2984500"/>
            <a:ext cx="406400" cy="406400"/>
          </a:xfrm>
          <a:prstGeom prst="rect">
            <a:avLst/>
          </a:prstGeom>
        </p:spPr>
      </p:pic>
      <p:sp>
        <p:nvSpPr>
          <p:cNvPr id="21" name="AutoShape 21"/>
          <p:cNvSpPr/>
          <p:nvPr/>
        </p:nvSpPr>
        <p:spPr>
          <a:xfrm>
            <a:off x="7112000" y="2921000"/>
            <a:ext cx="1587500" cy="1206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生产计划</a:t>
            </a:r>
            <a:endParaRPr lang="en-US" sz="1100"/>
          </a:p>
          <a:p>
            <a:pPr indent="0" algn="ctr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61616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甘特图可视化编排，让生产进度一目了然。</a:t>
            </a:r>
            <a:endParaRPr lang="en-US" sz="1100" b="0" i="0" u="none" strike="noStrike">
              <a:solidFill>
                <a:srgbClr val="616161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2" name="AutoShape 22"/>
          <p:cNvSpPr/>
          <p:nvPr/>
        </p:nvSpPr>
        <p:spPr>
          <a:xfrm>
            <a:off x="9017000" y="2794000"/>
            <a:ext cx="2349500" cy="1524000"/>
          </a:xfrm>
          <a:prstGeom prst="roundRect">
            <a:avLst>
              <a:gd name="adj" fmla="val 6666"/>
            </a:avLst>
          </a:prstGeom>
          <a:solidFill>
            <a:srgbClr val="E8F5E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3" name="Picture 23"/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9144000" y="2984500"/>
            <a:ext cx="406400" cy="406400"/>
          </a:xfrm>
          <a:prstGeom prst="rect">
            <a:avLst/>
          </a:prstGeom>
        </p:spPr>
      </p:pic>
      <p:sp>
        <p:nvSpPr>
          <p:cNvPr id="24" name="AutoShape 24"/>
          <p:cNvSpPr/>
          <p:nvPr/>
        </p:nvSpPr>
        <p:spPr>
          <a:xfrm>
            <a:off x="9652000" y="2921000"/>
            <a:ext cx="1587500" cy="1206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农事记录</a:t>
            </a:r>
            <a:endParaRPr lang="en-US" sz="1100"/>
          </a:p>
          <a:p>
            <a:pPr indent="0" algn="ctr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61616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拍照记录，简单高效，还原生产现场真实情况。</a:t>
            </a:r>
            <a:endParaRPr lang="en-US" sz="1100" b="0" i="0" u="none" strike="noStrike">
              <a:solidFill>
                <a:srgbClr val="616161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5" name="AutoShape 25"/>
          <p:cNvSpPr/>
          <p:nvPr/>
        </p:nvSpPr>
        <p:spPr>
          <a:xfrm>
            <a:off x="6477000" y="4572000"/>
            <a:ext cx="2349500" cy="1524000"/>
          </a:xfrm>
          <a:prstGeom prst="roundRect">
            <a:avLst>
              <a:gd name="adj" fmla="val 6666"/>
            </a:avLst>
          </a:prstGeom>
          <a:solidFill>
            <a:srgbClr val="E8F5E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6" name="Picture 26"/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604000" y="4762500"/>
            <a:ext cx="406400" cy="406400"/>
          </a:xfrm>
          <a:prstGeom prst="rect">
            <a:avLst/>
          </a:prstGeom>
        </p:spPr>
      </p:pic>
      <p:sp>
        <p:nvSpPr>
          <p:cNvPr id="27" name="AutoShape 27"/>
          <p:cNvSpPr/>
          <p:nvPr/>
        </p:nvSpPr>
        <p:spPr>
          <a:xfrm>
            <a:off x="7112000" y="4699000"/>
            <a:ext cx="1587500" cy="1206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日常巡园</a:t>
            </a:r>
            <a:endParaRPr lang="en-US" sz="1100"/>
          </a:p>
          <a:p>
            <a:pPr indent="0" algn="ctr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61616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GPS打卡，轨迹回放，确保巡园工作落实到位。</a:t>
            </a:r>
            <a:endParaRPr lang="en-US" sz="1100" b="0" i="0" u="none" strike="noStrike">
              <a:solidFill>
                <a:srgbClr val="616161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8" name="AutoShape 28"/>
          <p:cNvSpPr/>
          <p:nvPr/>
        </p:nvSpPr>
        <p:spPr>
          <a:xfrm>
            <a:off x="9017000" y="4572000"/>
            <a:ext cx="2349500" cy="1524000"/>
          </a:xfrm>
          <a:prstGeom prst="roundRect">
            <a:avLst>
              <a:gd name="adj" fmla="val 6666"/>
            </a:avLst>
          </a:prstGeom>
          <a:solidFill>
            <a:srgbClr val="E8F5E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9" name="Picture 29"/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9144000" y="4762500"/>
            <a:ext cx="406400" cy="406400"/>
          </a:xfrm>
          <a:prstGeom prst="rect">
            <a:avLst/>
          </a:prstGeom>
        </p:spPr>
      </p:pic>
      <p:sp>
        <p:nvSpPr>
          <p:cNvPr id="30" name="AutoShape 30"/>
          <p:cNvSpPr/>
          <p:nvPr/>
        </p:nvSpPr>
        <p:spPr>
          <a:xfrm>
            <a:off x="9652000" y="4699000"/>
            <a:ext cx="1587500" cy="1206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采收管理</a:t>
            </a:r>
            <a:endParaRPr lang="en-US" sz="1100"/>
          </a:p>
          <a:p>
            <a:pPr indent="0" algn="ctr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61616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产量数据精准记录，实现生产成果的数字化管理。</a:t>
            </a:r>
            <a:endParaRPr lang="en-US" sz="1100" b="0" i="0" u="none" strike="noStrike">
              <a:solidFill>
                <a:srgbClr val="616161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508000"/>
            <a:ext cx="10668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30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独家优势：农资全链路管理，库存准确率升至95%+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508000" y="1524000"/>
            <a:ext cx="1714500" cy="1397000"/>
          </a:xfrm>
          <a:prstGeom prst="roundRect">
            <a:avLst>
              <a:gd name="adj" fmla="val 7272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3000" y="1651000"/>
            <a:ext cx="406400" cy="406400"/>
          </a:xfrm>
          <a:prstGeom prst="rect">
            <a:avLst/>
          </a:prstGeom>
        </p:spPr>
      </p:pic>
      <p:sp>
        <p:nvSpPr>
          <p:cNvPr id="5" name="AutoShape 5"/>
          <p:cNvSpPr/>
          <p:nvPr/>
        </p:nvSpPr>
        <p:spPr>
          <a:xfrm>
            <a:off x="571500" y="2159000"/>
            <a:ext cx="1587500" cy="698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采购申请</a:t>
            </a:r>
            <a:endParaRPr lang="en-US" sz="1100"/>
          </a:p>
          <a:p>
            <a:pPr indent="0" algn="ctr">
              <a:lnSpc>
                <a:spcPct val="92000"/>
              </a:lnSpc>
            </a:pPr>
            <a:r>
              <a:rPr lang="en-US" sz="11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在线提交申请</a:t>
            </a:r>
            <a:endParaRPr lang="en-US" sz="1100" b="0" i="0" u="none" strike="noStrike">
              <a:solidFill>
                <a:srgbClr val="6B728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6" name="AutoShape 6"/>
          <p:cNvSpPr/>
          <p:nvPr/>
        </p:nvSpPr>
        <p:spPr>
          <a:xfrm>
            <a:off x="2413000" y="1524000"/>
            <a:ext cx="1714500" cy="1397000"/>
          </a:xfrm>
          <a:prstGeom prst="roundRect">
            <a:avLst>
              <a:gd name="adj" fmla="val 7272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7" name="Picture 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048000" y="1651000"/>
            <a:ext cx="406400" cy="406400"/>
          </a:xfrm>
          <a:prstGeom prst="rect">
            <a:avLst/>
          </a:prstGeom>
        </p:spPr>
      </p:pic>
      <p:sp>
        <p:nvSpPr>
          <p:cNvPr id="8" name="AutoShape 8"/>
          <p:cNvSpPr/>
          <p:nvPr/>
        </p:nvSpPr>
        <p:spPr>
          <a:xfrm>
            <a:off x="2476500" y="2159000"/>
            <a:ext cx="1587500" cy="698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审批</a:t>
            </a:r>
            <a:endParaRPr lang="en-US" sz="1100"/>
          </a:p>
          <a:p>
            <a:pPr indent="0" algn="ctr">
              <a:lnSpc>
                <a:spcPct val="92000"/>
              </a:lnSpc>
            </a:pPr>
            <a:r>
              <a:rPr lang="en-US" sz="11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移动端或PC端审批</a:t>
            </a:r>
            <a:endParaRPr lang="en-US" sz="1100" b="0" i="0" u="none" strike="noStrike">
              <a:solidFill>
                <a:srgbClr val="6B728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9" name="AutoShape 9"/>
          <p:cNvSpPr/>
          <p:nvPr/>
        </p:nvSpPr>
        <p:spPr>
          <a:xfrm>
            <a:off x="4318000" y="1524000"/>
            <a:ext cx="1714500" cy="1397000"/>
          </a:xfrm>
          <a:prstGeom prst="roundRect">
            <a:avLst>
              <a:gd name="adj" fmla="val 7272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0" name="Picture 10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953000" y="1651000"/>
            <a:ext cx="406400" cy="406400"/>
          </a:xfrm>
          <a:prstGeom prst="rect">
            <a:avLst/>
          </a:prstGeom>
        </p:spPr>
      </p:pic>
      <p:sp>
        <p:nvSpPr>
          <p:cNvPr id="11" name="AutoShape 11"/>
          <p:cNvSpPr/>
          <p:nvPr/>
        </p:nvSpPr>
        <p:spPr>
          <a:xfrm>
            <a:off x="4381500" y="2159000"/>
            <a:ext cx="1587500" cy="698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入库</a:t>
            </a:r>
            <a:endParaRPr lang="en-US" sz="1100"/>
          </a:p>
          <a:p>
            <a:pPr indent="0" algn="ctr">
              <a:lnSpc>
                <a:spcPct val="92000"/>
              </a:lnSpc>
            </a:pPr>
            <a:r>
              <a:rPr lang="en-US" sz="11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扫码或手动录入</a:t>
            </a:r>
            <a:endParaRPr lang="en-US" sz="1100" b="0" i="0" u="none" strike="noStrike">
              <a:solidFill>
                <a:srgbClr val="6B728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2" name="AutoShape 12"/>
          <p:cNvSpPr/>
          <p:nvPr/>
        </p:nvSpPr>
        <p:spPr>
          <a:xfrm>
            <a:off x="6223000" y="1524000"/>
            <a:ext cx="1714500" cy="1397000"/>
          </a:xfrm>
          <a:prstGeom prst="roundRect">
            <a:avLst>
              <a:gd name="adj" fmla="val 7272"/>
            </a:avLst>
          </a:prstGeom>
          <a:solidFill>
            <a:srgbClr val="FEF3C7">
              <a:alpha val="100000"/>
            </a:srgbClr>
          </a:solidFill>
          <a:ln w="12700" cap="flat" cmpd="sng">
            <a:solidFill>
              <a:srgbClr val="F59E0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3" name="Picture 13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858000" y="1651000"/>
            <a:ext cx="406400" cy="406400"/>
          </a:xfrm>
          <a:prstGeom prst="rect">
            <a:avLst/>
          </a:prstGeom>
        </p:spPr>
      </p:pic>
      <p:sp>
        <p:nvSpPr>
          <p:cNvPr id="14" name="AutoShape 14"/>
          <p:cNvSpPr/>
          <p:nvPr/>
        </p:nvSpPr>
        <p:spPr>
          <a:xfrm>
            <a:off x="6286500" y="2159000"/>
            <a:ext cx="1587500" cy="698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B4530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库存预警</a:t>
            </a:r>
            <a:endParaRPr lang="en-US" sz="1100"/>
          </a:p>
          <a:p>
            <a:pPr indent="0" algn="ctr">
              <a:lnSpc>
                <a:spcPct val="92000"/>
              </a:lnSpc>
            </a:pPr>
            <a:r>
              <a:rPr lang="en-US" sz="1100" b="0" i="0" u="none" strike="noStrike">
                <a:solidFill>
                  <a:srgbClr val="B45309">
                    <a:alpha val="80000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系统自动三色预警</a:t>
            </a:r>
            <a:endParaRPr lang="en-US" sz="1100" b="0" i="0" u="none" strike="noStrike">
              <a:solidFill>
                <a:srgbClr val="B45309">
                  <a:alpha val="80000"/>
                </a:srgbClr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5" name="AutoShape 15"/>
          <p:cNvSpPr/>
          <p:nvPr/>
        </p:nvSpPr>
        <p:spPr>
          <a:xfrm>
            <a:off x="8128000" y="1524000"/>
            <a:ext cx="1714500" cy="1397000"/>
          </a:xfrm>
          <a:prstGeom prst="roundRect">
            <a:avLst>
              <a:gd name="adj" fmla="val 7272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6" name="Picture 16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763000" y="1651000"/>
            <a:ext cx="406400" cy="406400"/>
          </a:xfrm>
          <a:prstGeom prst="rect">
            <a:avLst/>
          </a:prstGeom>
        </p:spPr>
      </p:pic>
      <p:sp>
        <p:nvSpPr>
          <p:cNvPr id="17" name="AutoShape 17"/>
          <p:cNvSpPr/>
          <p:nvPr/>
        </p:nvSpPr>
        <p:spPr>
          <a:xfrm>
            <a:off x="8191500" y="2159000"/>
            <a:ext cx="1587500" cy="698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领用</a:t>
            </a:r>
            <a:endParaRPr lang="en-US" sz="1100"/>
          </a:p>
          <a:p>
            <a:pPr indent="0" algn="ctr">
              <a:lnSpc>
                <a:spcPct val="92000"/>
              </a:lnSpc>
            </a:pPr>
            <a:r>
              <a:rPr lang="en-US" sz="11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在线申请，确认出库</a:t>
            </a:r>
            <a:endParaRPr lang="en-US" sz="1100" b="0" i="0" u="none" strike="noStrike">
              <a:solidFill>
                <a:srgbClr val="6B728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8" name="AutoShape 18"/>
          <p:cNvSpPr/>
          <p:nvPr/>
        </p:nvSpPr>
        <p:spPr>
          <a:xfrm>
            <a:off x="9969500" y="1524000"/>
            <a:ext cx="1714500" cy="1397000"/>
          </a:xfrm>
          <a:prstGeom prst="roundRect">
            <a:avLst>
              <a:gd name="adj" fmla="val 7272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9" name="Picture 19"/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604500" y="1651000"/>
            <a:ext cx="406400" cy="406400"/>
          </a:xfrm>
          <a:prstGeom prst="rect">
            <a:avLst/>
          </a:prstGeom>
        </p:spPr>
      </p:pic>
      <p:sp>
        <p:nvSpPr>
          <p:cNvPr id="20" name="AutoShape 20"/>
          <p:cNvSpPr/>
          <p:nvPr/>
        </p:nvSpPr>
        <p:spPr>
          <a:xfrm>
            <a:off x="10033000" y="2159000"/>
            <a:ext cx="1587500" cy="698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使用记录</a:t>
            </a:r>
            <a:endParaRPr lang="en-US" sz="1100"/>
          </a:p>
          <a:p>
            <a:pPr indent="0" algn="ctr">
              <a:lnSpc>
                <a:spcPct val="92000"/>
              </a:lnSpc>
            </a:pPr>
            <a:r>
              <a:rPr lang="en-US" sz="11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关联农事与地块</a:t>
            </a:r>
            <a:endParaRPr lang="en-US" sz="1100" b="0" i="0" u="none" strike="noStrike">
              <a:solidFill>
                <a:srgbClr val="6B728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1" name="AutoShape 21"/>
          <p:cNvSpPr/>
          <p:nvPr/>
        </p:nvSpPr>
        <p:spPr>
          <a:xfrm>
            <a:off x="508000" y="3302000"/>
            <a:ext cx="2082800" cy="1905000"/>
          </a:xfrm>
          <a:prstGeom prst="roundRect">
            <a:avLst>
              <a:gd name="adj" fmla="val 8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2" name="Picture 22"/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35000" y="3492500"/>
            <a:ext cx="304800" cy="304800"/>
          </a:xfrm>
          <a:prstGeom prst="rect">
            <a:avLst/>
          </a:prstGeom>
        </p:spPr>
      </p:pic>
      <p:sp>
        <p:nvSpPr>
          <p:cNvPr id="23" name="AutoShape 23"/>
          <p:cNvSpPr/>
          <p:nvPr/>
        </p:nvSpPr>
        <p:spPr>
          <a:xfrm>
            <a:off x="1016000" y="3454400"/>
            <a:ext cx="14605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农资信息管理</a:t>
            </a:r>
            <a:endParaRPr lang="en-US" sz="1100"/>
          </a:p>
        </p:txBody>
      </p:sp>
      <p:sp>
        <p:nvSpPr>
          <p:cNvPr id="24" name="AutoShape 24"/>
          <p:cNvSpPr/>
          <p:nvPr/>
        </p:nvSpPr>
        <p:spPr>
          <a:xfrm>
            <a:off x="635000" y="4064000"/>
            <a:ext cx="1828800" cy="1016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对所有农资进行分类管理，设定安全库存水位线，保障供应。</a:t>
            </a:r>
            <a:endParaRPr lang="en-US" sz="1100"/>
          </a:p>
        </p:txBody>
      </p:sp>
      <p:sp>
        <p:nvSpPr>
          <p:cNvPr id="25" name="AutoShape 25"/>
          <p:cNvSpPr/>
          <p:nvPr/>
        </p:nvSpPr>
        <p:spPr>
          <a:xfrm>
            <a:off x="2768600" y="3302000"/>
            <a:ext cx="2082800" cy="1905000"/>
          </a:xfrm>
          <a:prstGeom prst="roundRect">
            <a:avLst>
              <a:gd name="adj" fmla="val 8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6" name="Picture 26"/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2895600" y="3492500"/>
            <a:ext cx="304800" cy="304800"/>
          </a:xfrm>
          <a:prstGeom prst="rect">
            <a:avLst/>
          </a:prstGeom>
        </p:spPr>
      </p:pic>
      <p:sp>
        <p:nvSpPr>
          <p:cNvPr id="27" name="AutoShape 27"/>
          <p:cNvSpPr/>
          <p:nvPr/>
        </p:nvSpPr>
        <p:spPr>
          <a:xfrm>
            <a:off x="3276600" y="3454400"/>
            <a:ext cx="14605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采购管理</a:t>
            </a:r>
            <a:endParaRPr lang="en-US" sz="1100"/>
          </a:p>
        </p:txBody>
      </p:sp>
      <p:sp>
        <p:nvSpPr>
          <p:cNvPr id="28" name="AutoShape 28"/>
          <p:cNvSpPr/>
          <p:nvPr/>
        </p:nvSpPr>
        <p:spPr>
          <a:xfrm>
            <a:off x="2895600" y="4064000"/>
            <a:ext cx="1828800" cy="1016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支持采购申请、审批流转到最终入库的全程线上化，透明可追溯。</a:t>
            </a:r>
            <a:endParaRPr lang="en-US" sz="1100"/>
          </a:p>
        </p:txBody>
      </p:sp>
      <p:sp>
        <p:nvSpPr>
          <p:cNvPr id="29" name="AutoShape 29"/>
          <p:cNvSpPr/>
          <p:nvPr/>
        </p:nvSpPr>
        <p:spPr>
          <a:xfrm>
            <a:off x="5029200" y="3302000"/>
            <a:ext cx="2082800" cy="1905000"/>
          </a:xfrm>
          <a:prstGeom prst="roundRect">
            <a:avLst>
              <a:gd name="adj" fmla="val 8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0" name="Picture 30"/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5156200" y="3492500"/>
            <a:ext cx="304800" cy="304800"/>
          </a:xfrm>
          <a:prstGeom prst="rect">
            <a:avLst/>
          </a:prstGeom>
        </p:spPr>
      </p:pic>
      <p:sp>
        <p:nvSpPr>
          <p:cNvPr id="31" name="AutoShape 31"/>
          <p:cNvSpPr/>
          <p:nvPr/>
        </p:nvSpPr>
        <p:spPr>
          <a:xfrm>
            <a:off x="5537200" y="3454400"/>
            <a:ext cx="14605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使用记录</a:t>
            </a:r>
            <a:endParaRPr lang="en-US" sz="1100"/>
          </a:p>
        </p:txBody>
      </p:sp>
      <p:sp>
        <p:nvSpPr>
          <p:cNvPr id="32" name="AutoShape 32"/>
          <p:cNvSpPr/>
          <p:nvPr/>
        </p:nvSpPr>
        <p:spPr>
          <a:xfrm>
            <a:off x="5156200" y="4064000"/>
            <a:ext cx="1828800" cy="1016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每一笔农资领用都关联具体地块和农事任务，清晰记录使用情况。</a:t>
            </a:r>
            <a:endParaRPr lang="en-US" sz="1100"/>
          </a:p>
        </p:txBody>
      </p:sp>
      <p:sp>
        <p:nvSpPr>
          <p:cNvPr id="33" name="AutoShape 33"/>
          <p:cNvSpPr/>
          <p:nvPr/>
        </p:nvSpPr>
        <p:spPr>
          <a:xfrm>
            <a:off x="7289800" y="3302000"/>
            <a:ext cx="2082800" cy="1905000"/>
          </a:xfrm>
          <a:prstGeom prst="roundRect">
            <a:avLst>
              <a:gd name="adj" fmla="val 8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4" name="Picture 34"/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7416800" y="3492500"/>
            <a:ext cx="304800" cy="304800"/>
          </a:xfrm>
          <a:prstGeom prst="rect">
            <a:avLst/>
          </a:prstGeom>
        </p:spPr>
      </p:pic>
      <p:sp>
        <p:nvSpPr>
          <p:cNvPr id="35" name="AutoShape 35"/>
          <p:cNvSpPr/>
          <p:nvPr/>
        </p:nvSpPr>
        <p:spPr>
          <a:xfrm>
            <a:off x="7797800" y="3454400"/>
            <a:ext cx="14605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库存管理</a:t>
            </a:r>
            <a:endParaRPr lang="en-US" sz="1100"/>
          </a:p>
        </p:txBody>
      </p:sp>
      <p:sp>
        <p:nvSpPr>
          <p:cNvPr id="36" name="AutoShape 36"/>
          <p:cNvSpPr/>
          <p:nvPr/>
        </p:nvSpPr>
        <p:spPr>
          <a:xfrm>
            <a:off x="7416800" y="4064000"/>
            <a:ext cx="1828800" cy="1016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支持多仓库实时库存查询，库存不足时自动触发红/黄/绿三色预警。</a:t>
            </a:r>
            <a:endParaRPr lang="en-US" sz="1100"/>
          </a:p>
        </p:txBody>
      </p:sp>
      <p:sp>
        <p:nvSpPr>
          <p:cNvPr id="37" name="AutoShape 37"/>
          <p:cNvSpPr/>
          <p:nvPr/>
        </p:nvSpPr>
        <p:spPr>
          <a:xfrm>
            <a:off x="9550400" y="3302000"/>
            <a:ext cx="2082800" cy="1905000"/>
          </a:xfrm>
          <a:prstGeom prst="roundRect">
            <a:avLst>
              <a:gd name="adj" fmla="val 8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8" name="Picture 38"/>
          <p:cNvPicPr>
            <a:picLocks noChangeAspect="1"/>
          </p:cNvPicPr>
          <p:nvPr/>
        </p:nvPicPr>
        <p:blipFill>
          <a:blip r:embed="rId2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9677400" y="3492500"/>
            <a:ext cx="304800" cy="304800"/>
          </a:xfrm>
          <a:prstGeom prst="rect">
            <a:avLst/>
          </a:prstGeom>
        </p:spPr>
      </p:pic>
      <p:sp>
        <p:nvSpPr>
          <p:cNvPr id="39" name="AutoShape 39"/>
          <p:cNvSpPr/>
          <p:nvPr/>
        </p:nvSpPr>
        <p:spPr>
          <a:xfrm>
            <a:off x="10058400" y="3454400"/>
            <a:ext cx="14605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退货管理</a:t>
            </a:r>
            <a:endParaRPr lang="en-US" sz="1100"/>
          </a:p>
        </p:txBody>
      </p:sp>
      <p:sp>
        <p:nvSpPr>
          <p:cNvPr id="40" name="AutoShape 40"/>
          <p:cNvSpPr/>
          <p:nvPr/>
        </p:nvSpPr>
        <p:spPr>
          <a:xfrm>
            <a:off x="9677400" y="4064000"/>
            <a:ext cx="1828800" cy="1016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对于质量不合格或闲置的农资，支持在线发起退货流程，规范处理。</a:t>
            </a:r>
            <a:endParaRPr lang="en-US" sz="1100"/>
          </a:p>
        </p:txBody>
      </p:sp>
      <p:sp>
        <p:nvSpPr>
          <p:cNvPr id="41" name="AutoShape 41"/>
          <p:cNvSpPr/>
          <p:nvPr/>
        </p:nvSpPr>
        <p:spPr>
          <a:xfrm>
            <a:off x="508000" y="5461000"/>
            <a:ext cx="11176000" cy="1143000"/>
          </a:xfrm>
          <a:prstGeom prst="roundRect">
            <a:avLst>
              <a:gd name="adj" fmla="val 13333"/>
            </a:avLst>
          </a:prstGeom>
          <a:solidFill>
            <a:srgbClr val="1E3A8A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2" name="AutoShape 42"/>
          <p:cNvSpPr/>
          <p:nvPr/>
        </p:nvSpPr>
        <p:spPr>
          <a:xfrm>
            <a:off x="762000" y="5651500"/>
            <a:ext cx="5080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预期成效：库存准确率大幅提升</a:t>
            </a:r>
            <a:endParaRPr lang="en-US" sz="1100"/>
          </a:p>
        </p:txBody>
      </p:sp>
      <p:sp>
        <p:nvSpPr>
          <p:cNvPr id="43" name="AutoShape 43"/>
          <p:cNvSpPr/>
          <p:nvPr/>
        </p:nvSpPr>
        <p:spPr>
          <a:xfrm>
            <a:off x="5842000" y="5588000"/>
            <a:ext cx="5588000" cy="889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400" b="0" i="0" u="none" strike="noStrike">
                <a:solidFill>
                  <a:srgbClr val="D1D5DB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行业平均 60% ➔</a:t>
            </a:r>
            <a:r>
              <a:rPr lang="en-US" sz="3600" b="1" i="0" u="none" strike="noStrike">
                <a:solidFill>
                  <a:srgbClr val="FBBF24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95% +</a:t>
            </a:r>
            <a:endParaRPr lang="en-US" sz="110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668000" cy="571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设备管理：7类智能设备，统一监控与运维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778000"/>
            <a:ext cx="5207000" cy="4318000"/>
          </a:xfrm>
          <a:prstGeom prst="roundRect">
            <a:avLst>
              <a:gd name="adj" fmla="val 3529"/>
            </a:avLst>
          </a:prstGeom>
          <a:solidFill>
            <a:srgbClr val="F9FAFB">
              <a:alpha val="100000"/>
            </a:srgbClr>
          </a:solidFill>
          <a:ln w="12700" cap="flat" cmpd="sng">
            <a:solidFill>
              <a:srgbClr val="E6E6E6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" name="AutoShape 4"/>
          <p:cNvSpPr/>
          <p:nvPr/>
        </p:nvSpPr>
        <p:spPr>
          <a:xfrm>
            <a:off x="1016000" y="2032000"/>
            <a:ext cx="4699000" cy="444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全品类设备接入支持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952500" y="2667000"/>
            <a:ext cx="1524000" cy="1143000"/>
          </a:xfrm>
          <a:prstGeom prst="roundRect">
            <a:avLst>
              <a:gd name="adj" fmla="val 8888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1079500" y="2984500"/>
            <a:ext cx="406400" cy="4064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7" name="AutoShape 7"/>
          <p:cNvSpPr/>
          <p:nvPr/>
        </p:nvSpPr>
        <p:spPr>
          <a:xfrm>
            <a:off x="1587500" y="2857500"/>
            <a:ext cx="762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气象站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环境监测</a:t>
            </a:r>
            <a:endParaRPr lang="en-US" sz="1100" b="0" i="0" u="none" strike="noStrike">
              <a:solidFill>
                <a:srgbClr val="75757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8" name="AutoShape 8"/>
          <p:cNvSpPr/>
          <p:nvPr/>
        </p:nvSpPr>
        <p:spPr>
          <a:xfrm>
            <a:off x="2603500" y="2667000"/>
            <a:ext cx="1524000" cy="1143000"/>
          </a:xfrm>
          <a:prstGeom prst="roundRect">
            <a:avLst>
              <a:gd name="adj" fmla="val 8888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2730500" y="2984500"/>
            <a:ext cx="406400" cy="4064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0" name="AutoShape 10"/>
          <p:cNvSpPr/>
          <p:nvPr/>
        </p:nvSpPr>
        <p:spPr>
          <a:xfrm>
            <a:off x="3238500" y="2857500"/>
            <a:ext cx="762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土壤传感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墒情检测</a:t>
            </a:r>
            <a:endParaRPr lang="en-US" sz="1100" b="0" i="0" u="none" strike="noStrike">
              <a:solidFill>
                <a:srgbClr val="75757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1" name="AutoShape 11"/>
          <p:cNvSpPr/>
          <p:nvPr/>
        </p:nvSpPr>
        <p:spPr>
          <a:xfrm>
            <a:off x="4254500" y="2667000"/>
            <a:ext cx="1524000" cy="1143000"/>
          </a:xfrm>
          <a:prstGeom prst="roundRect">
            <a:avLst>
              <a:gd name="adj" fmla="val 8888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4381500" y="2984500"/>
            <a:ext cx="406400" cy="4064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3" name="AutoShape 13"/>
          <p:cNvSpPr/>
          <p:nvPr/>
        </p:nvSpPr>
        <p:spPr>
          <a:xfrm>
            <a:off x="4889500" y="2857500"/>
            <a:ext cx="762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虫情测报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虫害预警</a:t>
            </a:r>
            <a:endParaRPr lang="en-US" sz="1100" b="0" i="0" u="none" strike="noStrike">
              <a:solidFill>
                <a:srgbClr val="75757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4" name="AutoShape 14"/>
          <p:cNvSpPr/>
          <p:nvPr/>
        </p:nvSpPr>
        <p:spPr>
          <a:xfrm>
            <a:off x="952500" y="3937000"/>
            <a:ext cx="1524000" cy="1143000"/>
          </a:xfrm>
          <a:prstGeom prst="roundRect">
            <a:avLst>
              <a:gd name="adj" fmla="val 8888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5" name="Picture 15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1079500" y="4254500"/>
            <a:ext cx="406400" cy="4064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6" name="AutoShape 16"/>
          <p:cNvSpPr/>
          <p:nvPr/>
        </p:nvSpPr>
        <p:spPr>
          <a:xfrm>
            <a:off x="1587500" y="4127500"/>
            <a:ext cx="762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监控设备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视频安防</a:t>
            </a:r>
            <a:endParaRPr lang="en-US" sz="1100" b="0" i="0" u="none" strike="noStrike">
              <a:solidFill>
                <a:srgbClr val="75757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7" name="AutoShape 17"/>
          <p:cNvSpPr/>
          <p:nvPr/>
        </p:nvSpPr>
        <p:spPr>
          <a:xfrm>
            <a:off x="2603500" y="3937000"/>
            <a:ext cx="1524000" cy="1143000"/>
          </a:xfrm>
          <a:prstGeom prst="roundRect">
            <a:avLst>
              <a:gd name="adj" fmla="val 8888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8" name="Picture 18"/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2730500" y="4254500"/>
            <a:ext cx="406400" cy="4064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9" name="AutoShape 19"/>
          <p:cNvSpPr/>
          <p:nvPr/>
        </p:nvSpPr>
        <p:spPr>
          <a:xfrm>
            <a:off x="3238500" y="4127500"/>
            <a:ext cx="762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水肥一体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生产控制</a:t>
            </a:r>
            <a:endParaRPr lang="en-US" sz="1100" b="0" i="0" u="none" strike="noStrike">
              <a:solidFill>
                <a:srgbClr val="75757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0" name="AutoShape 20"/>
          <p:cNvSpPr/>
          <p:nvPr/>
        </p:nvSpPr>
        <p:spPr>
          <a:xfrm>
            <a:off x="4254500" y="3937000"/>
            <a:ext cx="1524000" cy="1143000"/>
          </a:xfrm>
          <a:prstGeom prst="roundRect">
            <a:avLst>
              <a:gd name="adj" fmla="val 8888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1" name="Picture 21"/>
          <p:cNvPicPr>
            <a:picLocks noChangeAspect="1"/>
          </p:cNvPicPr>
          <p:nvPr/>
        </p:nvPicPr>
        <p:blipFill>
          <a:blip r:embed="rId6"/>
          <a:srcRect/>
          <a:stretch>
            <a:fillRect/>
          </a:stretch>
        </p:blipFill>
        <p:spPr>
          <a:xfrm>
            <a:off x="4381500" y="4254500"/>
            <a:ext cx="406400" cy="4064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22" name="AutoShape 22"/>
          <p:cNvSpPr/>
          <p:nvPr/>
        </p:nvSpPr>
        <p:spPr>
          <a:xfrm>
            <a:off x="4889500" y="4127500"/>
            <a:ext cx="762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工控设备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1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自动化控制</a:t>
            </a:r>
            <a:endParaRPr lang="en-US" sz="1100" b="0" i="0" u="none" strike="noStrike">
              <a:solidFill>
                <a:srgbClr val="75757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3" name="AutoShape 23"/>
          <p:cNvSpPr/>
          <p:nvPr/>
        </p:nvSpPr>
        <p:spPr>
          <a:xfrm>
            <a:off x="2032000" y="5207000"/>
            <a:ext cx="2921000" cy="889000"/>
          </a:xfrm>
          <a:prstGeom prst="roundRect">
            <a:avLst>
              <a:gd name="adj" fmla="val 11428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4" name="Picture 24"/>
          <p:cNvPicPr>
            <a:picLocks noChangeAspect="1"/>
          </p:cNvPicPr>
          <p:nvPr/>
        </p:nvPicPr>
        <p:blipFill>
          <a:blip r:embed="rId7"/>
          <a:srcRect/>
          <a:stretch>
            <a:fillRect/>
          </a:stretch>
        </p:blipFill>
        <p:spPr>
          <a:xfrm>
            <a:off x="2286000" y="5410200"/>
            <a:ext cx="406400" cy="4064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25" name="AutoShape 25"/>
          <p:cNvSpPr/>
          <p:nvPr/>
        </p:nvSpPr>
        <p:spPr>
          <a:xfrm>
            <a:off x="2921000" y="5372100"/>
            <a:ext cx="1778000" cy="5588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无人机设备：</a:t>
            </a:r>
            <a:r>
              <a:rPr lang="en-US" sz="12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大面积巡检与测绘</a:t>
            </a:r>
            <a:endParaRPr lang="en-US" sz="1100"/>
          </a:p>
        </p:txBody>
      </p:sp>
      <p:sp>
        <p:nvSpPr>
          <p:cNvPr id="26" name="AutoShape 26"/>
          <p:cNvSpPr/>
          <p:nvPr/>
        </p:nvSpPr>
        <p:spPr>
          <a:xfrm>
            <a:off x="6223000" y="1778000"/>
            <a:ext cx="5207000" cy="4318000"/>
          </a:xfrm>
          <a:prstGeom prst="roundRect">
            <a:avLst>
              <a:gd name="adj" fmla="val 3529"/>
            </a:avLst>
          </a:prstGeom>
          <a:solidFill>
            <a:srgbClr val="F9FAFB">
              <a:alpha val="100000"/>
            </a:srgbClr>
          </a:solidFill>
          <a:ln w="12700" cap="flat" cmpd="sng">
            <a:solidFill>
              <a:srgbClr val="E6E6E6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7" name="AutoShape 27"/>
          <p:cNvSpPr/>
          <p:nvPr/>
        </p:nvSpPr>
        <p:spPr>
          <a:xfrm>
            <a:off x="6477000" y="2032000"/>
            <a:ext cx="4699000" cy="444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设备管理核心功能</a:t>
            </a:r>
            <a:endParaRPr lang="en-US" sz="1100"/>
          </a:p>
        </p:txBody>
      </p:sp>
      <p:sp>
        <p:nvSpPr>
          <p:cNvPr id="28" name="AutoShape 28"/>
          <p:cNvSpPr/>
          <p:nvPr/>
        </p:nvSpPr>
        <p:spPr>
          <a:xfrm>
            <a:off x="6477000" y="2794000"/>
            <a:ext cx="4699000" cy="1143000"/>
          </a:xfrm>
          <a:prstGeom prst="roundRect">
            <a:avLst>
              <a:gd name="adj" fmla="val 8888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9" name="Picture 29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6731000" y="3111500"/>
            <a:ext cx="508000" cy="508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30" name="AutoShape 30"/>
          <p:cNvSpPr/>
          <p:nvPr/>
        </p:nvSpPr>
        <p:spPr>
          <a:xfrm>
            <a:off x="7493000" y="2984500"/>
            <a:ext cx="3556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设备工控管理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300" b="0" i="0" u="none" strike="noStrike">
                <a:solidFill>
                  <a:srgbClr val="61616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远程控制设备启停，实时监控设备运行状态与异常告警。</a:t>
            </a:r>
            <a:endParaRPr lang="en-US" sz="1300" b="0" i="0" u="none" strike="noStrike">
              <a:solidFill>
                <a:srgbClr val="616161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31" name="AutoShape 31"/>
          <p:cNvSpPr/>
          <p:nvPr/>
        </p:nvSpPr>
        <p:spPr>
          <a:xfrm>
            <a:off x="6477000" y="4064000"/>
            <a:ext cx="4699000" cy="1143000"/>
          </a:xfrm>
          <a:prstGeom prst="roundRect">
            <a:avLst>
              <a:gd name="adj" fmla="val 8888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2" name="Picture 32"/>
          <p:cNvPicPr>
            <a:picLocks noChangeAspect="1"/>
          </p:cNvPicPr>
          <p:nvPr/>
        </p:nvPicPr>
        <p:blipFill>
          <a:blip r:embed="rId8"/>
          <a:srcRect/>
          <a:stretch>
            <a:fillRect/>
          </a:stretch>
        </p:blipFill>
        <p:spPr>
          <a:xfrm>
            <a:off x="6731000" y="4381500"/>
            <a:ext cx="508000" cy="508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33" name="AutoShape 33"/>
          <p:cNvSpPr/>
          <p:nvPr/>
        </p:nvSpPr>
        <p:spPr>
          <a:xfrm>
            <a:off x="7493000" y="4254500"/>
            <a:ext cx="3556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全生命周期档案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300" b="0" i="0" u="none" strike="noStrike">
                <a:solidFill>
                  <a:srgbClr val="61616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集中管理设备基础档案、安装位置、维护保养及维修记录。</a:t>
            </a:r>
            <a:endParaRPr lang="en-US" sz="1300" b="0" i="0" u="none" strike="noStrike">
              <a:solidFill>
                <a:srgbClr val="616161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34" name="AutoShape 34"/>
          <p:cNvSpPr/>
          <p:nvPr/>
        </p:nvSpPr>
        <p:spPr>
          <a:xfrm>
            <a:off x="6477000" y="5207000"/>
            <a:ext cx="4699000" cy="1143000"/>
          </a:xfrm>
          <a:prstGeom prst="roundRect">
            <a:avLst>
              <a:gd name="adj" fmla="val 8888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5" name="Picture 35"/>
          <p:cNvPicPr>
            <a:picLocks noChangeAspect="1"/>
          </p:cNvPicPr>
          <p:nvPr/>
        </p:nvPicPr>
        <p:blipFill>
          <a:blip r:embed="rId9"/>
          <a:srcRect/>
          <a:stretch>
            <a:fillRect/>
          </a:stretch>
        </p:blipFill>
        <p:spPr>
          <a:xfrm>
            <a:off x="6731000" y="5524500"/>
            <a:ext cx="508000" cy="508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36" name="AutoShape 36"/>
          <p:cNvSpPr/>
          <p:nvPr/>
        </p:nvSpPr>
        <p:spPr>
          <a:xfrm>
            <a:off x="7493000" y="5397500"/>
            <a:ext cx="3556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多源数据实时接入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300" b="0" i="0" u="none" strike="noStrike">
                <a:solidFill>
                  <a:srgbClr val="61616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兼容主流IoT协议，统一汇聚、清洗并可视化展示所有监测设备的实时数据。</a:t>
            </a:r>
            <a:endParaRPr lang="en-US" sz="1300" b="0" i="0" u="none" strike="noStrike">
              <a:solidFill>
                <a:srgbClr val="616161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utoShape 3"/>
          <p:cNvSpPr/>
          <p:nvPr/>
        </p:nvSpPr>
        <p:spPr>
          <a:xfrm>
            <a:off x="250825" y="1210945"/>
            <a:ext cx="5364480" cy="3990340"/>
          </a:xfrm>
          <a:prstGeom prst="roundRect">
            <a:avLst>
              <a:gd name="adj" fmla="val 3333"/>
            </a:avLst>
          </a:prstGeom>
          <a:blipFill rotWithShape="1">
            <a:blip r:embed="rId1"/>
            <a:stretch>
              <a:fillRect/>
            </a:stretch>
          </a:blip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4" name="AutoShape 3"/>
          <p:cNvSpPr/>
          <p:nvPr/>
        </p:nvSpPr>
        <p:spPr>
          <a:xfrm>
            <a:off x="10642600" y="0"/>
            <a:ext cx="1380490" cy="2218690"/>
          </a:xfrm>
          <a:prstGeom prst="roundRect">
            <a:avLst>
              <a:gd name="adj" fmla="val 3333"/>
            </a:avLst>
          </a:prstGeom>
          <a:blipFill rotWithShape="1">
            <a:blip r:embed="rId2"/>
            <a:stretch>
              <a:fillRect/>
            </a:stretch>
          </a:blip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5" name="AutoShape 3"/>
          <p:cNvSpPr/>
          <p:nvPr/>
        </p:nvSpPr>
        <p:spPr>
          <a:xfrm>
            <a:off x="10642600" y="2256790"/>
            <a:ext cx="1380490" cy="2104390"/>
          </a:xfrm>
          <a:prstGeom prst="roundRect">
            <a:avLst>
              <a:gd name="adj" fmla="val 3333"/>
            </a:avLst>
          </a:prstGeom>
          <a:blipFill rotWithShape="1">
            <a:blip r:embed="rId3"/>
            <a:stretch>
              <a:fillRect/>
            </a:stretch>
          </a:blip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6" name="AutoShape 3"/>
          <p:cNvSpPr/>
          <p:nvPr/>
        </p:nvSpPr>
        <p:spPr>
          <a:xfrm>
            <a:off x="10642600" y="4458970"/>
            <a:ext cx="1380490" cy="2399665"/>
          </a:xfrm>
          <a:prstGeom prst="roundRect">
            <a:avLst>
              <a:gd name="adj" fmla="val 3333"/>
            </a:avLst>
          </a:prstGeom>
          <a:blipFill rotWithShape="1">
            <a:blip r:embed="rId4"/>
            <a:stretch>
              <a:fillRect/>
            </a:stretch>
          </a:blip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" name="AutoShape 3"/>
          <p:cNvSpPr/>
          <p:nvPr/>
        </p:nvSpPr>
        <p:spPr>
          <a:xfrm>
            <a:off x="5050155" y="1669415"/>
            <a:ext cx="5364480" cy="3990340"/>
          </a:xfrm>
          <a:prstGeom prst="roundRect">
            <a:avLst>
              <a:gd name="adj" fmla="val 3333"/>
            </a:avLst>
          </a:prstGeom>
          <a:blipFill rotWithShape="1">
            <a:blip r:embed="rId5"/>
            <a:stretch>
              <a:fillRect/>
            </a:stretch>
          </a:blip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" name="AutoShape 3"/>
          <p:cNvSpPr/>
          <p:nvPr/>
        </p:nvSpPr>
        <p:spPr>
          <a:xfrm>
            <a:off x="2350135" y="2872740"/>
            <a:ext cx="5364480" cy="3990340"/>
          </a:xfrm>
          <a:prstGeom prst="roundRect">
            <a:avLst>
              <a:gd name="adj" fmla="val 3333"/>
            </a:avLst>
          </a:prstGeom>
          <a:blipFill rotWithShape="1">
            <a:blip r:embed="rId6"/>
            <a:stretch>
              <a:fillRect/>
            </a:stretch>
          </a:blip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2668682" y="331374"/>
            <a:ext cx="6159055" cy="739425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ctr">
              <a:lnSpc>
                <a:spcPct val="111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070707"/>
                </a:solidFill>
                <a:latin typeface="Noto Sans SC" panose="020B0200000000000000" charset="-122"/>
                <a:ea typeface="Noto Sans SC" panose="020B0200000000000000" charset="-122"/>
              </a:rPr>
              <a:t>设备管理·界面展示</a:t>
            </a:r>
            <a:endParaRPr sz="3600" b="1" i="0">
              <a:solidFill>
                <a:srgbClr val="070707"/>
              </a:solidFill>
              <a:latin typeface="Noto Sans SC" panose="020B0200000000000000" charset="-122"/>
              <a:ea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7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" name="AutoShape 3"/>
          <p:cNvSpPr/>
          <p:nvPr/>
        </p:nvSpPr>
        <p:spPr>
          <a:xfrm>
            <a:off x="762000" y="508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趣味营销：云认养 · 提前锁定销售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762000" y="1651000"/>
            <a:ext cx="2032000" cy="2159000"/>
          </a:xfrm>
          <a:prstGeom prst="roundRect">
            <a:avLst>
              <a:gd name="adj" fmla="val 5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5" name="Picture 5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52500" y="1905000"/>
            <a:ext cx="406400" cy="406400"/>
          </a:xfrm>
          <a:prstGeom prst="rect">
            <a:avLst/>
          </a:prstGeom>
        </p:spPr>
      </p:pic>
      <p:sp>
        <p:nvSpPr>
          <p:cNvPr id="6" name="AutoShape 6"/>
          <p:cNvSpPr/>
          <p:nvPr/>
        </p:nvSpPr>
        <p:spPr>
          <a:xfrm>
            <a:off x="1460500" y="1879600"/>
            <a:ext cx="1143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果树认养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889000" y="2667000"/>
            <a:ext cx="1778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消费者在线挑选并认养专属果树，支付认养费用建立绑定关系。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2984500" y="1651000"/>
            <a:ext cx="2032000" cy="2159000"/>
          </a:xfrm>
          <a:prstGeom prst="roundRect">
            <a:avLst>
              <a:gd name="adj" fmla="val 5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175000" y="1905000"/>
            <a:ext cx="406400" cy="406400"/>
          </a:xfrm>
          <a:prstGeom prst="rect">
            <a:avLst/>
          </a:prstGeom>
        </p:spPr>
      </p:pic>
      <p:sp>
        <p:nvSpPr>
          <p:cNvPr id="10" name="AutoShape 10"/>
          <p:cNvSpPr/>
          <p:nvPr/>
        </p:nvSpPr>
        <p:spPr>
          <a:xfrm>
            <a:off x="3683000" y="1879600"/>
            <a:ext cx="1143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成长直播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3111500" y="2667000"/>
            <a:ext cx="1778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通过照片、视频或实时摄像头，让认养者随时查看果树生长状态。</a:t>
            </a:r>
            <a:endParaRPr lang="en-US" sz="1100"/>
          </a:p>
        </p:txBody>
      </p:sp>
      <p:sp>
        <p:nvSpPr>
          <p:cNvPr id="12" name="AutoShape 12"/>
          <p:cNvSpPr/>
          <p:nvPr/>
        </p:nvSpPr>
        <p:spPr>
          <a:xfrm>
            <a:off x="5207000" y="1651000"/>
            <a:ext cx="2032000" cy="2159000"/>
          </a:xfrm>
          <a:prstGeom prst="roundRect">
            <a:avLst>
              <a:gd name="adj" fmla="val 5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3" name="Picture 13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397500" y="1905000"/>
            <a:ext cx="406400" cy="406400"/>
          </a:xfrm>
          <a:prstGeom prst="rect">
            <a:avLst/>
          </a:prstGeom>
        </p:spPr>
      </p:pic>
      <p:sp>
        <p:nvSpPr>
          <p:cNvPr id="14" name="AutoShape 14"/>
          <p:cNvSpPr/>
          <p:nvPr/>
        </p:nvSpPr>
        <p:spPr>
          <a:xfrm>
            <a:off x="5905500" y="1879600"/>
            <a:ext cx="1143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农事互动</a:t>
            </a:r>
            <a:endParaRPr lang="en-US" sz="1100"/>
          </a:p>
        </p:txBody>
      </p:sp>
      <p:sp>
        <p:nvSpPr>
          <p:cNvPr id="15" name="AutoShape 15"/>
          <p:cNvSpPr/>
          <p:nvPr/>
        </p:nvSpPr>
        <p:spPr>
          <a:xfrm>
            <a:off x="5334000" y="2667000"/>
            <a:ext cx="1778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认养者可远程参与浇水、施肥等趣味互动，体验真实的田园生活。</a:t>
            </a:r>
            <a:endParaRPr lang="en-US" sz="1100"/>
          </a:p>
        </p:txBody>
      </p:sp>
      <p:sp>
        <p:nvSpPr>
          <p:cNvPr id="16" name="AutoShape 16"/>
          <p:cNvSpPr/>
          <p:nvPr/>
        </p:nvSpPr>
        <p:spPr>
          <a:xfrm>
            <a:off x="7429500" y="1651000"/>
            <a:ext cx="2032000" cy="2159000"/>
          </a:xfrm>
          <a:prstGeom prst="roundRect">
            <a:avLst>
              <a:gd name="adj" fmla="val 5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7" name="Picture 17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620000" y="1905000"/>
            <a:ext cx="406400" cy="406400"/>
          </a:xfrm>
          <a:prstGeom prst="rect">
            <a:avLst/>
          </a:prstGeom>
        </p:spPr>
      </p:pic>
      <p:sp>
        <p:nvSpPr>
          <p:cNvPr id="18" name="AutoShape 18"/>
          <p:cNvSpPr/>
          <p:nvPr/>
        </p:nvSpPr>
        <p:spPr>
          <a:xfrm>
            <a:off x="8128000" y="1879600"/>
            <a:ext cx="1143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认养证书</a:t>
            </a:r>
            <a:endParaRPr lang="en-US" sz="1100"/>
          </a:p>
        </p:txBody>
      </p:sp>
      <p:sp>
        <p:nvSpPr>
          <p:cNvPr id="19" name="AutoShape 19"/>
          <p:cNvSpPr/>
          <p:nvPr/>
        </p:nvSpPr>
        <p:spPr>
          <a:xfrm>
            <a:off x="7556500" y="2667000"/>
            <a:ext cx="1778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生成独一无二的数字认养证书，方便用户分享到社交平台进行传播。</a:t>
            </a:r>
            <a:endParaRPr lang="en-US" sz="1100"/>
          </a:p>
        </p:txBody>
      </p:sp>
      <p:sp>
        <p:nvSpPr>
          <p:cNvPr id="20" name="AutoShape 20"/>
          <p:cNvSpPr/>
          <p:nvPr/>
        </p:nvSpPr>
        <p:spPr>
          <a:xfrm>
            <a:off x="9652000" y="1651000"/>
            <a:ext cx="2032000" cy="2159000"/>
          </a:xfrm>
          <a:prstGeom prst="roundRect">
            <a:avLst>
              <a:gd name="adj" fmla="val 5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1" name="Picture 21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842500" y="1905000"/>
            <a:ext cx="406400" cy="406400"/>
          </a:xfrm>
          <a:prstGeom prst="rect">
            <a:avLst/>
          </a:prstGeom>
        </p:spPr>
      </p:pic>
      <p:sp>
        <p:nvSpPr>
          <p:cNvPr id="22" name="AutoShape 22"/>
          <p:cNvSpPr/>
          <p:nvPr/>
        </p:nvSpPr>
        <p:spPr>
          <a:xfrm>
            <a:off x="10350500" y="1879600"/>
            <a:ext cx="1143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果实交付</a:t>
            </a:r>
            <a:endParaRPr lang="en-US" sz="1100"/>
          </a:p>
        </p:txBody>
      </p:sp>
      <p:sp>
        <p:nvSpPr>
          <p:cNvPr id="23" name="AutoShape 23"/>
          <p:cNvSpPr/>
          <p:nvPr/>
        </p:nvSpPr>
        <p:spPr>
          <a:xfrm>
            <a:off x="9779000" y="2667000"/>
            <a:ext cx="1778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果实成熟后，按约定直接将生态果实或定制礼盒寄送到家。</a:t>
            </a:r>
            <a:endParaRPr lang="en-US" sz="1100"/>
          </a:p>
        </p:txBody>
      </p:sp>
      <p:sp>
        <p:nvSpPr>
          <p:cNvPr id="24" name="AutoShape 24"/>
          <p:cNvSpPr/>
          <p:nvPr/>
        </p:nvSpPr>
        <p:spPr>
          <a:xfrm>
            <a:off x="762000" y="4191000"/>
            <a:ext cx="3378200" cy="1905000"/>
          </a:xfrm>
          <a:prstGeom prst="roundRect">
            <a:avLst>
              <a:gd name="adj" fmla="val 533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5" name="AutoShape 25"/>
          <p:cNvSpPr/>
          <p:nvPr/>
        </p:nvSpPr>
        <p:spPr>
          <a:xfrm>
            <a:off x="952500" y="4445000"/>
            <a:ext cx="29972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900" b="1" i="0" u="none" strike="noStrike">
                <a:solidFill>
                  <a:srgbClr val="22C55E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提前锁定销售</a:t>
            </a:r>
            <a:endParaRPr lang="en-US" sz="1100"/>
          </a:p>
        </p:txBody>
      </p:sp>
      <p:sp>
        <p:nvSpPr>
          <p:cNvPr id="26" name="AutoShape 26"/>
          <p:cNvSpPr/>
          <p:nvPr/>
        </p:nvSpPr>
        <p:spPr>
          <a:xfrm>
            <a:off x="952500" y="5207000"/>
            <a:ext cx="29972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l">
              <a:lnSpc>
                <a:spcPct val="117000"/>
              </a:lnSpc>
              <a:defRPr/>
            </a:pPr>
            <a:r>
              <a:rPr lang="en-US" sz="13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在果实生长初期即完成销售闭环，帮助农场快速回笼现金流，降低市场波动风险。</a:t>
            </a:r>
            <a:endParaRPr lang="en-US" sz="1100"/>
          </a:p>
        </p:txBody>
      </p:sp>
      <p:sp>
        <p:nvSpPr>
          <p:cNvPr id="27" name="AutoShape 27"/>
          <p:cNvSpPr/>
          <p:nvPr/>
        </p:nvSpPr>
        <p:spPr>
          <a:xfrm>
            <a:off x="4406900" y="4191000"/>
            <a:ext cx="3378200" cy="1905000"/>
          </a:xfrm>
          <a:prstGeom prst="roundRect">
            <a:avLst>
              <a:gd name="adj" fmla="val 533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8" name="AutoShape 28"/>
          <p:cNvSpPr/>
          <p:nvPr/>
        </p:nvSpPr>
        <p:spPr>
          <a:xfrm>
            <a:off x="4597400" y="4445000"/>
            <a:ext cx="29972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900" b="1" i="0" u="none" strike="noStrike">
                <a:solidFill>
                  <a:srgbClr val="22C55E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增强用户粘性</a:t>
            </a:r>
            <a:endParaRPr lang="en-US" sz="1100"/>
          </a:p>
        </p:txBody>
      </p:sp>
      <p:sp>
        <p:nvSpPr>
          <p:cNvPr id="29" name="AutoShape 29"/>
          <p:cNvSpPr/>
          <p:nvPr/>
        </p:nvSpPr>
        <p:spPr>
          <a:xfrm>
            <a:off x="4597400" y="5207000"/>
            <a:ext cx="29972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l">
              <a:lnSpc>
                <a:spcPct val="117000"/>
              </a:lnSpc>
              <a:defRPr/>
            </a:pPr>
            <a:r>
              <a:rPr lang="en-US" sz="13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从单纯的买卖关系转变为情感连接，通过高频互动实现用户留存与口碑裂变。</a:t>
            </a:r>
            <a:endParaRPr lang="en-US" sz="1100"/>
          </a:p>
        </p:txBody>
      </p:sp>
      <p:sp>
        <p:nvSpPr>
          <p:cNvPr id="30" name="AutoShape 30"/>
          <p:cNvSpPr/>
          <p:nvPr/>
        </p:nvSpPr>
        <p:spPr>
          <a:xfrm>
            <a:off x="8051800" y="4191000"/>
            <a:ext cx="3378200" cy="1905000"/>
          </a:xfrm>
          <a:prstGeom prst="roundRect">
            <a:avLst>
              <a:gd name="adj" fmla="val 533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1" name="AutoShape 31"/>
          <p:cNvSpPr/>
          <p:nvPr/>
        </p:nvSpPr>
        <p:spPr>
          <a:xfrm>
            <a:off x="8242300" y="4381500"/>
            <a:ext cx="29972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900" b="1" i="0" u="none" strike="noStrike">
                <a:solidFill>
                  <a:srgbClr val="22C55E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提升品牌溢价</a:t>
            </a:r>
            <a:r>
              <a:rPr lang="en-US" sz="2200" b="1" i="0" u="none" strike="noStrike">
                <a:solidFill>
                  <a:srgbClr val="DC262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30%-50%</a:t>
            </a:r>
            <a:endParaRPr lang="en-US" sz="1100"/>
          </a:p>
        </p:txBody>
      </p:sp>
      <p:sp>
        <p:nvSpPr>
          <p:cNvPr id="32" name="AutoShape 32"/>
          <p:cNvSpPr/>
          <p:nvPr/>
        </p:nvSpPr>
        <p:spPr>
          <a:xfrm>
            <a:off x="8242300" y="5207000"/>
            <a:ext cx="29972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l">
              <a:lnSpc>
                <a:spcPct val="117000"/>
              </a:lnSpc>
              <a:defRPr/>
            </a:pPr>
            <a:r>
              <a:rPr lang="en-US" sz="13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认养模式赋予农产品稀缺性与情感价值，使其脱离单纯价格竞争，获得更高的利润空间。</a:t>
            </a:r>
            <a:endParaRPr lang="en-US" sz="110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3"/>
          <p:cNvSpPr/>
          <p:nvPr/>
        </p:nvSpPr>
        <p:spPr>
          <a:xfrm>
            <a:off x="5401945" y="1155065"/>
            <a:ext cx="4527550" cy="3368040"/>
          </a:xfrm>
          <a:prstGeom prst="roundRect">
            <a:avLst>
              <a:gd name="adj" fmla="val 3333"/>
            </a:avLst>
          </a:prstGeom>
          <a:blipFill rotWithShape="1">
            <a:blip r:embed="rId1"/>
            <a:stretch>
              <a:fillRect/>
            </a:stretch>
          </a:blip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" name="AutoShape 3"/>
          <p:cNvSpPr/>
          <p:nvPr/>
        </p:nvSpPr>
        <p:spPr>
          <a:xfrm>
            <a:off x="318135" y="1155065"/>
            <a:ext cx="4773295" cy="3550285"/>
          </a:xfrm>
          <a:prstGeom prst="roundRect">
            <a:avLst>
              <a:gd name="adj" fmla="val 3333"/>
            </a:avLst>
          </a:prstGeom>
          <a:blipFill rotWithShape="1">
            <a:blip r:embed="rId2"/>
            <a:stretch>
              <a:fillRect/>
            </a:stretch>
          </a:blip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" name="AutoShape 3"/>
          <p:cNvSpPr/>
          <p:nvPr/>
        </p:nvSpPr>
        <p:spPr>
          <a:xfrm>
            <a:off x="1835785" y="3211195"/>
            <a:ext cx="4859655" cy="3615055"/>
          </a:xfrm>
          <a:prstGeom prst="roundRect">
            <a:avLst>
              <a:gd name="adj" fmla="val 3333"/>
            </a:avLst>
          </a:prstGeom>
          <a:blipFill rotWithShape="1">
            <a:blip r:embed="rId3"/>
            <a:stretch>
              <a:fillRect/>
            </a:stretch>
          </a:blip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4561713" y="326040"/>
            <a:ext cx="3156394" cy="450056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075" b="1" i="0">
                <a:solidFill>
                  <a:srgbClr val="000000"/>
                </a:solidFill>
                <a:latin typeface="Noto Sans SC" panose="020B0200000000000000" charset="-122"/>
                <a:ea typeface="Noto Sans SC" panose="020B0200000000000000" charset="-122"/>
              </a:rPr>
              <a:t>云认养·界面展示</a:t>
            </a:r>
            <a:endParaRPr sz="3075" b="1" i="0">
              <a:solidFill>
                <a:srgbClr val="000000"/>
              </a:solidFill>
              <a:latin typeface="Noto Sans SC" panose="020B0200000000000000" charset="-122"/>
              <a:ea typeface="Noto Sans SC" panose="020B0200000000000000" charset="-122"/>
            </a:endParaRP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30365" y="4523105"/>
            <a:ext cx="1623695" cy="221996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823202" y="4638611"/>
            <a:ext cx="1003744" cy="160782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just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</a:rPr>
              <a:t>果成长直播页面</a:t>
            </a:r>
            <a:endParaRPr sz="1125" b="0" i="0">
              <a:solidFill>
                <a:srgbClr val="FFFFFF"/>
              </a:solidFill>
              <a:latin typeface="Noto Sans SC" panose="020B0200000000000000" charset="-122"/>
              <a:ea typeface="Noto Sans SC" panose="020B0200000000000000" charset="-122"/>
            </a:endParaRPr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54123" y="4552901"/>
            <a:ext cx="2193607" cy="1751078"/>
          </a:xfrm>
          <a:prstGeom prst="rect">
            <a:avLst/>
          </a:prstGeom>
        </p:spPr>
      </p:pic>
      <p:sp>
        <p:nvSpPr>
          <p:cNvPr id="34" name="AutoShape 3"/>
          <p:cNvSpPr/>
          <p:nvPr/>
        </p:nvSpPr>
        <p:spPr>
          <a:xfrm>
            <a:off x="10155555" y="1137920"/>
            <a:ext cx="1571625" cy="3872865"/>
          </a:xfrm>
          <a:prstGeom prst="roundRect">
            <a:avLst>
              <a:gd name="adj" fmla="val 3333"/>
            </a:avLst>
          </a:prstGeom>
          <a:blipFill rotWithShape="1">
            <a:blip r:embed="rId6"/>
            <a:stretch>
              <a:fillRect/>
            </a:stretch>
          </a:blip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668000" cy="571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综合成效：数据说话，每一项指标都在变好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651000"/>
            <a:ext cx="3302000" cy="1587500"/>
          </a:xfrm>
          <a:prstGeom prst="roundRect">
            <a:avLst>
              <a:gd name="adj" fmla="val 64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952500" y="1841500"/>
            <a:ext cx="254000" cy="254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5" name="AutoShape 5"/>
          <p:cNvSpPr/>
          <p:nvPr/>
        </p:nvSpPr>
        <p:spPr>
          <a:xfrm>
            <a:off x="1333500" y="1803400"/>
            <a:ext cx="2540000" cy="3302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农事排程时间</a:t>
            </a:r>
            <a:endParaRPr lang="en-US" sz="1100"/>
          </a:p>
        </p:txBody>
      </p:sp>
      <p:sp>
        <p:nvSpPr>
          <p:cNvPr id="6" name="AutoShape 6"/>
          <p:cNvSpPr/>
          <p:nvPr/>
        </p:nvSpPr>
        <p:spPr>
          <a:xfrm>
            <a:off x="952500" y="2286000"/>
            <a:ext cx="29210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现状: 2小时/天 → 优化后: &lt;30分钟/天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952500" y="2794000"/>
            <a:ext cx="2921000" cy="317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效率提升 75%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4445000" y="1651000"/>
            <a:ext cx="3302000" cy="1587500"/>
          </a:xfrm>
          <a:prstGeom prst="roundRect">
            <a:avLst>
              <a:gd name="adj" fmla="val 64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4635500" y="1841500"/>
            <a:ext cx="254000" cy="254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0" name="AutoShape 10"/>
          <p:cNvSpPr/>
          <p:nvPr/>
        </p:nvSpPr>
        <p:spPr>
          <a:xfrm>
            <a:off x="5016500" y="1803400"/>
            <a:ext cx="2540000" cy="3302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农事记录完整率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4635500" y="2286000"/>
            <a:ext cx="29210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现状: &lt;30% → 优化后: &gt;80%</a:t>
            </a:r>
            <a:endParaRPr lang="en-US" sz="1100"/>
          </a:p>
        </p:txBody>
      </p:sp>
      <p:sp>
        <p:nvSpPr>
          <p:cNvPr id="12" name="AutoShape 12"/>
          <p:cNvSpPr/>
          <p:nvPr/>
        </p:nvSpPr>
        <p:spPr>
          <a:xfrm>
            <a:off x="4635500" y="2794000"/>
            <a:ext cx="2921000" cy="317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大幅提升 167%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>
            <a:off x="8128000" y="1651000"/>
            <a:ext cx="3302000" cy="1587500"/>
          </a:xfrm>
          <a:prstGeom prst="roundRect">
            <a:avLst>
              <a:gd name="adj" fmla="val 64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4" name="Picture 14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8318500" y="1841500"/>
            <a:ext cx="254000" cy="254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5" name="AutoShape 15"/>
          <p:cNvSpPr/>
          <p:nvPr/>
        </p:nvSpPr>
        <p:spPr>
          <a:xfrm>
            <a:off x="8699500" y="1803400"/>
            <a:ext cx="2540000" cy="3302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农资库存准确率</a:t>
            </a:r>
            <a:endParaRPr lang="en-US" sz="1100"/>
          </a:p>
        </p:txBody>
      </p:sp>
      <p:sp>
        <p:nvSpPr>
          <p:cNvPr id="16" name="AutoShape 16"/>
          <p:cNvSpPr/>
          <p:nvPr/>
        </p:nvSpPr>
        <p:spPr>
          <a:xfrm>
            <a:off x="8318500" y="2286000"/>
            <a:ext cx="29210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现状: ~60% → 优化后: &gt;95%</a:t>
            </a:r>
            <a:endParaRPr lang="en-US" sz="1100"/>
          </a:p>
        </p:txBody>
      </p:sp>
      <p:sp>
        <p:nvSpPr>
          <p:cNvPr id="17" name="AutoShape 17"/>
          <p:cNvSpPr/>
          <p:nvPr/>
        </p:nvSpPr>
        <p:spPr>
          <a:xfrm>
            <a:off x="8318500" y="2794000"/>
            <a:ext cx="2921000" cy="317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准确率提升 58%</a:t>
            </a:r>
            <a:endParaRPr lang="en-US" sz="1100"/>
          </a:p>
        </p:txBody>
      </p:sp>
      <p:sp>
        <p:nvSpPr>
          <p:cNvPr id="18" name="AutoShape 18"/>
          <p:cNvSpPr/>
          <p:nvPr/>
        </p:nvSpPr>
        <p:spPr>
          <a:xfrm>
            <a:off x="762000" y="3556000"/>
            <a:ext cx="3302000" cy="1587500"/>
          </a:xfrm>
          <a:prstGeom prst="roundRect">
            <a:avLst>
              <a:gd name="adj" fmla="val 64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9" name="Picture 19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952500" y="3746500"/>
            <a:ext cx="254000" cy="254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20" name="AutoShape 20"/>
          <p:cNvSpPr/>
          <p:nvPr/>
        </p:nvSpPr>
        <p:spPr>
          <a:xfrm>
            <a:off x="1333500" y="3708400"/>
            <a:ext cx="2540000" cy="3302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预警响应时间</a:t>
            </a:r>
            <a:endParaRPr lang="en-US" sz="1100"/>
          </a:p>
        </p:txBody>
      </p:sp>
      <p:sp>
        <p:nvSpPr>
          <p:cNvPr id="21" name="AutoShape 21"/>
          <p:cNvSpPr/>
          <p:nvPr/>
        </p:nvSpPr>
        <p:spPr>
          <a:xfrm>
            <a:off x="952500" y="4191000"/>
            <a:ext cx="29210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现状: 小时级 → 优化后: &lt;5分钟</a:t>
            </a:r>
            <a:endParaRPr lang="en-US" sz="1100"/>
          </a:p>
        </p:txBody>
      </p:sp>
      <p:sp>
        <p:nvSpPr>
          <p:cNvPr id="22" name="AutoShape 22"/>
          <p:cNvSpPr/>
          <p:nvPr/>
        </p:nvSpPr>
        <p:spPr>
          <a:xfrm>
            <a:off x="952500" y="4699000"/>
            <a:ext cx="2921000" cy="317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响应效率提升 &gt;90%</a:t>
            </a:r>
            <a:endParaRPr lang="en-US" sz="1100"/>
          </a:p>
        </p:txBody>
      </p:sp>
      <p:sp>
        <p:nvSpPr>
          <p:cNvPr id="23" name="AutoShape 23"/>
          <p:cNvSpPr/>
          <p:nvPr/>
        </p:nvSpPr>
        <p:spPr>
          <a:xfrm>
            <a:off x="4445000" y="3556000"/>
            <a:ext cx="3302000" cy="1587500"/>
          </a:xfrm>
          <a:prstGeom prst="roundRect">
            <a:avLst>
              <a:gd name="adj" fmla="val 64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4" name="Picture 24"/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4635500" y="3746500"/>
            <a:ext cx="254000" cy="254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25" name="AutoShape 25"/>
          <p:cNvSpPr/>
          <p:nvPr/>
        </p:nvSpPr>
        <p:spPr>
          <a:xfrm>
            <a:off x="5016500" y="3708400"/>
            <a:ext cx="2540000" cy="3302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巡园覆盖率</a:t>
            </a:r>
            <a:endParaRPr lang="en-US" sz="1100"/>
          </a:p>
        </p:txBody>
      </p:sp>
      <p:sp>
        <p:nvSpPr>
          <p:cNvPr id="26" name="AutoShape 26"/>
          <p:cNvSpPr/>
          <p:nvPr/>
        </p:nvSpPr>
        <p:spPr>
          <a:xfrm>
            <a:off x="4635500" y="4191000"/>
            <a:ext cx="29210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现状: 不可追踪 → 优化后: 全程可量化</a:t>
            </a:r>
            <a:endParaRPr lang="en-US" sz="1100"/>
          </a:p>
        </p:txBody>
      </p:sp>
      <p:sp>
        <p:nvSpPr>
          <p:cNvPr id="27" name="AutoShape 27"/>
          <p:cNvSpPr/>
          <p:nvPr/>
        </p:nvSpPr>
        <p:spPr>
          <a:xfrm>
            <a:off x="4635500" y="4699000"/>
            <a:ext cx="2921000" cy="317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管理全流程透明化</a:t>
            </a:r>
            <a:endParaRPr lang="en-US" sz="1100"/>
          </a:p>
        </p:txBody>
      </p:sp>
      <p:sp>
        <p:nvSpPr>
          <p:cNvPr id="28" name="AutoShape 28"/>
          <p:cNvSpPr/>
          <p:nvPr/>
        </p:nvSpPr>
        <p:spPr>
          <a:xfrm>
            <a:off x="8128000" y="3556000"/>
            <a:ext cx="3302000" cy="1587500"/>
          </a:xfrm>
          <a:prstGeom prst="roundRect">
            <a:avLst>
              <a:gd name="adj" fmla="val 64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9" name="Picture 29"/>
          <p:cNvPicPr>
            <a:picLocks noChangeAspect="1"/>
          </p:cNvPicPr>
          <p:nvPr/>
        </p:nvPicPr>
        <p:blipFill>
          <a:blip r:embed="rId6"/>
          <a:srcRect/>
          <a:stretch>
            <a:fillRect/>
          </a:stretch>
        </p:blipFill>
        <p:spPr>
          <a:xfrm>
            <a:off x="8318500" y="3746500"/>
            <a:ext cx="254000" cy="254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30" name="AutoShape 30"/>
          <p:cNvSpPr/>
          <p:nvPr/>
        </p:nvSpPr>
        <p:spPr>
          <a:xfrm>
            <a:off x="8699500" y="3708400"/>
            <a:ext cx="2540000" cy="3302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农事建议准确率</a:t>
            </a:r>
            <a:endParaRPr lang="en-US" sz="1100"/>
          </a:p>
        </p:txBody>
      </p:sp>
      <p:sp>
        <p:nvSpPr>
          <p:cNvPr id="31" name="AutoShape 31"/>
          <p:cNvSpPr/>
          <p:nvPr/>
        </p:nvSpPr>
        <p:spPr>
          <a:xfrm>
            <a:off x="8318500" y="4191000"/>
            <a:ext cx="29210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现状: 经验驱动 → 优化后: 数据驱动</a:t>
            </a:r>
            <a:endParaRPr lang="en-US" sz="1100"/>
          </a:p>
        </p:txBody>
      </p:sp>
      <p:sp>
        <p:nvSpPr>
          <p:cNvPr id="32" name="AutoShape 32"/>
          <p:cNvSpPr/>
          <p:nvPr/>
        </p:nvSpPr>
        <p:spPr>
          <a:xfrm>
            <a:off x="8318500" y="4699000"/>
            <a:ext cx="2921000" cy="317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建议准确率达 70%+</a:t>
            </a:r>
            <a:endParaRPr lang="en-US" sz="1100"/>
          </a:p>
        </p:txBody>
      </p:sp>
      <p:sp>
        <p:nvSpPr>
          <p:cNvPr id="33" name="AutoShape 33"/>
          <p:cNvSpPr/>
          <p:nvPr/>
        </p:nvSpPr>
        <p:spPr>
          <a:xfrm>
            <a:off x="762000" y="5207000"/>
            <a:ext cx="3302000" cy="1397000"/>
          </a:xfrm>
          <a:prstGeom prst="roundRect">
            <a:avLst>
              <a:gd name="adj" fmla="val 7272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4" name="Picture 34"/>
          <p:cNvPicPr>
            <a:picLocks noChangeAspect="1"/>
          </p:cNvPicPr>
          <p:nvPr/>
        </p:nvPicPr>
        <p:blipFill>
          <a:blip r:embed="rId7"/>
          <a:srcRect/>
          <a:stretch>
            <a:fillRect/>
          </a:stretch>
        </p:blipFill>
        <p:spPr>
          <a:xfrm>
            <a:off x="952500" y="5359400"/>
            <a:ext cx="228600" cy="2286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35" name="AutoShape 35"/>
          <p:cNvSpPr/>
          <p:nvPr/>
        </p:nvSpPr>
        <p:spPr>
          <a:xfrm>
            <a:off x="1270000" y="5334000"/>
            <a:ext cx="2667000" cy="2794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产量预估误差</a:t>
            </a:r>
            <a:endParaRPr lang="en-US" sz="1100"/>
          </a:p>
        </p:txBody>
      </p:sp>
      <p:sp>
        <p:nvSpPr>
          <p:cNvPr id="36" name="AutoShape 36"/>
          <p:cNvSpPr/>
          <p:nvPr/>
        </p:nvSpPr>
        <p:spPr>
          <a:xfrm>
            <a:off x="952500" y="5715000"/>
            <a:ext cx="2921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从无预估到实现 ±8% 以内的精准预测</a:t>
            </a:r>
            <a:endParaRPr lang="en-US" sz="1100"/>
          </a:p>
          <a:p>
            <a:pPr indent="0" algn="ctr">
              <a:lnSpc>
                <a:spcPct val="125000"/>
              </a:lnSpc>
            </a:pPr>
            <a:r>
              <a:rPr lang="en-US" sz="14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产销协同更高效</a:t>
            </a:r>
            <a:endParaRPr lang="en-US" sz="1400" b="1" i="0" u="none" strike="noStrike">
              <a:solidFill>
                <a:srgbClr val="4CAF5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37" name="AutoShape 37"/>
          <p:cNvSpPr/>
          <p:nvPr/>
        </p:nvSpPr>
        <p:spPr>
          <a:xfrm>
            <a:off x="4445000" y="5207000"/>
            <a:ext cx="3302000" cy="1397000"/>
          </a:xfrm>
          <a:prstGeom prst="roundRect">
            <a:avLst>
              <a:gd name="adj" fmla="val 7272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8" name="Picture 38"/>
          <p:cNvPicPr>
            <a:picLocks noChangeAspect="1"/>
          </p:cNvPicPr>
          <p:nvPr/>
        </p:nvPicPr>
        <p:blipFill>
          <a:blip r:embed="rId8"/>
          <a:srcRect/>
          <a:stretch>
            <a:fillRect/>
          </a:stretch>
        </p:blipFill>
        <p:spPr>
          <a:xfrm>
            <a:off x="4635500" y="5359400"/>
            <a:ext cx="228600" cy="2286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39" name="AutoShape 39"/>
          <p:cNvSpPr/>
          <p:nvPr/>
        </p:nvSpPr>
        <p:spPr>
          <a:xfrm>
            <a:off x="4953000" y="5334000"/>
            <a:ext cx="2667000" cy="2794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品牌溢价能力</a:t>
            </a:r>
            <a:endParaRPr lang="en-US" sz="1100"/>
          </a:p>
        </p:txBody>
      </p:sp>
      <p:sp>
        <p:nvSpPr>
          <p:cNvPr id="40" name="AutoShape 40"/>
          <p:cNvSpPr/>
          <p:nvPr/>
        </p:nvSpPr>
        <p:spPr>
          <a:xfrm>
            <a:off x="4635500" y="5715000"/>
            <a:ext cx="2921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从无溯源到实现全程可追溯管理</a:t>
            </a:r>
            <a:endParaRPr lang="en-US" sz="1100"/>
          </a:p>
          <a:p>
            <a:pPr indent="0" algn="ctr">
              <a:lnSpc>
                <a:spcPct val="125000"/>
              </a:lnSpc>
            </a:pPr>
            <a:r>
              <a:rPr lang="en-US" sz="14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品牌价值提升 10%+</a:t>
            </a:r>
            <a:endParaRPr lang="en-US" sz="1400" b="1" i="0" u="none" strike="noStrike">
              <a:solidFill>
                <a:srgbClr val="4CAF5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41" name="AutoShape 41"/>
          <p:cNvSpPr/>
          <p:nvPr/>
        </p:nvSpPr>
        <p:spPr>
          <a:xfrm>
            <a:off x="8128000" y="5207000"/>
            <a:ext cx="3302000" cy="1397000"/>
          </a:xfrm>
          <a:prstGeom prst="roundRect">
            <a:avLst>
              <a:gd name="adj" fmla="val 7272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42" name="Picture 42"/>
          <p:cNvPicPr>
            <a:picLocks noChangeAspect="1"/>
          </p:cNvPicPr>
          <p:nvPr/>
        </p:nvPicPr>
        <p:blipFill>
          <a:blip r:embed="rId9"/>
          <a:srcRect/>
          <a:stretch>
            <a:fillRect/>
          </a:stretch>
        </p:blipFill>
        <p:spPr>
          <a:xfrm>
            <a:off x="8318500" y="5359400"/>
            <a:ext cx="228600" cy="2286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43" name="AutoShape 43"/>
          <p:cNvSpPr/>
          <p:nvPr/>
        </p:nvSpPr>
        <p:spPr>
          <a:xfrm>
            <a:off x="8636000" y="5334000"/>
            <a:ext cx="2667000" cy="2794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整体效益总结</a:t>
            </a:r>
            <a:endParaRPr lang="en-US" sz="1100"/>
          </a:p>
        </p:txBody>
      </p:sp>
      <p:sp>
        <p:nvSpPr>
          <p:cNvPr id="44" name="AutoShape 44"/>
          <p:cNvSpPr/>
          <p:nvPr/>
        </p:nvSpPr>
        <p:spPr>
          <a:xfrm>
            <a:off x="8318500" y="5715000"/>
            <a:ext cx="2921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解决痛点，实现降本增效提质</a:t>
            </a:r>
            <a:endParaRPr lang="en-US" sz="1100"/>
          </a:p>
          <a:p>
            <a:pPr indent="0" algn="ctr">
              <a:lnSpc>
                <a:spcPct val="125000"/>
              </a:lnSpc>
            </a:pPr>
            <a:r>
              <a:rPr lang="en-US" sz="14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全方位的业务价值增长</a:t>
            </a:r>
            <a:endParaRPr lang="en-US" sz="1400" b="1" i="0" u="none" strike="noStrike">
              <a:solidFill>
                <a:srgbClr val="4CAF50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668000" cy="571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投资回报分析：真实客户收益，数据验证价值</a:t>
            </a:r>
            <a:endParaRPr lang="en-US" sz="1100"/>
          </a:p>
        </p:txBody>
      </p:sp>
      <p:sp>
        <p:nvSpPr>
          <p:cNvPr id="3" name="AutoShape 3"/>
          <p:cNvSpPr/>
          <p:nvPr>
            <p:custDataLst>
              <p:tags r:id="rId1"/>
            </p:custDataLst>
          </p:nvPr>
        </p:nvSpPr>
        <p:spPr>
          <a:xfrm>
            <a:off x="762000" y="1651000"/>
            <a:ext cx="5207000" cy="3048000"/>
          </a:xfrm>
          <a:prstGeom prst="roundRect">
            <a:avLst>
              <a:gd name="adj" fmla="val 5000"/>
            </a:avLst>
          </a:prstGeom>
          <a:solidFill>
            <a:srgbClr val="F9FAFB">
              <a:alpha val="100000"/>
            </a:srgbClr>
          </a:solidFill>
          <a:ln w="12700" cap="flat" cmpd="sng">
            <a:solidFill>
              <a:srgbClr val="EBEB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4" name="Picture 4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3"/>
          <a:srcRect/>
          <a:stretch>
            <a:fillRect/>
          </a:stretch>
        </p:blipFill>
        <p:spPr>
          <a:xfrm>
            <a:off x="1066800" y="1955800"/>
            <a:ext cx="406400" cy="4064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5" name="AutoShape 5"/>
          <p:cNvSpPr/>
          <p:nvPr>
            <p:custDataLst>
              <p:tags r:id="rId4"/>
            </p:custDataLst>
          </p:nvPr>
        </p:nvSpPr>
        <p:spPr>
          <a:xfrm>
            <a:off x="1651000" y="1930400"/>
            <a:ext cx="3937000" cy="4572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投入分析</a:t>
            </a:r>
            <a:endParaRPr lang="en-US" sz="1100"/>
          </a:p>
        </p:txBody>
      </p:sp>
      <p:sp>
        <p:nvSpPr>
          <p:cNvPr id="6" name="AutoShape 6"/>
          <p:cNvSpPr/>
          <p:nvPr>
            <p:custDataLst>
              <p:tags r:id="rId5"/>
            </p:custDataLst>
          </p:nvPr>
        </p:nvSpPr>
        <p:spPr>
          <a:xfrm>
            <a:off x="1066800" y="2411730"/>
            <a:ext cx="4597400" cy="216027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7000"/>
              </a:lnSpc>
              <a:defRPr/>
            </a:pPr>
            <a:r>
              <a:rPr lang="en-US" sz="1300" b="1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系统部署成本：</a:t>
            </a:r>
            <a:r>
              <a:rPr lang="en-US" sz="13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智慧果园管理系统的开发与搭建费用。</a:t>
            </a:r>
            <a:endParaRPr lang="en-US" sz="1100"/>
          </a:p>
          <a:p>
            <a:pPr indent="0" algn="l">
              <a:lnSpc>
                <a:spcPct val="117000"/>
              </a:lnSpc>
            </a:pPr>
            <a:r>
              <a:rPr lang="en-US" sz="1300" b="1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设备接入成本：</a:t>
            </a:r>
            <a:r>
              <a:rPr lang="en-US" sz="13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物联网传感器、智能监测硬件及网络设施。</a:t>
            </a:r>
            <a:endParaRPr lang="en-US" sz="1300" b="0" i="0" u="none" strike="noStrike">
              <a:solidFill>
                <a:srgbClr val="55555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indent="0" algn="l">
              <a:lnSpc>
                <a:spcPct val="117000"/>
              </a:lnSpc>
            </a:pPr>
            <a:r>
              <a:rPr lang="en-US" sz="1300" b="1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培训实施成本：</a:t>
            </a:r>
            <a:r>
              <a:rPr lang="en-US" sz="13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为员工提供系统与数字化种植的专业培训。</a:t>
            </a:r>
            <a:endParaRPr lang="en-US" sz="1300" b="0" i="0" u="none" strike="noStrike">
              <a:solidFill>
                <a:srgbClr val="55555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indent="0" algn="l">
              <a:lnSpc>
                <a:spcPct val="117000"/>
              </a:lnSpc>
            </a:pPr>
            <a:r>
              <a:rPr lang="en-US" sz="1300" b="1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运营维护成本：</a:t>
            </a:r>
            <a:r>
              <a:rPr lang="en-US" sz="13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系统定期升级与硬件设备的日常巡检维护。</a:t>
            </a:r>
            <a:endParaRPr lang="en-US" sz="1300" b="0" i="0" u="none" strike="noStrike">
              <a:solidFill>
                <a:srgbClr val="55555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7" name="AutoShape 7"/>
          <p:cNvSpPr/>
          <p:nvPr>
            <p:custDataLst>
              <p:tags r:id="rId6"/>
            </p:custDataLst>
          </p:nvPr>
        </p:nvSpPr>
        <p:spPr>
          <a:xfrm>
            <a:off x="6223000" y="1651000"/>
            <a:ext cx="5207000" cy="3048000"/>
          </a:xfrm>
          <a:prstGeom prst="roundRect">
            <a:avLst>
              <a:gd name="adj" fmla="val 5000"/>
            </a:avLst>
          </a:prstGeom>
          <a:solidFill>
            <a:srgbClr val="F9FAFB">
              <a:alpha val="100000"/>
            </a:srgbClr>
          </a:solidFill>
          <a:ln w="12700" cap="flat" cmpd="sng">
            <a:solidFill>
              <a:srgbClr val="EBEB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8" name="Picture 8"/>
          <p:cNvPicPr>
            <a:picLocks noChangeAspect="1"/>
          </p:cNvPicPr>
          <p:nvPr>
            <p:custDataLst>
              <p:tags r:id="rId7"/>
            </p:custDataLst>
          </p:nvPr>
        </p:nvPicPr>
        <p:blipFill>
          <a:blip r:embed="rId8"/>
          <a:srcRect/>
          <a:stretch>
            <a:fillRect/>
          </a:stretch>
        </p:blipFill>
        <p:spPr>
          <a:xfrm>
            <a:off x="6527800" y="1955800"/>
            <a:ext cx="406400" cy="4064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9" name="AutoShape 9"/>
          <p:cNvSpPr/>
          <p:nvPr>
            <p:custDataLst>
              <p:tags r:id="rId9"/>
            </p:custDataLst>
          </p:nvPr>
        </p:nvSpPr>
        <p:spPr>
          <a:xfrm>
            <a:off x="7112000" y="1930400"/>
            <a:ext cx="3937000" cy="4572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产出分析</a:t>
            </a:r>
            <a:endParaRPr lang="en-US" sz="1100"/>
          </a:p>
        </p:txBody>
      </p:sp>
      <p:sp>
        <p:nvSpPr>
          <p:cNvPr id="10" name="AutoShape 10"/>
          <p:cNvSpPr/>
          <p:nvPr>
            <p:custDataLst>
              <p:tags r:id="rId10"/>
            </p:custDataLst>
          </p:nvPr>
        </p:nvSpPr>
        <p:spPr>
          <a:xfrm>
            <a:off x="6527800" y="2667000"/>
            <a:ext cx="4597400" cy="1905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7000"/>
              </a:lnSpc>
              <a:defRPr/>
            </a:pPr>
            <a:r>
              <a:rPr lang="en-US" sz="13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▶ 成本节约：</a:t>
            </a:r>
            <a:r>
              <a:rPr lang="en-US" sz="13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优化人工排班降低人力成本，精准控制农资投入减少浪费，智能预警降低自然灾害带来的损失。</a:t>
            </a:r>
            <a:endParaRPr lang="en-US" sz="1100"/>
          </a:p>
          <a:p>
            <a:pPr indent="0" algn="l">
              <a:lnSpc>
                <a:spcPct val="117000"/>
              </a:lnSpc>
            </a:pPr>
            <a:r>
              <a:rPr lang="en-US" sz="13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▶ 收益提升：</a:t>
            </a:r>
            <a:r>
              <a:rPr lang="en-US" sz="13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科学种植显著提升产量与果实品质，打造数字化农业标杆，实现品牌溢价，拓宽销售渠道。</a:t>
            </a:r>
            <a:endParaRPr lang="en-US" sz="1300" b="0" i="0" u="none" strike="noStrike">
              <a:solidFill>
                <a:srgbClr val="55555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indent="0" algn="l">
              <a:lnSpc>
                <a:spcPct val="117000"/>
              </a:lnSpc>
            </a:pPr>
            <a:r>
              <a:rPr lang="en-US" sz="13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▶ 效率提升：</a:t>
            </a:r>
            <a:r>
              <a:rPr lang="en-US" sz="13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实现生产过程全流程数字化管理，数据驱动科学决策，快速响应市场需求与突发状况。</a:t>
            </a:r>
            <a:endParaRPr lang="en-US" sz="1300" b="0" i="0" u="none" strike="noStrike">
              <a:solidFill>
                <a:srgbClr val="55555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1" name="AutoShape 11"/>
          <p:cNvSpPr/>
          <p:nvPr>
            <p:custDataLst>
              <p:tags r:id="rId11"/>
            </p:custDataLst>
          </p:nvPr>
        </p:nvSpPr>
        <p:spPr>
          <a:xfrm>
            <a:off x="762000" y="4953000"/>
            <a:ext cx="5207000" cy="1397000"/>
          </a:xfrm>
          <a:prstGeom prst="roundRect">
            <a:avLst>
              <a:gd name="adj" fmla="val 10909"/>
            </a:avLst>
          </a:prstGeom>
          <a:solidFill>
            <a:srgbClr val="4CAF5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2" name="Picture 12"/>
          <p:cNvPicPr>
            <a:picLocks noChangeAspect="1"/>
          </p:cNvPicPr>
          <p:nvPr>
            <p:custDataLst>
              <p:tags r:id="rId12"/>
            </p:custDataLst>
          </p:nvPr>
        </p:nvPicPr>
        <p:blipFill>
          <a:blip r:embed="rId13"/>
          <a:srcRect/>
          <a:stretch>
            <a:fillRect/>
          </a:stretch>
        </p:blipFill>
        <p:spPr>
          <a:xfrm>
            <a:off x="1066800" y="5308600"/>
            <a:ext cx="609600" cy="6096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3" name="AutoShape 13"/>
          <p:cNvSpPr/>
          <p:nvPr>
            <p:custDataLst>
              <p:tags r:id="rId14"/>
            </p:custDataLst>
          </p:nvPr>
        </p:nvSpPr>
        <p:spPr>
          <a:xfrm>
            <a:off x="1905000" y="5207000"/>
            <a:ext cx="3683000" cy="1016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0" i="0" u="none" strike="noStrike">
                <a:solidFill>
                  <a:srgbClr val="FFFFFF">
                    <a:alpha val="90196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预计投资回收期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28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18 - 24 个月</a:t>
            </a:r>
            <a:endParaRPr lang="en-US" sz="2800" b="1" i="0" u="none" strike="noStrike">
              <a:solidFill>
                <a:srgbClr val="FFFFFF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4" name="AutoShape 14"/>
          <p:cNvSpPr/>
          <p:nvPr>
            <p:custDataLst>
              <p:tags r:id="rId15"/>
            </p:custDataLst>
          </p:nvPr>
        </p:nvSpPr>
        <p:spPr>
          <a:xfrm>
            <a:off x="6223000" y="4953000"/>
            <a:ext cx="5207000" cy="1397000"/>
          </a:xfrm>
          <a:prstGeom prst="roundRect">
            <a:avLst>
              <a:gd name="adj" fmla="val 10909"/>
            </a:avLst>
          </a:prstGeom>
          <a:solidFill>
            <a:srgbClr val="4CAF5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5" name="Picture 15"/>
          <p:cNvPicPr>
            <a:picLocks noChangeAspect="1"/>
          </p:cNvPicPr>
          <p:nvPr>
            <p:custDataLst>
              <p:tags r:id="rId16"/>
            </p:custDataLst>
          </p:nvPr>
        </p:nvPicPr>
        <p:blipFill>
          <a:blip r:embed="rId17"/>
          <a:srcRect/>
          <a:stretch>
            <a:fillRect/>
          </a:stretch>
        </p:blipFill>
        <p:spPr>
          <a:xfrm>
            <a:off x="6527800" y="5308600"/>
            <a:ext cx="609600" cy="6096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6" name="AutoShape 16"/>
          <p:cNvSpPr/>
          <p:nvPr>
            <p:custDataLst>
              <p:tags r:id="rId18"/>
            </p:custDataLst>
          </p:nvPr>
        </p:nvSpPr>
        <p:spPr>
          <a:xfrm>
            <a:off x="7366000" y="5207000"/>
            <a:ext cx="3683000" cy="1016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0" i="0" u="none" strike="noStrike">
                <a:solidFill>
                  <a:srgbClr val="FFFFFF">
                    <a:alpha val="90196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预计年化投资回报率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28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40% - 60%</a:t>
            </a:r>
            <a:endParaRPr lang="en-US" sz="2800" b="1" i="0" u="none" strike="noStrike">
              <a:solidFill>
                <a:srgbClr val="FFFFFF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668000" cy="635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客户证言与产品路线图：他们正在使用，并将持续进化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651000"/>
            <a:ext cx="5207000" cy="4572000"/>
          </a:xfrm>
          <a:prstGeom prst="roundRect">
            <a:avLst>
              <a:gd name="adj" fmla="val 333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" name="AutoShape 4"/>
          <p:cNvSpPr/>
          <p:nvPr/>
        </p:nvSpPr>
        <p:spPr>
          <a:xfrm>
            <a:off x="1016000" y="1905000"/>
            <a:ext cx="4699000" cy="508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客户声音：真实价值的见证</a:t>
            </a:r>
            <a:endParaRPr lang="en-US" sz="1100"/>
          </a:p>
        </p:txBody>
      </p:sp>
      <p:pic>
        <p:nvPicPr>
          <p:cNvPr id="5" name="Picture 5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16000" y="2667000"/>
            <a:ext cx="406400" cy="406400"/>
          </a:xfrm>
          <a:prstGeom prst="rect">
            <a:avLst/>
          </a:prstGeom>
        </p:spPr>
      </p:pic>
      <p:sp>
        <p:nvSpPr>
          <p:cNvPr id="6" name="AutoShape 6"/>
          <p:cNvSpPr/>
          <p:nvPr/>
        </p:nvSpPr>
        <p:spPr>
          <a:xfrm>
            <a:off x="1651000" y="2603500"/>
            <a:ext cx="4064000" cy="1079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4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“以前决策靠拍脑袋，现在看数据说话，心里踏实多了。”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—— 某大型果业集团负责人</a:t>
            </a:r>
            <a:endParaRPr lang="en-US" sz="1200" b="0" i="0" u="none" strike="noStrike">
              <a:solidFill>
                <a:srgbClr val="66666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pic>
        <p:nvPicPr>
          <p:cNvPr id="7" name="Picture 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16000" y="3937000"/>
            <a:ext cx="406400" cy="406400"/>
          </a:xfrm>
          <a:prstGeom prst="rect">
            <a:avLst/>
          </a:prstGeom>
        </p:spPr>
      </p:pic>
      <p:sp>
        <p:nvSpPr>
          <p:cNvPr id="8" name="AutoShape 8"/>
          <p:cNvSpPr/>
          <p:nvPr/>
        </p:nvSpPr>
        <p:spPr>
          <a:xfrm>
            <a:off x="1651000" y="3873500"/>
            <a:ext cx="4064000" cy="1079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4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“没想到大爷大妈都能轻松上手，现在巡园效率太高了，问题发现得也早。”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—— 某基地管理者</a:t>
            </a:r>
            <a:endParaRPr lang="en-US" sz="1200" b="0" i="0" u="none" strike="noStrike">
              <a:solidFill>
                <a:srgbClr val="66666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16000" y="5207000"/>
            <a:ext cx="406400" cy="406400"/>
          </a:xfrm>
          <a:prstGeom prst="rect">
            <a:avLst/>
          </a:prstGeom>
        </p:spPr>
      </p:pic>
      <p:sp>
        <p:nvSpPr>
          <p:cNvPr id="10" name="AutoShape 10"/>
          <p:cNvSpPr/>
          <p:nvPr/>
        </p:nvSpPr>
        <p:spPr>
          <a:xfrm>
            <a:off x="1651000" y="5143500"/>
            <a:ext cx="4064000" cy="1079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4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“有了溯源码，消费者明显更信任我们的产品，愿意出更高的价格。”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—— 某合作社理事长</a:t>
            </a:r>
            <a:endParaRPr lang="en-US" sz="1200" b="0" i="0" u="none" strike="noStrike">
              <a:solidFill>
                <a:srgbClr val="66666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1" name="AutoShape 11"/>
          <p:cNvSpPr/>
          <p:nvPr/>
        </p:nvSpPr>
        <p:spPr>
          <a:xfrm>
            <a:off x="6223000" y="1651000"/>
            <a:ext cx="5207000" cy="4572000"/>
          </a:xfrm>
          <a:prstGeom prst="roundRect">
            <a:avLst>
              <a:gd name="adj" fmla="val 333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3" name="AutoShape 13"/>
          <p:cNvSpPr/>
          <p:nvPr/>
        </p:nvSpPr>
        <p:spPr>
          <a:xfrm>
            <a:off x="6403340" y="1905000"/>
            <a:ext cx="4954270" cy="4150995"/>
          </a:xfrm>
          <a:prstGeom prst="roundRect">
            <a:avLst>
              <a:gd name="adj" fmla="val 6956"/>
            </a:avLst>
          </a:prstGeom>
          <a:blipFill rotWithShape="1">
            <a:blip r:embed="rId7"/>
            <a:stretch>
              <a:fillRect/>
            </a:stretch>
          </a:blip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500000" y="6200000"/>
            <a:ext cx="1119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E2761"/>
                </a:solidFill>
              </a:defRPr>
            </a:pPr>
            <a:r>
              <a:t>产品路线图 · 持续进化</a:t>
            </a:r>
          </a:p>
          <a:p>
            <a:r>
              <a:rPr sz="1100" b="1">
                <a:solidFill>
                  <a:srgbClr val="065A82"/>
                </a:solidFill>
              </a:rPr>
              <a:t>  2026 Q3：</a:t>
            </a:r>
            <a:r>
              <a:rPr sz="1100">
                <a:solidFill>
                  <a:srgbClr val="333333"/>
                </a:solidFill>
              </a:rPr>
              <a:t>拓展水果品种支持（柑橘、葡萄、樱桃等）</a:t>
            </a:r>
          </a:p>
          <a:p>
            <a:r>
              <a:rPr sz="1100" b="1">
                <a:solidFill>
                  <a:srgbClr val="065A82"/>
                </a:solidFill>
              </a:rPr>
              <a:t>  2026 Q4：</a:t>
            </a:r>
            <a:r>
              <a:rPr sz="1100">
                <a:solidFill>
                  <a:srgbClr val="333333"/>
                </a:solidFill>
              </a:rPr>
              <a:t>上线碳足迹核算与绿色认证模块</a:t>
            </a:r>
          </a:p>
          <a:p>
            <a:r>
              <a:rPr sz="1100" b="1">
                <a:solidFill>
                  <a:srgbClr val="065A82"/>
                </a:solidFill>
              </a:rPr>
              <a:t>  2027 H1：</a:t>
            </a:r>
            <a:r>
              <a:rPr sz="1100">
                <a:solidFill>
                  <a:srgbClr val="333333"/>
                </a:solidFill>
              </a:rPr>
              <a:t>推出数字孪生果园，实现虚拟仿真管理</a:t>
            </a:r>
          </a:p>
          <a:p>
            <a:r>
              <a:rPr sz="1100" b="1">
                <a:solidFill>
                  <a:srgbClr val="065A82"/>
                </a:solidFill>
              </a:rPr>
              <a:t>  2027 H2：</a:t>
            </a:r>
            <a:r>
              <a:rPr sz="1100">
                <a:solidFill>
                  <a:srgbClr val="333333"/>
                </a:solidFill>
              </a:rPr>
              <a:t>对接金融保险服务，打造农业数据信用体系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668000" cy="571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携手共赢 · 合作模式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651000"/>
            <a:ext cx="3302000" cy="3175000"/>
          </a:xfrm>
          <a:prstGeom prst="roundRect">
            <a:avLst>
              <a:gd name="adj" fmla="val 32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" name="AutoShape 4"/>
          <p:cNvSpPr/>
          <p:nvPr/>
        </p:nvSpPr>
        <p:spPr>
          <a:xfrm>
            <a:off x="762000" y="1651000"/>
            <a:ext cx="3302000" cy="889000"/>
          </a:xfrm>
          <a:prstGeom prst="roundRect">
            <a:avLst>
              <a:gd name="adj" fmla="val 11428"/>
            </a:avLst>
          </a:prstGeom>
          <a:solidFill>
            <a:srgbClr val="4CAF5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5" name="AutoShape 5"/>
          <p:cNvSpPr/>
          <p:nvPr/>
        </p:nvSpPr>
        <p:spPr>
          <a:xfrm>
            <a:off x="762000" y="1778000"/>
            <a:ext cx="3302000" cy="635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2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基础版</a:t>
            </a:r>
            <a:endParaRPr lang="en-US" sz="1100"/>
          </a:p>
          <a:p>
            <a:pPr indent="0" algn="ctr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FFFFFF">
                    <a:alpha val="90196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适合起步阶段 | 1-3个基地</a:t>
            </a:r>
            <a:endParaRPr lang="en-US" sz="1200" b="0" i="0" u="none" strike="noStrike">
              <a:solidFill>
                <a:srgbClr val="FFFFFF">
                  <a:alpha val="90196"/>
                </a:srgbClr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6" name="AutoShape 6"/>
          <p:cNvSpPr/>
          <p:nvPr/>
        </p:nvSpPr>
        <p:spPr>
          <a:xfrm>
            <a:off x="952500" y="2794000"/>
            <a:ext cx="2921000" cy="1778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17000"/>
              </a:lnSpc>
              <a:defRPr/>
            </a:pPr>
            <a:r>
              <a:rPr lang="en-US" sz="26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¥ 20,000</a:t>
            </a:r>
            <a:r>
              <a:rPr lang="en-US" sz="13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/ 年 / 基地</a:t>
            </a:r>
            <a:endParaRPr lang="en-US" sz="1100"/>
          </a:p>
          <a:p>
            <a:pPr indent="0" algn="ctr">
              <a:lnSpc>
                <a:spcPct val="133000"/>
              </a:lnSpc>
              <a:spcBef>
                <a:spcPts val="1500"/>
              </a:spcBef>
            </a:pPr>
            <a:r>
              <a:rPr lang="en-US" sz="13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核心SaaS功能完整开放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3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标准工单系统基础支持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3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在线文档与视频教程</a:t>
            </a:r>
            <a:endParaRPr lang="en-US" sz="1300" b="0" i="0" u="none" strike="noStrike">
              <a:solidFill>
                <a:srgbClr val="55555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7" name="AutoShape 7"/>
          <p:cNvSpPr/>
          <p:nvPr/>
        </p:nvSpPr>
        <p:spPr>
          <a:xfrm>
            <a:off x="4445000" y="1524000"/>
            <a:ext cx="3302000" cy="3429000"/>
          </a:xfrm>
          <a:prstGeom prst="roundRect">
            <a:avLst>
              <a:gd name="adj" fmla="val 3076"/>
            </a:avLst>
          </a:prstGeom>
          <a:solidFill>
            <a:srgbClr val="FFFFFF">
              <a:alpha val="100000"/>
            </a:srgbClr>
          </a:solidFill>
          <a:ln w="25400" cap="flat" cmpd="sng">
            <a:solidFill>
              <a:srgbClr val="2E7D32">
                <a:alpha val="100000"/>
              </a:srgbClr>
            </a:solidFill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8" name="AutoShape 8"/>
          <p:cNvSpPr/>
          <p:nvPr/>
        </p:nvSpPr>
        <p:spPr>
          <a:xfrm>
            <a:off x="4445000" y="1524000"/>
            <a:ext cx="3302000" cy="1016000"/>
          </a:xfrm>
          <a:prstGeom prst="roundRect">
            <a:avLst>
              <a:gd name="adj" fmla="val 10000"/>
            </a:avLst>
          </a:prstGeom>
          <a:solidFill>
            <a:srgbClr val="2E7D32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9" name="AutoShape 9"/>
          <p:cNvSpPr/>
          <p:nvPr/>
        </p:nvSpPr>
        <p:spPr>
          <a:xfrm>
            <a:off x="4445000" y="1714500"/>
            <a:ext cx="3302000" cy="635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4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专业版</a:t>
            </a:r>
            <a:endParaRPr lang="en-US" sz="1100"/>
          </a:p>
          <a:p>
            <a:pPr indent="0" algn="ctr">
              <a:lnSpc>
                <a:spcPct val="125000"/>
              </a:lnSpc>
            </a:pPr>
            <a:r>
              <a:rPr lang="en-US" sz="1300" b="0" i="0" u="none" strike="noStrike">
                <a:solidFill>
                  <a:srgbClr val="FFFFFF">
                    <a:alpha val="94902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企业级首选 | &lt;10个基地</a:t>
            </a:r>
            <a:endParaRPr lang="en-US" sz="1300" b="0" i="0" u="none" strike="noStrike">
              <a:solidFill>
                <a:srgbClr val="FFFFFF">
                  <a:alpha val="94902"/>
                </a:srgbClr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0" name="AutoShape 10"/>
          <p:cNvSpPr/>
          <p:nvPr/>
        </p:nvSpPr>
        <p:spPr>
          <a:xfrm>
            <a:off x="4635500" y="2794000"/>
            <a:ext cx="2921000" cy="1905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17000"/>
              </a:lnSpc>
              <a:defRPr/>
            </a:pPr>
            <a:r>
              <a:rPr lang="en-US" sz="2800" b="1" i="0" u="none" strike="noStrike">
                <a:solidFill>
                  <a:srgbClr val="2E7D32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¥ 25,000</a:t>
            </a:r>
            <a:r>
              <a:rPr lang="en-US" sz="1300" b="0" i="0" u="none" strike="noStrike">
                <a:solidFill>
                  <a:srgbClr val="66666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/ 年 / 基地</a:t>
            </a:r>
            <a:endParaRPr lang="en-US" sz="1100"/>
          </a:p>
          <a:p>
            <a:pPr indent="0" algn="ctr">
              <a:lnSpc>
                <a:spcPct val="133000"/>
              </a:lnSpc>
              <a:spcBef>
                <a:spcPts val="1500"/>
              </a:spcBef>
            </a:pPr>
            <a:r>
              <a:rPr lang="en-US" sz="1300" b="0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系统全功能模块解锁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300" b="0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专属通道，问题优先响应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300" b="0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含2场线上/线下产品培训</a:t>
            </a:r>
            <a:endParaRPr lang="en-US" sz="1300" b="0" i="0" u="none" strike="noStrike">
              <a:solidFill>
                <a:srgbClr val="333333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1" name="AutoShape 11"/>
          <p:cNvSpPr/>
          <p:nvPr/>
        </p:nvSpPr>
        <p:spPr>
          <a:xfrm>
            <a:off x="8128000" y="1651000"/>
            <a:ext cx="3302000" cy="3175000"/>
          </a:xfrm>
          <a:prstGeom prst="roundRect">
            <a:avLst>
              <a:gd name="adj" fmla="val 32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2" name="AutoShape 12"/>
          <p:cNvSpPr/>
          <p:nvPr/>
        </p:nvSpPr>
        <p:spPr>
          <a:xfrm>
            <a:off x="8128000" y="1651000"/>
            <a:ext cx="3302000" cy="889000"/>
          </a:xfrm>
          <a:prstGeom prst="roundRect">
            <a:avLst>
              <a:gd name="adj" fmla="val 11428"/>
            </a:avLst>
          </a:prstGeom>
          <a:solidFill>
            <a:srgbClr val="1B5E2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3" name="AutoShape 13"/>
          <p:cNvSpPr/>
          <p:nvPr/>
        </p:nvSpPr>
        <p:spPr>
          <a:xfrm>
            <a:off x="8128000" y="1778000"/>
            <a:ext cx="3302000" cy="635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2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旗舰版</a:t>
            </a:r>
            <a:endParaRPr lang="en-US" sz="1100"/>
          </a:p>
          <a:p>
            <a:pPr indent="0" algn="ctr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FFFFFF">
                    <a:alpha val="90196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集团定制方案 | 10个以上基地</a:t>
            </a:r>
            <a:endParaRPr lang="en-US" sz="1200" b="0" i="0" u="none" strike="noStrike">
              <a:solidFill>
                <a:srgbClr val="FFFFFF">
                  <a:alpha val="90196"/>
                </a:srgbClr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4" name="AutoShape 14"/>
          <p:cNvSpPr/>
          <p:nvPr/>
        </p:nvSpPr>
        <p:spPr>
          <a:xfrm>
            <a:off x="8318500" y="2794000"/>
            <a:ext cx="2921000" cy="1778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17000"/>
              </a:lnSpc>
              <a:defRPr/>
            </a:pPr>
            <a:r>
              <a:rPr lang="en-US" sz="2600" b="1" i="0" u="none" strike="noStrike">
                <a:solidFill>
                  <a:srgbClr val="1B5E2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定制报价</a:t>
            </a:r>
            <a:endParaRPr lang="en-US" sz="1100"/>
          </a:p>
          <a:p>
            <a:pPr indent="0" algn="ctr">
              <a:lnSpc>
                <a:spcPct val="133000"/>
              </a:lnSpc>
              <a:spcBef>
                <a:spcPts val="1500"/>
              </a:spcBef>
            </a:pPr>
            <a:r>
              <a:rPr lang="en-US" sz="13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1对1专属VIP客户经理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3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系统功能定制开发支持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3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• 专家团队上门现场实施部署</a:t>
            </a:r>
            <a:endParaRPr lang="en-US" sz="1300" b="0" i="0" u="none" strike="noStrike">
              <a:solidFill>
                <a:srgbClr val="55555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5" name="AutoShape 15"/>
          <p:cNvSpPr/>
          <p:nvPr/>
        </p:nvSpPr>
        <p:spPr>
          <a:xfrm>
            <a:off x="762000" y="5270500"/>
            <a:ext cx="10668000" cy="1270000"/>
          </a:xfrm>
          <a:prstGeom prst="roundRect">
            <a:avLst>
              <a:gd name="adj" fmla="val 8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6" name="AutoShape 16"/>
          <p:cNvSpPr/>
          <p:nvPr/>
        </p:nvSpPr>
        <p:spPr>
          <a:xfrm>
            <a:off x="1016000" y="5524500"/>
            <a:ext cx="1905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全方位</a:t>
            </a:r>
            <a:b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服务保障体系</a:t>
            </a:r>
            <a:endParaRPr lang="en-US" sz="1100"/>
          </a:p>
        </p:txBody>
      </p:sp>
      <p:pic>
        <p:nvPicPr>
          <p:cNvPr id="17" name="Picture 17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3048000" y="5524500"/>
            <a:ext cx="279400" cy="2794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8" name="AutoShape 18"/>
          <p:cNvSpPr/>
          <p:nvPr/>
        </p:nvSpPr>
        <p:spPr>
          <a:xfrm>
            <a:off x="3429000" y="5486400"/>
            <a:ext cx="1270000" cy="635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7×24h技术支持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0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快速响应您的需求</a:t>
            </a:r>
            <a:endParaRPr lang="en-US" sz="1100"/>
          </a:p>
        </p:txBody>
      </p:sp>
      <p:pic>
        <p:nvPicPr>
          <p:cNvPr id="19" name="Picture 19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4953000" y="5524500"/>
            <a:ext cx="279400" cy="2794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20" name="AutoShape 20"/>
          <p:cNvSpPr/>
          <p:nvPr/>
        </p:nvSpPr>
        <p:spPr>
          <a:xfrm>
            <a:off x="5334000" y="5486400"/>
            <a:ext cx="1270000" cy="635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定期版本更新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0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持续迭代优化功能</a:t>
            </a:r>
            <a:endParaRPr lang="en-US" sz="1100"/>
          </a:p>
        </p:txBody>
      </p:sp>
      <p:pic>
        <p:nvPicPr>
          <p:cNvPr id="21" name="Picture 21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6858000" y="5524500"/>
            <a:ext cx="279400" cy="2794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22" name="AutoShape 22"/>
          <p:cNvSpPr/>
          <p:nvPr/>
        </p:nvSpPr>
        <p:spPr>
          <a:xfrm>
            <a:off x="7239000" y="5486400"/>
            <a:ext cx="1270000" cy="635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数据安全保障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0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确保备份与容灾恢复</a:t>
            </a:r>
            <a:endParaRPr lang="en-US" sz="1100"/>
          </a:p>
        </p:txBody>
      </p:sp>
      <p:pic>
        <p:nvPicPr>
          <p:cNvPr id="23" name="Picture 23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8763000" y="5524500"/>
            <a:ext cx="279400" cy="2794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24" name="AutoShape 24"/>
          <p:cNvSpPr/>
          <p:nvPr/>
        </p:nvSpPr>
        <p:spPr>
          <a:xfrm>
            <a:off x="9144000" y="5486400"/>
            <a:ext cx="1524000" cy="635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培训与实操</a:t>
            </a:r>
            <a:br>
              <a:rPr lang="en-US" sz="1600" b="0" i="0" u="none" strike="noStrike">
                <a:solidFill>
                  <a:srgbClr val="1F232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0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定制化现场与远程部署</a:t>
            </a:r>
            <a:endParaRPr lang="en-US" sz="110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8E9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508000"/>
            <a:ext cx="12192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3600" b="1" i="0" u="none" strike="noStrike">
                <a:solidFill>
                  <a:srgbClr val="4CAF5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立即行动，抢占千亿智慧果园先机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651000"/>
            <a:ext cx="3302000" cy="3556000"/>
          </a:xfrm>
          <a:prstGeom prst="roundRect">
            <a:avLst>
              <a:gd name="adj" fmla="val 4615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8F5E9">
                <a:alpha val="100000"/>
              </a:srgbClr>
            </a:solidFill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1016000" y="2032000"/>
            <a:ext cx="304800" cy="3048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5" name="AutoShape 5"/>
          <p:cNvSpPr/>
          <p:nvPr/>
        </p:nvSpPr>
        <p:spPr>
          <a:xfrm>
            <a:off x="1460500" y="2006600"/>
            <a:ext cx="24130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邮箱：</a:t>
            </a:r>
            <a:r>
              <a:rPr lang="en-US" sz="1400" b="0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user007a@126.com</a:t>
            </a:r>
            <a:endParaRPr lang="en-US" sz="1100"/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1016000" y="2921000"/>
            <a:ext cx="304800" cy="3048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7" name="AutoShape 7"/>
          <p:cNvSpPr/>
          <p:nvPr/>
        </p:nvSpPr>
        <p:spPr>
          <a:xfrm>
            <a:off x="1460500" y="2895600"/>
            <a:ext cx="24130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电话：</a:t>
            </a:r>
            <a:r>
              <a:rPr lang="en-US" sz="1400" b="0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15111480531</a:t>
            </a:r>
            <a:endParaRPr lang="en-US" sz="1100"/>
          </a:p>
        </p:txBody>
      </p:sp>
      <p:pic>
        <p:nvPicPr>
          <p:cNvPr id="8" name="Picture 8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1016000" y="3937000"/>
            <a:ext cx="304800" cy="3048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9" name="AutoShape 9"/>
          <p:cNvSpPr/>
          <p:nvPr/>
        </p:nvSpPr>
        <p:spPr>
          <a:xfrm>
            <a:off x="1460500" y="3873500"/>
            <a:ext cx="2413000" cy="1016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400" b="1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地址：</a:t>
            </a:r>
            <a:r>
              <a:rPr lang="en-US" sz="13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长沙市枫林三路</a:t>
            </a:r>
            <a:br>
              <a:rPr lang="en-US" sz="16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300" b="0" i="0" u="none" strike="noStrike">
                <a:solidFill>
                  <a:srgbClr val="55555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湘江智谷超算中心C区F栋308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4445000" y="1651000"/>
            <a:ext cx="3302000" cy="3556000"/>
          </a:xfrm>
          <a:prstGeom prst="roundRect">
            <a:avLst>
              <a:gd name="adj" fmla="val 4615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8F5E9">
                <a:alpha val="100000"/>
              </a:srgbClr>
            </a:solidFill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2" name="AutoShape 12"/>
          <p:cNvSpPr/>
          <p:nvPr/>
        </p:nvSpPr>
        <p:spPr>
          <a:xfrm>
            <a:off x="4445000" y="4000500"/>
            <a:ext cx="3302000" cy="1016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zh-CN" altLang="en-US" sz="18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添加解决方案专家微信</a:t>
            </a:r>
            <a:endParaRPr lang="en-US" sz="1100"/>
          </a:p>
          <a:p>
            <a:pPr indent="0" algn="ctr">
              <a:lnSpc>
                <a:spcPct val="100000"/>
              </a:lnSpc>
            </a:pPr>
            <a:r>
              <a:rPr lang="en-US" sz="13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获取详细解决方案与资讯</a:t>
            </a:r>
            <a:endParaRPr lang="en-US" sz="1300" b="0" i="0" u="none" strike="noStrike">
              <a:solidFill>
                <a:srgbClr val="75757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3" name="AutoShape 13"/>
          <p:cNvSpPr/>
          <p:nvPr/>
        </p:nvSpPr>
        <p:spPr>
          <a:xfrm>
            <a:off x="8128000" y="1651000"/>
            <a:ext cx="3302000" cy="3556000"/>
          </a:xfrm>
          <a:prstGeom prst="roundRect">
            <a:avLst>
              <a:gd name="adj" fmla="val 4615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8F5E9">
                <a:alpha val="100000"/>
              </a:srgbClr>
            </a:solidFill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4" name="Picture 14"/>
          <p:cNvPicPr>
            <a:picLocks noChangeAspect="1"/>
          </p:cNvPicPr>
          <p:nvPr/>
        </p:nvPicPr>
        <p:blipFill>
          <a:blip r:embed="rId4"/>
          <a:srcRect t="10742" b="10742"/>
          <a:stretch>
            <a:fillRect/>
          </a:stretch>
        </p:blipFill>
        <p:spPr>
          <a:xfrm>
            <a:off x="8763000" y="1968500"/>
            <a:ext cx="1778000" cy="1778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5" name="AutoShape 15"/>
          <p:cNvSpPr/>
          <p:nvPr/>
        </p:nvSpPr>
        <p:spPr>
          <a:xfrm>
            <a:off x="8128000" y="4000500"/>
            <a:ext cx="3302000" cy="1016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添加商务顾问微信</a:t>
            </a:r>
            <a:endParaRPr lang="en-US" sz="1100"/>
          </a:p>
          <a:p>
            <a:pPr indent="0" algn="ctr">
              <a:lnSpc>
                <a:spcPct val="100000"/>
              </a:lnSpc>
            </a:pPr>
            <a:r>
              <a:rPr lang="en-US" sz="1300" b="0" i="0" u="none" strike="noStrike">
                <a:solidFill>
                  <a:srgbClr val="75757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一对一专业种植咨询服务</a:t>
            </a:r>
            <a:endParaRPr lang="en-US" sz="1300" b="0" i="0" u="none" strike="noStrike">
              <a:solidFill>
                <a:srgbClr val="75757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6" name="AutoShape 16"/>
          <p:cNvSpPr/>
          <p:nvPr/>
        </p:nvSpPr>
        <p:spPr>
          <a:xfrm>
            <a:off x="0" y="5524500"/>
            <a:ext cx="12192000" cy="635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200" b="1" i="0" u="none" strike="noStrike">
                <a:solidFill>
                  <a:srgbClr val="33333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让苹果种植更省心、更科学、更赚钱</a:t>
            </a:r>
            <a:endParaRPr lang="en-US" sz="1100"/>
          </a:p>
        </p:txBody>
      </p:sp>
      <p:sp>
        <p:nvSpPr>
          <p:cNvPr id="17" name="AutoShape 17"/>
          <p:cNvSpPr/>
          <p:nvPr/>
        </p:nvSpPr>
        <p:spPr>
          <a:xfrm>
            <a:off x="0" y="6223000"/>
            <a:ext cx="9525000" cy="508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61616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—— 智道易农科技有限公司</a:t>
            </a:r>
            <a:endParaRPr lang="en-US" sz="1100"/>
          </a:p>
        </p:txBody>
      </p:sp>
      <p:pic>
        <p:nvPicPr>
          <p:cNvPr id="18" name="Picture 18"/>
          <p:cNvPicPr>
            <a:picLocks noChangeAspect="1"/>
          </p:cNvPicPr>
          <p:nvPr/>
        </p:nvPicPr>
        <p:blipFill>
          <a:blip r:embed="rId5"/>
          <a:srcRect l="387" r="387"/>
          <a:stretch>
            <a:fillRect/>
          </a:stretch>
        </p:blipFill>
        <p:spPr>
          <a:xfrm>
            <a:off x="9906000" y="6159500"/>
            <a:ext cx="1524000" cy="6731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pic>
        <p:nvPicPr>
          <p:cNvPr id="19" name="Picture 1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68000" y="6190112"/>
            <a:ext cx="1524000" cy="667888"/>
          </a:xfrm>
          <a:prstGeom prst="rect">
            <a:avLst/>
          </a:prstGeom>
        </p:spPr>
      </p:pic>
      <p:pic>
        <p:nvPicPr>
          <p:cNvPr id="20" name="Picture 14"/>
          <p:cNvPicPr>
            <a:picLocks noChangeAspect="1"/>
          </p:cNvPicPr>
          <p:nvPr/>
        </p:nvPicPr>
        <p:blipFill>
          <a:blip r:embed="rId4"/>
          <a:srcRect t="10742" b="10742"/>
          <a:stretch>
            <a:fillRect/>
          </a:stretch>
        </p:blipFill>
        <p:spPr>
          <a:xfrm>
            <a:off x="5207000" y="2095500"/>
            <a:ext cx="1778000" cy="1778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blipFill rotWithShape="1">
            <a:blip r:embed="rId1"/>
            <a:stretch>
              <a:fillRect/>
            </a:stretch>
          </a:blip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" name="AutoShape 3"/>
          <p:cNvSpPr/>
          <p:nvPr/>
        </p:nvSpPr>
        <p:spPr>
          <a:xfrm>
            <a:off x="0" y="1905000"/>
            <a:ext cx="12192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48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感谢聆听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5588000" y="3302000"/>
            <a:ext cx="1016000" cy="50800"/>
          </a:xfrm>
          <a:prstGeom prst="roundRect">
            <a:avLst>
              <a:gd name="adj" fmla="val 0"/>
            </a:avLst>
          </a:prstGeom>
          <a:solidFill>
            <a:srgbClr val="22C55E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5" name="AutoShape 5"/>
          <p:cNvSpPr/>
          <p:nvPr/>
        </p:nvSpPr>
        <p:spPr>
          <a:xfrm>
            <a:off x="0" y="3937000"/>
            <a:ext cx="12192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800" b="0" i="0" u="none" strike="noStrike">
                <a:solidFill>
                  <a:srgbClr val="FFFFFF">
                    <a:alpha val="94902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让苹果种植更省心 · 更科学 · 更赚钱</a:t>
            </a:r>
            <a:endParaRPr lang="en-US" sz="1100"/>
          </a:p>
        </p:txBody>
      </p:sp>
      <p:sp>
        <p:nvSpPr>
          <p:cNvPr id="6" name="AutoShape 6"/>
          <p:cNvSpPr/>
          <p:nvPr/>
        </p:nvSpPr>
        <p:spPr>
          <a:xfrm>
            <a:off x="0" y="5334000"/>
            <a:ext cx="12192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600" b="0" i="0" u="none" strike="noStrike">
                <a:solidFill>
                  <a:srgbClr val="FFFFFF">
                    <a:alpha val="70196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期待与您携手 · 共启智慧农业新篇章</a:t>
            </a:r>
            <a:endParaRPr lang="en-US" sz="1100"/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340,&quot;left&quot;:60,&quot;top&quot;:120,&quot;width&quot;:840}"/>
</p:tagLst>
</file>

<file path=ppt/tags/tag2.xml><?xml version="1.0" encoding="utf-8"?>
<p:tagLst xmlns:p="http://schemas.openxmlformats.org/presentationml/2006/main">
  <p:tag name="KSO_WM_DIAGRAM_VIRTUALLY_FRAME" val="{&quot;height&quot;:340,&quot;left&quot;:60,&quot;top&quot;:120,&quot;width&quot;:840}"/>
</p:tagLst>
</file>

<file path=ppt/tags/tag3.xml><?xml version="1.0" encoding="utf-8"?>
<p:tagLst xmlns:p="http://schemas.openxmlformats.org/presentationml/2006/main">
  <p:tag name="KSO_WM_DIAGRAM_VIRTUALLY_FRAME" val="{&quot;height&quot;:340,&quot;left&quot;:60,&quot;top&quot;:120,&quot;width&quot;:840}"/>
</p:tagLst>
</file>

<file path=ppt/tags/tag4.xml><?xml version="1.0" encoding="utf-8"?>
<p:tagLst xmlns:p="http://schemas.openxmlformats.org/presentationml/2006/main">
  <p:tag name="KSO_WM_DIAGRAM_VIRTUALLY_FRAME" val="{&quot;height&quot;:340,&quot;left&quot;:60,&quot;top&quot;:120,&quot;width&quot;:840}"/>
</p:tagLst>
</file>

<file path=ppt/tags/tag5.xml><?xml version="1.0" encoding="utf-8"?>
<p:tagLst xmlns:p="http://schemas.openxmlformats.org/presentationml/2006/main">
  <p:tag name="KSO_WM_DIAGRAM_VIRTUALLY_FRAME" val="{&quot;height&quot;:340,&quot;left&quot;:60,&quot;top&quot;:120,&quot;width&quot;:840}"/>
</p:tagLst>
</file>

<file path=ppt/tags/tag6.xml><?xml version="1.0" encoding="utf-8"?>
<p:tagLst xmlns:p="http://schemas.openxmlformats.org/presentationml/2006/main">
  <p:tag name="KSO_WM_DIAGRAM_VIRTUALLY_FRAME" val="{&quot;height&quot;:340,&quot;left&quot;:60,&quot;top&quot;:120,&quot;width&quot;:840}"/>
</p:tagLst>
</file>

<file path=ppt/tags/tag7.xml><?xml version="1.0" encoding="utf-8"?>
<p:tagLst xmlns:p="http://schemas.openxmlformats.org/presentationml/2006/main">
  <p:tag name="KSO_WM_DIAGRAM_VIRTUALLY_FRAME" val="{&quot;height&quot;:340,&quot;left&quot;:60,&quot;top&quot;:120,&quot;width&quot;:840}"/>
</p:tagLst>
</file>

<file path=ppt/tags/tag8.xml><?xml version="1.0" encoding="utf-8"?>
<p:tagLst xmlns:p="http://schemas.openxmlformats.org/presentationml/2006/main">
  <p:tag name="KSO_WM_DIAGRAM_VIRTUALLY_FRAME" val="{&quot;height&quot;:340,&quot;left&quot;:60,&quot;top&quot;:120,&quot;width&quot;:840}"/>
</p:tagLst>
</file>

<file path=ppt/tags/tag9.xml><?xml version="1.0" encoding="utf-8"?>
<p:tagLst xmlns:p="http://schemas.openxmlformats.org/presentationml/2006/main">
  <p:tag name="KSO_WM_DIAGRAM_VIRTUALLY_FRAME" val="{&quot;height&quot;:340,&quot;left&quot;:60,&quot;top&quot;:120,&quot;width&quot;:840}"/>
</p:tagLst>
</file>

<file path=ppt/tags/tag10.xml><?xml version="1.0" encoding="utf-8"?>
<p:tagLst xmlns:p="http://schemas.openxmlformats.org/presentationml/2006/main">
  <p:tag name="KSO_WM_DIAGRAM_VIRTUALLY_FRAME" val="{&quot;height&quot;:340,&quot;left&quot;:60,&quot;top&quot;:120,&quot;width&quot;:840}"/>
</p:tagLst>
</file>

<file path=ppt/tags/tag11.xml><?xml version="1.0" encoding="utf-8"?>
<p:tagLst xmlns:p="http://schemas.openxmlformats.org/presentationml/2006/main">
  <p:tag name="KSO_WM_DIAGRAM_VIRTUALLY_FRAME" val="{&quot;height&quot;:340,&quot;left&quot;:60,&quot;top&quot;:120,&quot;width&quot;:840}"/>
</p:tagLst>
</file>

<file path=ppt/tags/tag12.xml><?xml version="1.0" encoding="utf-8"?>
<p:tagLst xmlns:p="http://schemas.openxmlformats.org/presentationml/2006/main">
  <p:tag name="KSO_WM_DIAGRAM_VIRTUALLY_FRAME" val="{&quot;height&quot;:340,&quot;left&quot;:60,&quot;top&quot;:120,&quot;width&quot;:840}"/>
</p:tagLst>
</file>

<file path=ppt/tags/tag13.xml><?xml version="1.0" encoding="utf-8"?>
<p:tagLst xmlns:p="http://schemas.openxmlformats.org/presentationml/2006/main">
  <p:tag name="KSO_WM_DIAGRAM_VIRTUALLY_FRAME" val="{&quot;height&quot;:340,&quot;left&quot;:60,&quot;top&quot;:120,&quot;width&quot;:840}"/>
</p:tagLst>
</file>

<file path=ppt/tags/tag14.xml><?xml version="1.0" encoding="utf-8"?>
<p:tagLst xmlns:p="http://schemas.openxmlformats.org/presentationml/2006/main">
  <p:tag name="KSO_WM_DIAGRAM_VIRTUALLY_FRAME" val="{&quot;height&quot;:340,&quot;left&quot;:60,&quot;top&quot;:120,&quot;width&quot;:840}"/>
</p:tagLst>
</file>

<file path=ppt/tags/tag15.xml><?xml version="1.0" encoding="utf-8"?>
<p:tagLst xmlns:p="http://schemas.openxmlformats.org/presentationml/2006/main">
  <p:tag name="KSO_WM_DIAGRAM_VIRTUALLY_FRAME" val="{&quot;height&quot;:340,&quot;left&quot;:60,&quot;top&quot;:120,&quot;width&quot;:840}"/>
</p:tagLst>
</file>

<file path=ppt/tags/tag16.xml><?xml version="1.0" encoding="utf-8"?>
<p:tagLst xmlns:p="http://schemas.openxmlformats.org/presentationml/2006/main">
  <p:tag name="KSO_WM_DIAGRAM_VIRTUALLY_FRAME" val="{&quot;height&quot;:340,&quot;left&quot;:60,&quot;top&quot;:120,&quot;width&quot;:840}"/>
</p:tagLst>
</file>

<file path=ppt/tags/tag17.xml><?xml version="1.0" encoding="utf-8"?>
<p:tagLst xmlns:p="http://schemas.openxmlformats.org/presentationml/2006/main">
  <p:tag name="KSO_WM_DIAGRAM_VIRTUALLY_FRAME" val="{&quot;height&quot;:340,&quot;left&quot;:60,&quot;top&quot;:120,&quot;width&quot;:840}"/>
</p:tagLst>
</file>

<file path=ppt/tags/tag18.xml><?xml version="1.0" encoding="utf-8"?>
<p:tagLst xmlns:p="http://schemas.openxmlformats.org/presentationml/2006/main">
  <p:tag name="KSO_WM_DIAGRAM_VIRTUALLY_FRAME" val="{&quot;height&quot;:340,&quot;left&quot;:60,&quot;top&quot;:120,&quot;width&quot;:840}"/>
</p:tagLst>
</file>

<file path=ppt/tags/tag19.xml><?xml version="1.0" encoding="utf-8"?>
<p:tagLst xmlns:p="http://schemas.openxmlformats.org/presentationml/2006/main">
  <p:tag name="KSO_WM_DIAGRAM_VIRTUALLY_FRAME" val="{&quot;height&quot;:340,&quot;left&quot;:60,&quot;top&quot;:120,&quot;width&quot;:840}"/>
</p:tagLst>
</file>

<file path=ppt/tags/tag20.xml><?xml version="1.0" encoding="utf-8"?>
<p:tagLst xmlns:p="http://schemas.openxmlformats.org/presentationml/2006/main">
  <p:tag name="KSO_WM_DIAGRAM_VIRTUALLY_FRAME" val="{&quot;height&quot;:340,&quot;left&quot;:60,&quot;top&quot;:120,&quot;width&quot;:840}"/>
</p:tagLst>
</file>

<file path=ppt/tags/tag21.xml><?xml version="1.0" encoding="utf-8"?>
<p:tagLst xmlns:p="http://schemas.openxmlformats.org/presentationml/2006/main">
  <p:tag name="KSO_WM_DIAGRAM_VIRTUALLY_FRAME" val="{&quot;height&quot;:340,&quot;left&quot;:60,&quot;top&quot;:120,&quot;width&quot;:840}"/>
</p:tagLst>
</file>

<file path=ppt/tags/tag22.xml><?xml version="1.0" encoding="utf-8"?>
<p:tagLst xmlns:p="http://schemas.openxmlformats.org/presentationml/2006/main">
  <p:tag name="KSO_WM_DIAGRAM_VIRTUALLY_FRAME" val="{&quot;height&quot;:340,&quot;left&quot;:60,&quot;top&quot;:120,&quot;width&quot;:840}"/>
</p:tagLst>
</file>

<file path=ppt/tags/tag23.xml><?xml version="1.0" encoding="utf-8"?>
<p:tagLst xmlns:p="http://schemas.openxmlformats.org/presentationml/2006/main">
  <p:tag name="KSO_WM_DIAGRAM_VIRTUALLY_FRAME" val="{&quot;height&quot;:340,&quot;left&quot;:60,&quot;top&quot;:120,&quot;width&quot;:840}"/>
</p:tagLst>
</file>

<file path=ppt/tags/tag24.xml><?xml version="1.0" encoding="utf-8"?>
<p:tagLst xmlns:p="http://schemas.openxmlformats.org/presentationml/2006/main">
  <p:tag name="KSO_WM_DIAGRAM_VIRTUALLY_FRAME" val="{&quot;height&quot;:340,&quot;left&quot;:60,&quot;top&quot;:120,&quot;width&quot;:840}"/>
</p:tagLst>
</file>

<file path=ppt/tags/tag25.xml><?xml version="1.0" encoding="utf-8"?>
<p:tagLst xmlns:p="http://schemas.openxmlformats.org/presentationml/2006/main">
  <p:tag name="KSO_WM_DIAGRAM_VIRTUALLY_FRAME" val="{&quot;height&quot;:340,&quot;left&quot;:60,&quot;top&quot;:120,&quot;width&quot;:840}"/>
</p:tagLst>
</file>

<file path=ppt/tags/tag26.xml><?xml version="1.0" encoding="utf-8"?>
<p:tagLst xmlns:p="http://schemas.openxmlformats.org/presentationml/2006/main">
  <p:tag name="KSO_WM_DIAGRAM_VIRTUALLY_FRAME" val="{&quot;height&quot;:340,&quot;left&quot;:60,&quot;top&quot;:120,&quot;width&quot;:840}"/>
</p:tagLst>
</file>

<file path=ppt/tags/tag27.xml><?xml version="1.0" encoding="utf-8"?>
<p:tagLst xmlns:p="http://schemas.openxmlformats.org/presentationml/2006/main">
  <p:tag name="KSO_WM_DIAGRAM_VIRTUALLY_FRAME" val="{&quot;height&quot;:340,&quot;left&quot;:60,&quot;top&quot;:120,&quot;width&quot;:840}"/>
</p:tagLst>
</file>

<file path=ppt/tags/tag28.xml><?xml version="1.0" encoding="utf-8"?>
<p:tagLst xmlns:p="http://schemas.openxmlformats.org/presentationml/2006/main">
  <p:tag name="KSO_WM_DIAGRAM_VIRTUALLY_FRAME" val="{&quot;height&quot;:340,&quot;left&quot;:60,&quot;top&quot;:120,&quot;width&quot;:840}"/>
</p:tagLst>
</file>

<file path=ppt/tags/tag29.xml><?xml version="1.0" encoding="utf-8"?>
<p:tagLst xmlns:p="http://schemas.openxmlformats.org/presentationml/2006/main">
  <p:tag name="KSO_WM_DIAGRAM_VIRTUALLY_FRAME" val="{&quot;height&quot;:340,&quot;left&quot;:60,&quot;top&quot;:120,&quot;width&quot;:840}"/>
</p:tagLst>
</file>

<file path=ppt/tags/tag30.xml><?xml version="1.0" encoding="utf-8"?>
<p:tagLst xmlns:p="http://schemas.openxmlformats.org/presentationml/2006/main">
  <p:tag name="KSO_WM_DIAGRAM_VIRTUALLY_FRAME" val="{&quot;height&quot;:340,&quot;left&quot;:60,&quot;top&quot;:120,&quot;width&quot;:840}"/>
</p:tagLst>
</file>

<file path=ppt/tags/tag31.xml><?xml version="1.0" encoding="utf-8"?>
<p:tagLst xmlns:p="http://schemas.openxmlformats.org/presentationml/2006/main">
  <p:tag name="KSO_WM_DIAGRAM_VIRTUALLY_FRAME" val="{&quot;height&quot;:340,&quot;left&quot;:60,&quot;top&quot;:120,&quot;width&quot;:840}"/>
</p:tagLst>
</file>

<file path=ppt/tags/tag32.xml><?xml version="1.0" encoding="utf-8"?>
<p:tagLst xmlns:p="http://schemas.openxmlformats.org/presentationml/2006/main">
  <p:tag name="KSO_WM_DIAGRAM_VIRTUALLY_FRAME" val="{&quot;height&quot;:340,&quot;left&quot;:60,&quot;top&quot;:120,&quot;width&quot;:840}"/>
</p:tagLst>
</file>

<file path=ppt/tags/tag33.xml><?xml version="1.0" encoding="utf-8"?>
<p:tagLst xmlns:p="http://schemas.openxmlformats.org/presentationml/2006/main">
  <p:tag name="KSO_WM_DIAGRAM_VIRTUALLY_FRAME" val="{&quot;height&quot;:340,&quot;left&quot;:60,&quot;top&quot;:120,&quot;width&quot;:840}"/>
</p:tagLst>
</file>

<file path=ppt/tags/tag34.xml><?xml version="1.0" encoding="utf-8"?>
<p:tagLst xmlns:p="http://schemas.openxmlformats.org/presentationml/2006/main">
  <p:tag name="KSO_WM_DIAGRAM_VIRTUALLY_FRAME" val="{&quot;height&quot;:370,&quot;left&quot;:60,&quot;top&quot;:130,&quot;width&quot;:840}"/>
</p:tagLst>
</file>

<file path=ppt/tags/tag35.xml><?xml version="1.0" encoding="utf-8"?>
<p:tagLst xmlns:p="http://schemas.openxmlformats.org/presentationml/2006/main">
  <p:tag name="KSO_WM_DIAGRAM_VIRTUALLY_FRAME" val="{&quot;height&quot;:370,&quot;left&quot;:60,&quot;top&quot;:130,&quot;width&quot;:840}"/>
</p:tagLst>
</file>

<file path=ppt/tags/tag36.xml><?xml version="1.0" encoding="utf-8"?>
<p:tagLst xmlns:p="http://schemas.openxmlformats.org/presentationml/2006/main">
  <p:tag name="KSO_WM_DIAGRAM_VIRTUALLY_FRAME" val="{&quot;height&quot;:370,&quot;left&quot;:60,&quot;top&quot;:130,&quot;width&quot;:840}"/>
</p:tagLst>
</file>

<file path=ppt/tags/tag37.xml><?xml version="1.0" encoding="utf-8"?>
<p:tagLst xmlns:p="http://schemas.openxmlformats.org/presentationml/2006/main">
  <p:tag name="KSO_WM_DIAGRAM_VIRTUALLY_FRAME" val="{&quot;height&quot;:370,&quot;left&quot;:60,&quot;top&quot;:130,&quot;width&quot;:840}"/>
</p:tagLst>
</file>

<file path=ppt/tags/tag38.xml><?xml version="1.0" encoding="utf-8"?>
<p:tagLst xmlns:p="http://schemas.openxmlformats.org/presentationml/2006/main">
  <p:tag name="KSO_WM_DIAGRAM_VIRTUALLY_FRAME" val="{&quot;height&quot;:370,&quot;left&quot;:60,&quot;top&quot;:130,&quot;width&quot;:840}"/>
</p:tagLst>
</file>

<file path=ppt/tags/tag39.xml><?xml version="1.0" encoding="utf-8"?>
<p:tagLst xmlns:p="http://schemas.openxmlformats.org/presentationml/2006/main">
  <p:tag name="KSO_WM_DIAGRAM_VIRTUALLY_FRAME" val="{&quot;height&quot;:370,&quot;left&quot;:60,&quot;top&quot;:130,&quot;width&quot;:840}"/>
</p:tagLst>
</file>

<file path=ppt/tags/tag40.xml><?xml version="1.0" encoding="utf-8"?>
<p:tagLst xmlns:p="http://schemas.openxmlformats.org/presentationml/2006/main">
  <p:tag name="KSO_WM_DIAGRAM_VIRTUALLY_FRAME" val="{&quot;height&quot;:370,&quot;left&quot;:60,&quot;top&quot;:130,&quot;width&quot;:840}"/>
</p:tagLst>
</file>

<file path=ppt/tags/tag41.xml><?xml version="1.0" encoding="utf-8"?>
<p:tagLst xmlns:p="http://schemas.openxmlformats.org/presentationml/2006/main">
  <p:tag name="KSO_WM_DIAGRAM_VIRTUALLY_FRAME" val="{&quot;height&quot;:370,&quot;left&quot;:60,&quot;top&quot;:130,&quot;width&quot;:840}"/>
</p:tagLst>
</file>

<file path=ppt/tags/tag42.xml><?xml version="1.0" encoding="utf-8"?>
<p:tagLst xmlns:p="http://schemas.openxmlformats.org/presentationml/2006/main">
  <p:tag name="KSO_WM_DIAGRAM_VIRTUALLY_FRAME" val="{&quot;height&quot;:370,&quot;left&quot;:60,&quot;top&quot;:130,&quot;width&quot;:840}"/>
</p:tagLst>
</file>

<file path=ppt/tags/tag43.xml><?xml version="1.0" encoding="utf-8"?>
<p:tagLst xmlns:p="http://schemas.openxmlformats.org/presentationml/2006/main">
  <p:tag name="KSO_WM_DIAGRAM_VIRTUALLY_FRAME" val="{&quot;height&quot;:370,&quot;left&quot;:60,&quot;top&quot;:130,&quot;width&quot;:840}"/>
</p:tagLst>
</file>

<file path=ppt/tags/tag44.xml><?xml version="1.0" encoding="utf-8"?>
<p:tagLst xmlns:p="http://schemas.openxmlformats.org/presentationml/2006/main">
  <p:tag name="KSO_WM_DIAGRAM_VIRTUALLY_FRAME" val="{&quot;height&quot;:370,&quot;left&quot;:60,&quot;top&quot;:130,&quot;width&quot;:840}"/>
</p:tagLst>
</file>

<file path=ppt/tags/tag45.xml><?xml version="1.0" encoding="utf-8"?>
<p:tagLst xmlns:p="http://schemas.openxmlformats.org/presentationml/2006/main">
  <p:tag name="KSO_WM_DIAGRAM_VIRTUALLY_FRAME" val="{&quot;height&quot;:370,&quot;left&quot;:60,&quot;top&quot;:130,&quot;width&quot;:840}"/>
</p:tagLst>
</file>

<file path=ppt/tags/tag46.xml><?xml version="1.0" encoding="utf-8"?>
<p:tagLst xmlns:p="http://schemas.openxmlformats.org/presentationml/2006/main">
  <p:tag name="KSO_WM_DIAGRAM_VIRTUALLY_FRAME" val="{&quot;height&quot;:370,&quot;left&quot;:60,&quot;top&quot;:130,&quot;width&quot;:840}"/>
</p:tagLst>
</file>

<file path=ppt/tags/tag47.xml><?xml version="1.0" encoding="utf-8"?>
<p:tagLst xmlns:p="http://schemas.openxmlformats.org/presentationml/2006/main">
  <p:tag name="KSO_WM_DIAGRAM_VIRTUALLY_FRAME" val="{&quot;height&quot;:370,&quot;left&quot;:60,&quot;top&quot;:130,&quot;width&quot;:840}"/>
</p:tagLst>
</file>

<file path=ppt/theme/theme1.xml><?xml version="1.0" encoding="utf-8"?>
<a:theme xmlns:a="http://schemas.openxmlformats.org/drawingml/2006/main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默认主题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1_默认主题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2_默认主题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3_默认主题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4_默认主题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7.xml><?xml version="1.0" encoding="utf-8"?>
<a:theme xmlns:a="http://schemas.openxmlformats.org/drawingml/2006/main" name="5_默认主题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8.xml><?xml version="1.0" encoding="utf-8"?>
<a:theme xmlns:a="http://schemas.openxmlformats.org/drawingml/2006/main" name="6_默认主题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9.xml><?xml version="1.0" encoding="utf-8"?>
<a:theme xmlns:a="http://schemas.openxmlformats.org/drawingml/2006/main" name="7_默认主题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0.xml><?xml version="1.0" encoding="utf-8"?>
<a:theme xmlns:a="http://schemas.openxmlformats.org/drawingml/2006/main" name="8_默认主题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1.xml><?xml version="1.0" encoding="utf-8"?>
<a:theme xmlns:a="http://schemas.openxmlformats.org/drawingml/2006/main" name="9_默认主题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2.xml><?xml version="1.0" encoding="utf-8"?>
<a:theme xmlns:a="http://schemas.openxmlformats.org/drawingml/2006/main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8157</Words>
  <Application>WPS 演示</Application>
  <PresentationFormat/>
  <Paragraphs>922</Paragraphs>
  <Slides>38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11</vt:i4>
      </vt:variant>
      <vt:variant>
        <vt:lpstr>幻灯片标题</vt:lpstr>
      </vt:variant>
      <vt:variant>
        <vt:i4>38</vt:i4>
      </vt:variant>
    </vt:vector>
  </HeadingPairs>
  <TitlesOfParts>
    <vt:vector size="58" baseType="lpstr">
      <vt:lpstr>Arial</vt:lpstr>
      <vt:lpstr>宋体</vt:lpstr>
      <vt:lpstr>Wingdings</vt:lpstr>
      <vt:lpstr>Arial</vt:lpstr>
      <vt:lpstr>Noto Sans SC</vt:lpstr>
      <vt:lpstr>Songti SC</vt:lpstr>
      <vt:lpstr>Segoe Print</vt:lpstr>
      <vt:lpstr>微软雅黑</vt:lpstr>
      <vt:lpstr>Arial Unicode MS</vt:lpstr>
      <vt:lpstr>Office 主题​​</vt:lpstr>
      <vt:lpstr>默认主题</vt:lpstr>
      <vt:lpstr>1_默认主题</vt:lpstr>
      <vt:lpstr>2_默认主题</vt:lpstr>
      <vt:lpstr>3_默认主题</vt:lpstr>
      <vt:lpstr>4_默认主题</vt:lpstr>
      <vt:lpstr>5_默认主题</vt:lpstr>
      <vt:lpstr>6_默认主题</vt:lpstr>
      <vt:lpstr>7_默认主题</vt:lpstr>
      <vt:lpstr>8_默认主题</vt:lpstr>
      <vt:lpstr>9_默认主题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刘友宝</cp:lastModifiedBy>
  <cp:revision>26</cp:revision>
  <dcterms:created xsi:type="dcterms:W3CDTF">2026-05-23T09:46:00Z</dcterms:created>
  <dcterms:modified xsi:type="dcterms:W3CDTF">2026-05-24T02:08:34Z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DCE3CA80776148E0843631B60BEC92AB_13</vt:lpwstr>
  </property>
  <property fmtid="{D5CDD505-2E9C-101B-9397-08002B2CF9AE}" pid="3" name="KSOProductBuildVer">
    <vt:lpwstr>2052-12.1.0.26373</vt:lpwstr>
  </property>
</Properties>
</file>